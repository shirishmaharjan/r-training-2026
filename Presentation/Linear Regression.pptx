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8" r:id="rId3"/>
    <p:sldId id="266" r:id="rId4"/>
    <p:sldId id="264" r:id="rId5"/>
    <p:sldId id="265" r:id="rId6"/>
    <p:sldId id="262" r:id="rId7"/>
    <p:sldId id="263" r:id="rId8"/>
    <p:sldId id="258" r:id="rId9"/>
    <p:sldId id="260" r:id="rId10"/>
    <p:sldId id="259" r:id="rId11"/>
    <p:sldId id="257" r:id="rId12"/>
    <p:sldId id="267" r:id="rId13"/>
    <p:sldId id="26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7" d="100"/>
          <a:sy n="77" d="100"/>
        </p:scale>
        <p:origin x="80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5FCF38A-1CD9-49D2-8C26-F1586CA8FA5C}"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162085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5FCF38A-1CD9-49D2-8C26-F1586CA8FA5C}"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4034314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5FCF38A-1CD9-49D2-8C26-F1586CA8FA5C}"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357073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FCF38A-1CD9-49D2-8C26-F1586CA8FA5C}" type="datetimeFigureOut">
              <a:rPr lang="en-US" smtClean="0"/>
              <a:t>3/27/2024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3109229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FCF38A-1CD9-49D2-8C26-F1586CA8FA5C}" type="datetimeFigureOut">
              <a:rPr lang="en-US" smtClean="0"/>
              <a:t>3/27/2024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2444348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5FCF38A-1CD9-49D2-8C26-F1586CA8FA5C}" type="datetimeFigureOut">
              <a:rPr lang="en-US" smtClean="0"/>
              <a:t>3/27/2024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3161098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5FCF38A-1CD9-49D2-8C26-F1586CA8FA5C}" type="datetimeFigureOut">
              <a:rPr lang="en-US" smtClean="0"/>
              <a:t>3/27/2024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300528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F5FCF38A-1CD9-49D2-8C26-F1586CA8FA5C}" type="datetimeFigureOut">
              <a:rPr lang="en-US" smtClean="0"/>
              <a:t>3/27/2024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3821589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5FCF38A-1CD9-49D2-8C26-F1586CA8FA5C}" type="datetimeFigureOut">
              <a:rPr lang="en-US" smtClean="0"/>
              <a:t>3/27/2024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114854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5FCF38A-1CD9-49D2-8C26-F1586CA8FA5C}" type="datetimeFigureOut">
              <a:rPr lang="en-US" smtClean="0"/>
              <a:t>3/27/2024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3013253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F5FCF38A-1CD9-49D2-8C26-F1586CA8FA5C}"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32048563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F5FCF38A-1CD9-49D2-8C26-F1586CA8FA5C}"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18A04-368D-45FC-917C-B8215C9C4D15}"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68878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5FCF38A-1CD9-49D2-8C26-F1586CA8FA5C}"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2322027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5FCF38A-1CD9-49D2-8C26-F1586CA8FA5C}" type="datetimeFigureOut">
              <a:rPr lang="en-US" smtClean="0"/>
              <a:t>3/27/2024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25723309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5FCF38A-1CD9-49D2-8C26-F1586CA8FA5C}" type="datetimeFigureOut">
              <a:rPr lang="en-US" smtClean="0"/>
              <a:t>3/27/2024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36616754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FCF38A-1CD9-49D2-8C26-F1586CA8FA5C}"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24861101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FCF38A-1CD9-49D2-8C26-F1586CA8FA5C}"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18A04-368D-45FC-917C-B8215C9C4D15}" type="slidenum">
              <a:rPr lang="en-US" smtClean="0"/>
              <a:t>‹#›</a:t>
            </a:fld>
            <a:endParaRPr lang="en-US"/>
          </a:p>
        </p:txBody>
      </p:sp>
    </p:spTree>
    <p:extLst>
      <p:ext uri="{BB962C8B-B14F-4D97-AF65-F5344CB8AC3E}">
        <p14:creationId xmlns:p14="http://schemas.microsoft.com/office/powerpoint/2010/main" val="352165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5FCF38A-1CD9-49D2-8C26-F1586CA8FA5C}" type="datetimeFigureOut">
              <a:rPr lang="en-US" smtClean="0"/>
              <a:t>3/27/2024</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E918A04-368D-45FC-917C-B8215C9C4D15}" type="slidenum">
              <a:rPr lang="en-US" smtClean="0"/>
              <a:t>‹#›</a:t>
            </a:fld>
            <a:endParaRPr lang="en-US"/>
          </a:p>
        </p:txBody>
      </p:sp>
    </p:spTree>
    <p:extLst>
      <p:ext uri="{BB962C8B-B14F-4D97-AF65-F5344CB8AC3E}">
        <p14:creationId xmlns:p14="http://schemas.microsoft.com/office/powerpoint/2010/main" val="395438785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scribbr.com/methodology/independent-and-dependent-variables/#independent" TargetMode="External"/><Relationship Id="rId2" Type="http://schemas.openxmlformats.org/officeDocument/2006/relationships/hyperlink" Target="https://www.scribbr.com/methodology/types-of-variables/#quantitative-vs-categorical" TargetMode="External"/><Relationship Id="rId1" Type="http://schemas.openxmlformats.org/officeDocument/2006/relationships/slideLayout" Target="../slideLayouts/slideLayout2.xml"/><Relationship Id="rId4" Type="http://schemas.openxmlformats.org/officeDocument/2006/relationships/hyperlink" Target="https://www.scribbr.com/methodology/independent-and-dependent-variables/#dependent" TargetMode="External"/></Relationships>
</file>

<file path=ppt/slides/_rels/slide5.xml.rels><?xml version="1.0" encoding="UTF-8" standalone="yes"?>
<Relationships xmlns="http://schemas.openxmlformats.org/package/2006/relationships"><Relationship Id="rId2" Type="http://schemas.openxmlformats.org/officeDocument/2006/relationships/hyperlink" Target="https://www.statology.org/introduction-to-simple-linear-regressio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scribbr.com/methodology/types-of-variable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9EA70-D03A-48FC-9DD6-53637F921FBA}"/>
              </a:ext>
            </a:extLst>
          </p:cNvPr>
          <p:cNvSpPr>
            <a:spLocks noGrp="1"/>
          </p:cNvSpPr>
          <p:nvPr>
            <p:ph type="ctrTitle"/>
          </p:nvPr>
        </p:nvSpPr>
        <p:spPr>
          <a:xfrm>
            <a:off x="1015807" y="705679"/>
            <a:ext cx="8825658" cy="2252842"/>
          </a:xfrm>
        </p:spPr>
        <p:txBody>
          <a:bodyPr/>
          <a:lstStyle/>
          <a:p>
            <a:r>
              <a:rPr lang="en-US" dirty="0"/>
              <a:t>Predictive linear regression model</a:t>
            </a:r>
          </a:p>
        </p:txBody>
      </p:sp>
      <p:sp>
        <p:nvSpPr>
          <p:cNvPr id="3" name="Subtitle 2">
            <a:extLst>
              <a:ext uri="{FF2B5EF4-FFF2-40B4-BE49-F238E27FC236}">
                <a16:creationId xmlns:a16="http://schemas.microsoft.com/office/drawing/2014/main" id="{939B5558-3BCD-4168-BA31-96436EF60528}"/>
              </a:ext>
            </a:extLst>
          </p:cNvPr>
          <p:cNvSpPr>
            <a:spLocks noGrp="1"/>
          </p:cNvSpPr>
          <p:nvPr>
            <p:ph type="subTitle" idx="1"/>
          </p:nvPr>
        </p:nvSpPr>
        <p:spPr>
          <a:xfrm>
            <a:off x="1085381" y="3429000"/>
            <a:ext cx="8825658" cy="861420"/>
          </a:xfrm>
        </p:spPr>
        <p:txBody>
          <a:bodyPr/>
          <a:lstStyle/>
          <a:p>
            <a:r>
              <a:rPr lang="en-US" dirty="0"/>
              <a:t>Linear regression and normal distribution</a:t>
            </a:r>
          </a:p>
        </p:txBody>
      </p:sp>
    </p:spTree>
    <p:extLst>
      <p:ext uri="{BB962C8B-B14F-4D97-AF65-F5344CB8AC3E}">
        <p14:creationId xmlns:p14="http://schemas.microsoft.com/office/powerpoint/2010/main" val="4236694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F7422F-A86D-4857-A088-74D526859B2B}"/>
              </a:ext>
            </a:extLst>
          </p:cNvPr>
          <p:cNvPicPr>
            <a:picLocks noChangeAspect="1"/>
          </p:cNvPicPr>
          <p:nvPr/>
        </p:nvPicPr>
        <p:blipFill>
          <a:blip r:embed="rId2"/>
          <a:stretch>
            <a:fillRect/>
          </a:stretch>
        </p:blipFill>
        <p:spPr>
          <a:xfrm>
            <a:off x="6096000" y="2983721"/>
            <a:ext cx="6127011" cy="3894157"/>
          </a:xfrm>
          <a:prstGeom prst="rect">
            <a:avLst/>
          </a:prstGeom>
        </p:spPr>
      </p:pic>
      <p:pic>
        <p:nvPicPr>
          <p:cNvPr id="5" name="Picture 4">
            <a:extLst>
              <a:ext uri="{FF2B5EF4-FFF2-40B4-BE49-F238E27FC236}">
                <a16:creationId xmlns:a16="http://schemas.microsoft.com/office/drawing/2014/main" id="{6D9DB38D-1BAE-4AB2-A7F7-CD1C0CED69A5}"/>
              </a:ext>
            </a:extLst>
          </p:cNvPr>
          <p:cNvPicPr>
            <a:picLocks noChangeAspect="1"/>
          </p:cNvPicPr>
          <p:nvPr/>
        </p:nvPicPr>
        <p:blipFill>
          <a:blip r:embed="rId3"/>
          <a:stretch>
            <a:fillRect/>
          </a:stretch>
        </p:blipFill>
        <p:spPr>
          <a:xfrm>
            <a:off x="0" y="-59635"/>
            <a:ext cx="6210838" cy="3101609"/>
          </a:xfrm>
          <a:prstGeom prst="rect">
            <a:avLst/>
          </a:prstGeom>
        </p:spPr>
      </p:pic>
    </p:spTree>
    <p:extLst>
      <p:ext uri="{BB962C8B-B14F-4D97-AF65-F5344CB8AC3E}">
        <p14:creationId xmlns:p14="http://schemas.microsoft.com/office/powerpoint/2010/main" val="175879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91173D-8145-477C-8321-87D7071D8698}"/>
              </a:ext>
            </a:extLst>
          </p:cNvPr>
          <p:cNvPicPr>
            <a:picLocks noChangeAspect="1"/>
          </p:cNvPicPr>
          <p:nvPr/>
        </p:nvPicPr>
        <p:blipFill>
          <a:blip r:embed="rId2"/>
          <a:stretch>
            <a:fillRect/>
          </a:stretch>
        </p:blipFill>
        <p:spPr>
          <a:xfrm>
            <a:off x="80974" y="0"/>
            <a:ext cx="5875878" cy="4382011"/>
          </a:xfrm>
          <a:prstGeom prst="rect">
            <a:avLst/>
          </a:prstGeom>
        </p:spPr>
      </p:pic>
      <p:sp>
        <p:nvSpPr>
          <p:cNvPr id="5" name="TextBox 4">
            <a:extLst>
              <a:ext uri="{FF2B5EF4-FFF2-40B4-BE49-F238E27FC236}">
                <a16:creationId xmlns:a16="http://schemas.microsoft.com/office/drawing/2014/main" id="{8D9A1D44-1794-435D-BF81-AF5BA0D51C95}"/>
              </a:ext>
            </a:extLst>
          </p:cNvPr>
          <p:cNvSpPr txBox="1"/>
          <p:nvPr/>
        </p:nvSpPr>
        <p:spPr>
          <a:xfrm>
            <a:off x="6235150" y="119269"/>
            <a:ext cx="5875876" cy="4524315"/>
          </a:xfrm>
          <a:prstGeom prst="rect">
            <a:avLst/>
          </a:prstGeom>
          <a:noFill/>
        </p:spPr>
        <p:txBody>
          <a:bodyPr wrap="square" rtlCol="0">
            <a:spAutoFit/>
          </a:bodyPr>
          <a:lstStyle/>
          <a:p>
            <a:r>
              <a:rPr lang="en-US" b="1" dirty="0"/>
              <a:t>Experiment 1: Plant Growth</a:t>
            </a:r>
            <a:endParaRPr lang="en-US" dirty="0"/>
          </a:p>
          <a:p>
            <a:pPr lvl="1"/>
            <a:r>
              <a:rPr lang="en-US" b="1" dirty="0"/>
              <a:t>Independent Variable:</a:t>
            </a:r>
            <a:r>
              <a:rPr lang="en-US" dirty="0"/>
              <a:t> Amount of sunlight</a:t>
            </a:r>
          </a:p>
          <a:p>
            <a:pPr lvl="1"/>
            <a:r>
              <a:rPr lang="en-US" b="1" dirty="0"/>
              <a:t>Dependent Variable:</a:t>
            </a:r>
            <a:r>
              <a:rPr lang="en-US" dirty="0"/>
              <a:t> Plant growth</a:t>
            </a:r>
          </a:p>
          <a:p>
            <a:pPr lvl="1"/>
            <a:endParaRPr lang="en-US" dirty="0"/>
          </a:p>
          <a:p>
            <a:pPr lvl="1"/>
            <a:r>
              <a:rPr lang="en-US" b="1" dirty="0"/>
              <a:t>Experiment 2: Exam Performance</a:t>
            </a:r>
            <a:endParaRPr lang="en-US" dirty="0"/>
          </a:p>
          <a:p>
            <a:pPr lvl="1"/>
            <a:r>
              <a:rPr lang="en-US" b="1" dirty="0"/>
              <a:t>Independent Variable:</a:t>
            </a:r>
            <a:r>
              <a:rPr lang="en-US" dirty="0"/>
              <a:t> Study time</a:t>
            </a:r>
          </a:p>
          <a:p>
            <a:pPr lvl="1"/>
            <a:r>
              <a:rPr lang="en-US" b="1" dirty="0"/>
              <a:t>Dependent Variable:</a:t>
            </a:r>
            <a:r>
              <a:rPr lang="en-US" dirty="0"/>
              <a:t> Exam score</a:t>
            </a:r>
          </a:p>
          <a:p>
            <a:pPr lvl="1"/>
            <a:endParaRPr lang="en-US" dirty="0"/>
          </a:p>
          <a:p>
            <a:r>
              <a:rPr lang="en-US" b="1" dirty="0"/>
              <a:t>Experiment 3: Exercise and Weight Loss</a:t>
            </a:r>
            <a:endParaRPr lang="en-US" dirty="0"/>
          </a:p>
          <a:p>
            <a:pPr lvl="1"/>
            <a:r>
              <a:rPr lang="en-US" b="1" dirty="0"/>
              <a:t>Independent Variable:</a:t>
            </a:r>
            <a:r>
              <a:rPr lang="en-US" dirty="0"/>
              <a:t> Exercise frequency</a:t>
            </a:r>
          </a:p>
          <a:p>
            <a:pPr lvl="1"/>
            <a:r>
              <a:rPr lang="en-US" b="1" dirty="0"/>
              <a:t>Dependent Variable:</a:t>
            </a:r>
            <a:r>
              <a:rPr lang="en-US" dirty="0"/>
              <a:t> Weight loss</a:t>
            </a:r>
          </a:p>
          <a:p>
            <a:pPr lvl="1"/>
            <a:endParaRPr lang="en-US" dirty="0"/>
          </a:p>
          <a:p>
            <a:r>
              <a:rPr lang="en-US" b="1" dirty="0"/>
              <a:t>Experiment 4: Temperature and Ice Melting</a:t>
            </a:r>
            <a:endParaRPr lang="en-US" dirty="0"/>
          </a:p>
          <a:p>
            <a:pPr lvl="1"/>
            <a:r>
              <a:rPr lang="en-US" b="1" dirty="0"/>
              <a:t>Independent Variable:</a:t>
            </a:r>
            <a:r>
              <a:rPr lang="en-US" dirty="0"/>
              <a:t> Temperature</a:t>
            </a:r>
          </a:p>
          <a:p>
            <a:pPr lvl="1"/>
            <a:r>
              <a:rPr lang="en-US" b="1" dirty="0"/>
              <a:t>Dependent Variable:</a:t>
            </a:r>
            <a:r>
              <a:rPr lang="en-US" dirty="0"/>
              <a:t> Rate of ice melting</a:t>
            </a:r>
          </a:p>
          <a:p>
            <a:endParaRPr lang="en-US" dirty="0"/>
          </a:p>
        </p:txBody>
      </p:sp>
    </p:spTree>
    <p:extLst>
      <p:ext uri="{BB962C8B-B14F-4D97-AF65-F5344CB8AC3E}">
        <p14:creationId xmlns:p14="http://schemas.microsoft.com/office/powerpoint/2010/main" val="1613525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501B7A-D8B9-47DA-8851-D88CE9D76D88}"/>
              </a:ext>
            </a:extLst>
          </p:cNvPr>
          <p:cNvSpPr txBox="1"/>
          <p:nvPr/>
        </p:nvSpPr>
        <p:spPr>
          <a:xfrm>
            <a:off x="367748" y="467139"/>
            <a:ext cx="10853530" cy="6740307"/>
          </a:xfrm>
          <a:prstGeom prst="rect">
            <a:avLst/>
          </a:prstGeom>
          <a:noFill/>
        </p:spPr>
        <p:txBody>
          <a:bodyPr wrap="square" rtlCol="0">
            <a:spAutoFit/>
          </a:bodyPr>
          <a:lstStyle/>
          <a:p>
            <a:r>
              <a:rPr lang="en-US" sz="2400" b="1" dirty="0"/>
              <a:t>Simple linear regression</a:t>
            </a:r>
            <a:r>
              <a:rPr lang="en-US" sz="2400" dirty="0"/>
              <a:t> is used to estimate the relationship between</a:t>
            </a:r>
            <a:r>
              <a:rPr lang="en-US" sz="2400" b="1" dirty="0"/>
              <a:t> two </a:t>
            </a:r>
            <a:r>
              <a:rPr lang="en-US" sz="2400" b="1" dirty="0">
                <a:hlinkClick r:id="rId2"/>
              </a:rPr>
              <a:t>quantitative variables</a:t>
            </a:r>
            <a:r>
              <a:rPr lang="en-US" sz="2400" dirty="0"/>
              <a:t>. You can use simple linear regression when you want to know:</a:t>
            </a:r>
          </a:p>
          <a:p>
            <a:endParaRPr lang="en-US" sz="2400" dirty="0"/>
          </a:p>
          <a:p>
            <a:r>
              <a:rPr lang="en-US" sz="2400" dirty="0"/>
              <a:t>How strong the relationship is between two variables (e.g., the relationship between rainfall and soil erosion).</a:t>
            </a:r>
          </a:p>
          <a:p>
            <a:endParaRPr lang="en-US" sz="2400" dirty="0"/>
          </a:p>
          <a:p>
            <a:r>
              <a:rPr lang="en-US" sz="2400" dirty="0"/>
              <a:t>The value of the dependent variable at a certain value of the </a:t>
            </a:r>
            <a:r>
              <a:rPr lang="en-US" sz="2400" dirty="0">
                <a:hlinkClick r:id="rId3"/>
              </a:rPr>
              <a:t>independent variable</a:t>
            </a:r>
            <a:r>
              <a:rPr lang="en-US" sz="2400" dirty="0"/>
              <a:t> (e.g., the amount of soil erosion at a certain level of rainfall).</a:t>
            </a:r>
          </a:p>
          <a:p>
            <a:endParaRPr lang="en-US" sz="2400" dirty="0"/>
          </a:p>
          <a:p>
            <a:endParaRPr lang="en-US" sz="2400" dirty="0"/>
          </a:p>
          <a:p>
            <a:r>
              <a:rPr lang="en-US" sz="2400" b="1" dirty="0"/>
              <a:t>Regression models</a:t>
            </a:r>
            <a:r>
              <a:rPr lang="en-US" sz="2400" dirty="0"/>
              <a:t> describe the relationship between variables by fitting a line to the observed data. Linear regression models use a straight line, while logistic and nonlinear regression models use a curved line. Regression allows you to estimate how a </a:t>
            </a:r>
            <a:r>
              <a:rPr lang="en-US" sz="2400" dirty="0">
                <a:hlinkClick r:id="rId4"/>
              </a:rPr>
              <a:t>dependent variable</a:t>
            </a:r>
            <a:r>
              <a:rPr lang="en-US" sz="2400" dirty="0"/>
              <a:t> changes as the independent variable(s) change.</a:t>
            </a:r>
          </a:p>
          <a:p>
            <a:endParaRPr lang="en-US" sz="2400" dirty="0"/>
          </a:p>
        </p:txBody>
      </p:sp>
    </p:spTree>
    <p:extLst>
      <p:ext uri="{BB962C8B-B14F-4D97-AF65-F5344CB8AC3E}">
        <p14:creationId xmlns:p14="http://schemas.microsoft.com/office/powerpoint/2010/main" val="1473908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4E764E-3EC3-4D65-AAD5-F158E0E44887}"/>
              </a:ext>
            </a:extLst>
          </p:cNvPr>
          <p:cNvSpPr txBox="1"/>
          <p:nvPr/>
        </p:nvSpPr>
        <p:spPr>
          <a:xfrm>
            <a:off x="675861" y="467139"/>
            <a:ext cx="10316817" cy="6740307"/>
          </a:xfrm>
          <a:prstGeom prst="rect">
            <a:avLst/>
          </a:prstGeom>
          <a:noFill/>
        </p:spPr>
        <p:txBody>
          <a:bodyPr wrap="square" rtlCol="0">
            <a:spAutoFit/>
          </a:bodyPr>
          <a:lstStyle/>
          <a:p>
            <a:pPr fontAlgn="base"/>
            <a:r>
              <a:rPr lang="en-US" sz="2400" b="1" dirty="0">
                <a:hlinkClick r:id="rId2"/>
              </a:rPr>
              <a:t>Linear regression</a:t>
            </a:r>
            <a:r>
              <a:rPr lang="en-US" sz="2400" dirty="0"/>
              <a:t> is a useful statistical method we can use to understand the relationship between two variables, x and y. However, before we conduct linear regression, we must first make sure that four assumptions are met:</a:t>
            </a:r>
          </a:p>
          <a:p>
            <a:pPr fontAlgn="base"/>
            <a:endParaRPr lang="en-US" sz="2400" dirty="0"/>
          </a:p>
          <a:p>
            <a:pPr marL="342900" indent="-342900" fontAlgn="base">
              <a:buAutoNum type="arabicPeriod"/>
            </a:pPr>
            <a:r>
              <a:rPr lang="en-US" sz="2400" b="1" dirty="0"/>
              <a:t>Linear relationship:</a:t>
            </a:r>
            <a:r>
              <a:rPr lang="en-US" sz="2400" dirty="0"/>
              <a:t> There exists a linear relationship between the independent variable, x, and the dependent variable, y.</a:t>
            </a:r>
          </a:p>
          <a:p>
            <a:pPr marL="342900" indent="-342900" fontAlgn="base">
              <a:buAutoNum type="arabicPeriod"/>
            </a:pPr>
            <a:endParaRPr lang="en-US" sz="2400" dirty="0"/>
          </a:p>
          <a:p>
            <a:pPr fontAlgn="base"/>
            <a:r>
              <a:rPr lang="en-US" sz="2400" b="1" dirty="0"/>
              <a:t>2. Independence: </a:t>
            </a:r>
            <a:r>
              <a:rPr lang="en-US" sz="2400" dirty="0"/>
              <a:t>The residuals are independent. In particular, there is no correlation between consecutive residuals in time series data.</a:t>
            </a:r>
          </a:p>
          <a:p>
            <a:pPr fontAlgn="base"/>
            <a:endParaRPr lang="en-US" sz="2400" dirty="0"/>
          </a:p>
          <a:p>
            <a:pPr fontAlgn="base"/>
            <a:r>
              <a:rPr lang="en-US" sz="2400" b="1" dirty="0"/>
              <a:t>3. Homoscedasticity: </a:t>
            </a:r>
            <a:r>
              <a:rPr lang="en-US" sz="2400" dirty="0"/>
              <a:t>The residuals have constant variance at every level of x.</a:t>
            </a:r>
          </a:p>
          <a:p>
            <a:pPr fontAlgn="base"/>
            <a:endParaRPr lang="en-US" sz="2400" dirty="0"/>
          </a:p>
          <a:p>
            <a:pPr fontAlgn="base"/>
            <a:r>
              <a:rPr lang="en-US" sz="2400" b="1" dirty="0"/>
              <a:t>4. Normality: </a:t>
            </a:r>
            <a:r>
              <a:rPr lang="en-US" sz="2400" dirty="0"/>
              <a:t>The residuals of the model are normally distributed.</a:t>
            </a:r>
          </a:p>
          <a:p>
            <a:pPr fontAlgn="base"/>
            <a:r>
              <a:rPr lang="en-US" sz="2400" dirty="0"/>
              <a:t>If one or more of these assumptions are violated, then the results of our linear regression may be unreliable or even misleading.</a:t>
            </a:r>
          </a:p>
          <a:p>
            <a:endParaRPr lang="en-US" sz="2400" dirty="0"/>
          </a:p>
        </p:txBody>
      </p:sp>
    </p:spTree>
    <p:extLst>
      <p:ext uri="{BB962C8B-B14F-4D97-AF65-F5344CB8AC3E}">
        <p14:creationId xmlns:p14="http://schemas.microsoft.com/office/powerpoint/2010/main" val="1980058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EA781-48E5-4136-929B-D77C1A2AC2E0}"/>
              </a:ext>
            </a:extLst>
          </p:cNvPr>
          <p:cNvSpPr>
            <a:spLocks noGrp="1"/>
          </p:cNvSpPr>
          <p:nvPr>
            <p:ph type="title"/>
          </p:nvPr>
        </p:nvSpPr>
        <p:spPr/>
        <p:txBody>
          <a:bodyPr/>
          <a:lstStyle/>
          <a:p>
            <a:r>
              <a:rPr lang="en-US" dirty="0"/>
              <a:t>Linear regression </a:t>
            </a:r>
          </a:p>
        </p:txBody>
      </p:sp>
      <p:sp>
        <p:nvSpPr>
          <p:cNvPr id="3" name="Content Placeholder 2">
            <a:extLst>
              <a:ext uri="{FF2B5EF4-FFF2-40B4-BE49-F238E27FC236}">
                <a16:creationId xmlns:a16="http://schemas.microsoft.com/office/drawing/2014/main" id="{32132830-6DD9-4DD7-AABF-319A0A16FA90}"/>
              </a:ext>
            </a:extLst>
          </p:cNvPr>
          <p:cNvSpPr>
            <a:spLocks noGrp="1"/>
          </p:cNvSpPr>
          <p:nvPr>
            <p:ph idx="1"/>
          </p:nvPr>
        </p:nvSpPr>
        <p:spPr>
          <a:xfrm>
            <a:off x="566530" y="1272210"/>
            <a:ext cx="11211340" cy="5307494"/>
          </a:xfrm>
        </p:spPr>
        <p:txBody>
          <a:bodyPr/>
          <a:lstStyle/>
          <a:p>
            <a:r>
              <a:rPr lang="en-US" b="1" dirty="0"/>
              <a:t>Linear regression</a:t>
            </a:r>
            <a:r>
              <a:rPr lang="en-US" dirty="0"/>
              <a:t> is a regression model that uses a straight line to describe the relationship between </a:t>
            </a:r>
            <a:r>
              <a:rPr lang="en-US" dirty="0">
                <a:hlinkClick r:id="rId2"/>
              </a:rPr>
              <a:t>variables</a:t>
            </a:r>
            <a:r>
              <a:rPr lang="en-US" dirty="0"/>
              <a:t>. It finds the line of best fit through your data by searching for the value of the regression coefficient(s) that minimizes the total error of the model.</a:t>
            </a:r>
          </a:p>
        </p:txBody>
      </p:sp>
      <p:pic>
        <p:nvPicPr>
          <p:cNvPr id="4" name="Picture 3">
            <a:extLst>
              <a:ext uri="{FF2B5EF4-FFF2-40B4-BE49-F238E27FC236}">
                <a16:creationId xmlns:a16="http://schemas.microsoft.com/office/drawing/2014/main" id="{5D04052B-82AD-4795-96ED-60BB5CAFCDE1}"/>
              </a:ext>
            </a:extLst>
          </p:cNvPr>
          <p:cNvPicPr>
            <a:picLocks noChangeAspect="1"/>
          </p:cNvPicPr>
          <p:nvPr/>
        </p:nvPicPr>
        <p:blipFill>
          <a:blip r:embed="rId3"/>
          <a:stretch>
            <a:fillRect/>
          </a:stretch>
        </p:blipFill>
        <p:spPr>
          <a:xfrm>
            <a:off x="2886592" y="2572089"/>
            <a:ext cx="5661060" cy="4120859"/>
          </a:xfrm>
          <a:prstGeom prst="rect">
            <a:avLst/>
          </a:prstGeom>
        </p:spPr>
      </p:pic>
    </p:spTree>
    <p:extLst>
      <p:ext uri="{BB962C8B-B14F-4D97-AF65-F5344CB8AC3E}">
        <p14:creationId xmlns:p14="http://schemas.microsoft.com/office/powerpoint/2010/main" val="1690980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DD6054-50DE-40F1-B29F-2C847A62004E}"/>
              </a:ext>
            </a:extLst>
          </p:cNvPr>
          <p:cNvPicPr>
            <a:picLocks noChangeAspect="1"/>
          </p:cNvPicPr>
          <p:nvPr/>
        </p:nvPicPr>
        <p:blipFill>
          <a:blip r:embed="rId2"/>
          <a:stretch>
            <a:fillRect/>
          </a:stretch>
        </p:blipFill>
        <p:spPr>
          <a:xfrm>
            <a:off x="2021887" y="0"/>
            <a:ext cx="7708522" cy="5611269"/>
          </a:xfrm>
          <a:prstGeom prst="rect">
            <a:avLst/>
          </a:prstGeom>
        </p:spPr>
      </p:pic>
      <p:cxnSp>
        <p:nvCxnSpPr>
          <p:cNvPr id="6" name="Straight Connector 5">
            <a:extLst>
              <a:ext uri="{FF2B5EF4-FFF2-40B4-BE49-F238E27FC236}">
                <a16:creationId xmlns:a16="http://schemas.microsoft.com/office/drawing/2014/main" id="{27F74988-604A-488A-A393-2619036E9FCB}"/>
              </a:ext>
            </a:extLst>
          </p:cNvPr>
          <p:cNvCxnSpPr/>
          <p:nvPr/>
        </p:nvCxnSpPr>
        <p:spPr>
          <a:xfrm flipV="1">
            <a:off x="1825952" y="2136913"/>
            <a:ext cx="8100391" cy="129209"/>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9BA92D2-2823-412C-B3B0-698ADA863843}"/>
              </a:ext>
            </a:extLst>
          </p:cNvPr>
          <p:cNvSpPr txBox="1"/>
          <p:nvPr/>
        </p:nvSpPr>
        <p:spPr>
          <a:xfrm>
            <a:off x="546652" y="5854148"/>
            <a:ext cx="11102009" cy="646331"/>
          </a:xfrm>
          <a:prstGeom prst="rect">
            <a:avLst/>
          </a:prstGeom>
          <a:noFill/>
        </p:spPr>
        <p:txBody>
          <a:bodyPr wrap="square" rtlCol="0">
            <a:spAutoFit/>
          </a:bodyPr>
          <a:lstStyle/>
          <a:p>
            <a:r>
              <a:rPr lang="en-US" dirty="0"/>
              <a:t>A null hypothesis in linear regression assumes that the slope value is equals to zero. There is no slope at all. </a:t>
            </a:r>
          </a:p>
        </p:txBody>
      </p:sp>
    </p:spTree>
    <p:extLst>
      <p:ext uri="{BB962C8B-B14F-4D97-AF65-F5344CB8AC3E}">
        <p14:creationId xmlns:p14="http://schemas.microsoft.com/office/powerpoint/2010/main" val="2870751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43D564-CD7C-420F-B8AC-C51D9F337A65}"/>
              </a:ext>
            </a:extLst>
          </p:cNvPr>
          <p:cNvSpPr txBox="1"/>
          <p:nvPr/>
        </p:nvSpPr>
        <p:spPr>
          <a:xfrm>
            <a:off x="298174" y="1043609"/>
            <a:ext cx="11012556" cy="6555641"/>
          </a:xfrm>
          <a:prstGeom prst="rect">
            <a:avLst/>
          </a:prstGeom>
          <a:noFill/>
        </p:spPr>
        <p:txBody>
          <a:bodyPr wrap="square" rtlCol="0">
            <a:spAutoFit/>
          </a:bodyPr>
          <a:lstStyle/>
          <a:p>
            <a:r>
              <a:rPr lang="en-US" sz="2000" dirty="0"/>
              <a:t>Step 1: Load Required Libraries</a:t>
            </a:r>
          </a:p>
          <a:p>
            <a:endParaRPr lang="en-US" sz="2000" dirty="0"/>
          </a:p>
          <a:p>
            <a:r>
              <a:rPr lang="en-US" sz="2000" dirty="0"/>
              <a:t>Step 2: Load Your Data</a:t>
            </a:r>
          </a:p>
          <a:p>
            <a:endParaRPr lang="en-US" sz="2000" dirty="0"/>
          </a:p>
          <a:p>
            <a:r>
              <a:rPr lang="en-US" sz="2000" dirty="0"/>
              <a:t>Step 3: Normality Check We'll perform Shapiro-Wilk test, T-test, log transformation, and Mann-Whitney test for normality check.</a:t>
            </a:r>
          </a:p>
          <a:p>
            <a:endParaRPr lang="en-US" sz="2000" dirty="0"/>
          </a:p>
          <a:p>
            <a:r>
              <a:rPr lang="en-US" sz="2000" dirty="0"/>
              <a:t>Step 4: Linear Regression After normality check, proceed with linear regression if assumptions are met.</a:t>
            </a:r>
          </a:p>
          <a:p>
            <a:endParaRPr lang="en-US" sz="2000" dirty="0"/>
          </a:p>
          <a:p>
            <a:r>
              <a:rPr lang="en-US" sz="2000" dirty="0"/>
              <a:t>Step 5: Interpret Results Interpret the output of the normality tests and the linear regression model summary.</a:t>
            </a:r>
          </a:p>
          <a:p>
            <a:endParaRPr lang="en-US" sz="2000" dirty="0"/>
          </a:p>
          <a:p>
            <a:r>
              <a:rPr lang="en-US" sz="2000" dirty="0"/>
              <a:t>Remember, for normality:</a:t>
            </a:r>
          </a:p>
          <a:p>
            <a:r>
              <a:rPr lang="en-US" sz="2000" dirty="0"/>
              <a:t>Shapiro-Wilk test: If p-value &gt; 0.05, data is normally distributed.</a:t>
            </a:r>
          </a:p>
          <a:p>
            <a:r>
              <a:rPr lang="en-US" sz="2000" dirty="0"/>
              <a:t>T-test: If p-value &gt; 0.05, data is normally distributed.</a:t>
            </a:r>
          </a:p>
          <a:p>
            <a:r>
              <a:rPr lang="en-US" sz="2000" dirty="0"/>
              <a:t>Mann-Whitney test: If p-value &gt; 0.05, data is normally distributed.</a:t>
            </a:r>
          </a:p>
          <a:p>
            <a:r>
              <a:rPr lang="en-US" sz="2000" dirty="0"/>
              <a:t>Log transformation: Transform data and re-run normality tests.</a:t>
            </a:r>
          </a:p>
          <a:p>
            <a:endParaRPr lang="en-US" sz="2000" dirty="0"/>
          </a:p>
          <a:p>
            <a:endParaRPr lang="en-US" sz="2000" dirty="0"/>
          </a:p>
          <a:p>
            <a:endParaRPr lang="en-US" sz="2000" dirty="0"/>
          </a:p>
        </p:txBody>
      </p:sp>
      <p:sp>
        <p:nvSpPr>
          <p:cNvPr id="5" name="TextBox 4">
            <a:extLst>
              <a:ext uri="{FF2B5EF4-FFF2-40B4-BE49-F238E27FC236}">
                <a16:creationId xmlns:a16="http://schemas.microsoft.com/office/drawing/2014/main" id="{A7596D3B-8911-4203-B077-0BFFF86FD880}"/>
              </a:ext>
            </a:extLst>
          </p:cNvPr>
          <p:cNvSpPr txBox="1"/>
          <p:nvPr/>
        </p:nvSpPr>
        <p:spPr>
          <a:xfrm>
            <a:off x="298174" y="129209"/>
            <a:ext cx="9968948" cy="523220"/>
          </a:xfrm>
          <a:prstGeom prst="rect">
            <a:avLst/>
          </a:prstGeom>
          <a:noFill/>
        </p:spPr>
        <p:txBody>
          <a:bodyPr wrap="square" rtlCol="0">
            <a:spAutoFit/>
          </a:bodyPr>
          <a:lstStyle/>
          <a:p>
            <a:r>
              <a:rPr lang="en-US" sz="2800" dirty="0">
                <a:solidFill>
                  <a:srgbClr val="FF0000"/>
                </a:solidFill>
              </a:rPr>
              <a:t>Building predictive model using linear regression in R </a:t>
            </a:r>
          </a:p>
        </p:txBody>
      </p:sp>
    </p:spTree>
    <p:extLst>
      <p:ext uri="{BB962C8B-B14F-4D97-AF65-F5344CB8AC3E}">
        <p14:creationId xmlns:p14="http://schemas.microsoft.com/office/powerpoint/2010/main" val="2294042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4BA3AE-0BBE-4393-BAC4-75D9732CF8D2}"/>
              </a:ext>
            </a:extLst>
          </p:cNvPr>
          <p:cNvPicPr>
            <a:picLocks noChangeAspect="1"/>
          </p:cNvPicPr>
          <p:nvPr/>
        </p:nvPicPr>
        <p:blipFill>
          <a:blip r:embed="rId2"/>
          <a:stretch>
            <a:fillRect/>
          </a:stretch>
        </p:blipFill>
        <p:spPr>
          <a:xfrm>
            <a:off x="2120348" y="928477"/>
            <a:ext cx="7951304" cy="5001046"/>
          </a:xfrm>
          <a:prstGeom prst="rect">
            <a:avLst/>
          </a:prstGeom>
        </p:spPr>
      </p:pic>
      <p:sp>
        <p:nvSpPr>
          <p:cNvPr id="5" name="Rectangle 4">
            <a:extLst>
              <a:ext uri="{FF2B5EF4-FFF2-40B4-BE49-F238E27FC236}">
                <a16:creationId xmlns:a16="http://schemas.microsoft.com/office/drawing/2014/main" id="{0D6F2226-0C5F-46D7-A2B8-FD74EA2B82E2}"/>
              </a:ext>
            </a:extLst>
          </p:cNvPr>
          <p:cNvSpPr/>
          <p:nvPr/>
        </p:nvSpPr>
        <p:spPr>
          <a:xfrm>
            <a:off x="3021496" y="2256183"/>
            <a:ext cx="2932043" cy="6460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A336CBC-F42E-406B-BF34-0E9843356669}"/>
              </a:ext>
            </a:extLst>
          </p:cNvPr>
          <p:cNvSpPr/>
          <p:nvPr/>
        </p:nvSpPr>
        <p:spPr>
          <a:xfrm>
            <a:off x="6811616" y="3197087"/>
            <a:ext cx="1596887" cy="914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B8C61AF-36A3-4DC1-A954-49AD1FB28E1F}"/>
              </a:ext>
            </a:extLst>
          </p:cNvPr>
          <p:cNvSpPr/>
          <p:nvPr/>
        </p:nvSpPr>
        <p:spPr>
          <a:xfrm>
            <a:off x="3482008" y="3497750"/>
            <a:ext cx="1192696" cy="7321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079BB9E-9A4E-43D4-AC7B-3B1EC84CD92D}"/>
              </a:ext>
            </a:extLst>
          </p:cNvPr>
          <p:cNvSpPr/>
          <p:nvPr/>
        </p:nvSpPr>
        <p:spPr>
          <a:xfrm>
            <a:off x="4470951" y="4825456"/>
            <a:ext cx="1192696" cy="3528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9349C6-4673-465E-9FB1-BFA1D7872560}"/>
              </a:ext>
            </a:extLst>
          </p:cNvPr>
          <p:cNvSpPr txBox="1"/>
          <p:nvPr/>
        </p:nvSpPr>
        <p:spPr>
          <a:xfrm>
            <a:off x="397565" y="735496"/>
            <a:ext cx="1292087" cy="369332"/>
          </a:xfrm>
          <a:prstGeom prst="rect">
            <a:avLst/>
          </a:prstGeom>
          <a:noFill/>
        </p:spPr>
        <p:txBody>
          <a:bodyPr wrap="square" rtlCol="0">
            <a:spAutoFit/>
          </a:bodyPr>
          <a:lstStyle/>
          <a:p>
            <a:r>
              <a:rPr lang="en-US" dirty="0"/>
              <a:t>Residuals</a:t>
            </a:r>
          </a:p>
        </p:txBody>
      </p:sp>
      <p:sp>
        <p:nvSpPr>
          <p:cNvPr id="11" name="TextBox 10">
            <a:extLst>
              <a:ext uri="{FF2B5EF4-FFF2-40B4-BE49-F238E27FC236}">
                <a16:creationId xmlns:a16="http://schemas.microsoft.com/office/drawing/2014/main" id="{B5291EDE-5BE4-446B-946E-922EFD449CD8}"/>
              </a:ext>
            </a:extLst>
          </p:cNvPr>
          <p:cNvSpPr txBox="1"/>
          <p:nvPr/>
        </p:nvSpPr>
        <p:spPr>
          <a:xfrm>
            <a:off x="311426" y="3429000"/>
            <a:ext cx="1292087" cy="338554"/>
          </a:xfrm>
          <a:prstGeom prst="rect">
            <a:avLst/>
          </a:prstGeom>
          <a:noFill/>
        </p:spPr>
        <p:txBody>
          <a:bodyPr wrap="square" rtlCol="0">
            <a:spAutoFit/>
          </a:bodyPr>
          <a:lstStyle/>
          <a:p>
            <a:r>
              <a:rPr lang="en-US" sz="1600" dirty="0"/>
              <a:t>Y Intercept</a:t>
            </a:r>
          </a:p>
        </p:txBody>
      </p:sp>
      <p:sp>
        <p:nvSpPr>
          <p:cNvPr id="12" name="TextBox 11">
            <a:extLst>
              <a:ext uri="{FF2B5EF4-FFF2-40B4-BE49-F238E27FC236}">
                <a16:creationId xmlns:a16="http://schemas.microsoft.com/office/drawing/2014/main" id="{4175E4C6-C30E-4408-9EB6-EAC872B04D89}"/>
              </a:ext>
            </a:extLst>
          </p:cNvPr>
          <p:cNvSpPr txBox="1"/>
          <p:nvPr/>
        </p:nvSpPr>
        <p:spPr>
          <a:xfrm>
            <a:off x="321365" y="3746293"/>
            <a:ext cx="1292087" cy="369332"/>
          </a:xfrm>
          <a:prstGeom prst="rect">
            <a:avLst/>
          </a:prstGeom>
          <a:noFill/>
        </p:spPr>
        <p:txBody>
          <a:bodyPr wrap="square" rtlCol="0">
            <a:spAutoFit/>
          </a:bodyPr>
          <a:lstStyle/>
          <a:p>
            <a:r>
              <a:rPr lang="en-US" dirty="0"/>
              <a:t>Slope</a:t>
            </a:r>
          </a:p>
        </p:txBody>
      </p:sp>
      <p:sp>
        <p:nvSpPr>
          <p:cNvPr id="13" name="TextBox 12">
            <a:extLst>
              <a:ext uri="{FF2B5EF4-FFF2-40B4-BE49-F238E27FC236}">
                <a16:creationId xmlns:a16="http://schemas.microsoft.com/office/drawing/2014/main" id="{5096F903-3577-451D-8D84-8C6868C53234}"/>
              </a:ext>
            </a:extLst>
          </p:cNvPr>
          <p:cNvSpPr txBox="1"/>
          <p:nvPr/>
        </p:nvSpPr>
        <p:spPr>
          <a:xfrm>
            <a:off x="10287000" y="3012421"/>
            <a:ext cx="1292087" cy="369332"/>
          </a:xfrm>
          <a:prstGeom prst="rect">
            <a:avLst/>
          </a:prstGeom>
          <a:noFill/>
        </p:spPr>
        <p:txBody>
          <a:bodyPr wrap="square" rtlCol="0">
            <a:spAutoFit/>
          </a:bodyPr>
          <a:lstStyle/>
          <a:p>
            <a:r>
              <a:rPr lang="en-US" dirty="0"/>
              <a:t>P value</a:t>
            </a:r>
          </a:p>
        </p:txBody>
      </p:sp>
      <p:sp>
        <p:nvSpPr>
          <p:cNvPr id="14" name="TextBox 13">
            <a:extLst>
              <a:ext uri="{FF2B5EF4-FFF2-40B4-BE49-F238E27FC236}">
                <a16:creationId xmlns:a16="http://schemas.microsoft.com/office/drawing/2014/main" id="{28AE726D-A9A7-4FBD-8F7C-40F812F0D004}"/>
              </a:ext>
            </a:extLst>
          </p:cNvPr>
          <p:cNvSpPr txBox="1"/>
          <p:nvPr/>
        </p:nvSpPr>
        <p:spPr>
          <a:xfrm>
            <a:off x="6165572" y="6195431"/>
            <a:ext cx="1292087" cy="369332"/>
          </a:xfrm>
          <a:prstGeom prst="rect">
            <a:avLst/>
          </a:prstGeom>
          <a:noFill/>
        </p:spPr>
        <p:txBody>
          <a:bodyPr wrap="square" rtlCol="0">
            <a:spAutoFit/>
          </a:bodyPr>
          <a:lstStyle/>
          <a:p>
            <a:r>
              <a:rPr lang="en-US" dirty="0"/>
              <a:t>R Square</a:t>
            </a:r>
          </a:p>
        </p:txBody>
      </p:sp>
      <p:cxnSp>
        <p:nvCxnSpPr>
          <p:cNvPr id="16" name="Straight Arrow Connector 15">
            <a:extLst>
              <a:ext uri="{FF2B5EF4-FFF2-40B4-BE49-F238E27FC236}">
                <a16:creationId xmlns:a16="http://schemas.microsoft.com/office/drawing/2014/main" id="{A8753F9E-CA51-4382-AF06-5D6A9F21D8FF}"/>
              </a:ext>
            </a:extLst>
          </p:cNvPr>
          <p:cNvCxnSpPr/>
          <p:nvPr/>
        </p:nvCxnSpPr>
        <p:spPr>
          <a:xfrm>
            <a:off x="1613452" y="1212574"/>
            <a:ext cx="2014331" cy="1043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0689157-6521-40CB-8309-9AE0B6DE63A7}"/>
              </a:ext>
            </a:extLst>
          </p:cNvPr>
          <p:cNvCxnSpPr/>
          <p:nvPr/>
        </p:nvCxnSpPr>
        <p:spPr>
          <a:xfrm flipV="1">
            <a:off x="1905000" y="3497750"/>
            <a:ext cx="1577008" cy="1159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A762FAC-5FF8-4ABB-81D3-AAFF86BAAAA2}"/>
              </a:ext>
            </a:extLst>
          </p:cNvPr>
          <p:cNvCxnSpPr/>
          <p:nvPr/>
        </p:nvCxnSpPr>
        <p:spPr>
          <a:xfrm flipV="1">
            <a:off x="1613452" y="3863841"/>
            <a:ext cx="2064026" cy="247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ED9579F-2EB6-4389-8C23-51D03BB6E23D}"/>
              </a:ext>
            </a:extLst>
          </p:cNvPr>
          <p:cNvCxnSpPr/>
          <p:nvPr/>
        </p:nvCxnSpPr>
        <p:spPr>
          <a:xfrm flipH="1" flipV="1">
            <a:off x="5564255" y="5001871"/>
            <a:ext cx="856423" cy="812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DC4BA25-B8AA-4AEE-A34B-1E1E071FF005}"/>
              </a:ext>
            </a:extLst>
          </p:cNvPr>
          <p:cNvCxnSpPr/>
          <p:nvPr/>
        </p:nvCxnSpPr>
        <p:spPr>
          <a:xfrm flipH="1">
            <a:off x="8507896" y="3012421"/>
            <a:ext cx="1243219" cy="445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2648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AC7D3B-AF11-482C-BB51-A85A16A44517}"/>
              </a:ext>
            </a:extLst>
          </p:cNvPr>
          <p:cNvSpPr txBox="1"/>
          <p:nvPr/>
        </p:nvSpPr>
        <p:spPr>
          <a:xfrm>
            <a:off x="139148" y="178904"/>
            <a:ext cx="11459817" cy="7109639"/>
          </a:xfrm>
          <a:prstGeom prst="rect">
            <a:avLst/>
          </a:prstGeom>
          <a:noFill/>
        </p:spPr>
        <p:txBody>
          <a:bodyPr wrap="square" rtlCol="0">
            <a:spAutoFit/>
          </a:bodyPr>
          <a:lstStyle/>
          <a:p>
            <a:r>
              <a:rPr lang="en-US" sz="2400" dirty="0">
                <a:solidFill>
                  <a:srgbClr val="FF0000"/>
                </a:solidFill>
              </a:rPr>
              <a:t>Residuals </a:t>
            </a:r>
            <a:r>
              <a:rPr lang="en-US" sz="2400" dirty="0"/>
              <a:t>: Distance between observations and the good fitted line. A good fit is that which does not have much residuals. Residuals will be symmetrically distributed around 0.  In our case -0.2439  0.0033  0.2053 is around zero so its quite good value. </a:t>
            </a:r>
          </a:p>
          <a:p>
            <a:endParaRPr lang="en-US" sz="2400" dirty="0"/>
          </a:p>
          <a:p>
            <a:r>
              <a:rPr lang="en-US" sz="2400" b="1" dirty="0">
                <a:solidFill>
                  <a:srgbClr val="FF0000"/>
                </a:solidFill>
              </a:rPr>
              <a:t>Y Intercept</a:t>
            </a:r>
            <a:r>
              <a:rPr lang="en-US" sz="2400" dirty="0"/>
              <a:t>: The intercept represents the value of the dependent variable (the y-variable) when the independent variable (the x-variable) is zero. It's the point where the regression line intersects the y-axis. In our case result is 0.64299</a:t>
            </a:r>
          </a:p>
          <a:p>
            <a:endParaRPr lang="en-US" sz="2400" dirty="0"/>
          </a:p>
          <a:p>
            <a:r>
              <a:rPr lang="en-US" sz="2400" b="1" dirty="0">
                <a:solidFill>
                  <a:srgbClr val="FF0000"/>
                </a:solidFill>
              </a:rPr>
              <a:t>Slope</a:t>
            </a:r>
            <a:r>
              <a:rPr lang="en-US" sz="2400" dirty="0">
                <a:solidFill>
                  <a:srgbClr val="FF0000"/>
                </a:solidFill>
              </a:rPr>
              <a:t>: </a:t>
            </a:r>
            <a:r>
              <a:rPr lang="en-US" sz="2400" dirty="0"/>
              <a:t>The slope represents the change in the dependent variable for a one-unit change in the independent variable. It tells you the rate of change of the dependent variable with respect to the independent variable. In our case slope is 0.62810. That means for every movement along x axis of diameter we move 0.62810 for y axis </a:t>
            </a:r>
            <a:r>
              <a:rPr lang="en-US" sz="2400" dirty="0" err="1"/>
              <a:t>i.e</a:t>
            </a:r>
            <a:r>
              <a:rPr lang="en-US" sz="2400" dirty="0"/>
              <a:t> for the field height. </a:t>
            </a:r>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255158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5B5F47B-AD5C-4892-A671-D9A726C85F34}"/>
              </a:ext>
            </a:extLst>
          </p:cNvPr>
          <p:cNvSpPr txBox="1"/>
          <p:nvPr/>
        </p:nvSpPr>
        <p:spPr>
          <a:xfrm>
            <a:off x="99391" y="1133060"/>
            <a:ext cx="12092609" cy="5632311"/>
          </a:xfrm>
          <a:prstGeom prst="rect">
            <a:avLst/>
          </a:prstGeom>
          <a:noFill/>
        </p:spPr>
        <p:txBody>
          <a:bodyPr wrap="square" rtlCol="0">
            <a:spAutoFit/>
          </a:bodyPr>
          <a:lstStyle/>
          <a:p>
            <a:r>
              <a:rPr lang="en-US" sz="2000" b="1" dirty="0">
                <a:solidFill>
                  <a:srgbClr val="FF0000"/>
                </a:solidFill>
              </a:rPr>
              <a:t>P-value</a:t>
            </a:r>
            <a:r>
              <a:rPr lang="en-US" sz="2000" dirty="0">
                <a:solidFill>
                  <a:srgbClr val="FF0000"/>
                </a:solidFill>
              </a:rPr>
              <a:t>: </a:t>
            </a:r>
            <a:r>
              <a:rPr lang="en-US" sz="2000" dirty="0"/>
              <a:t>The null hypothesis is that the slope is zero, we are seeing a slope of 0.62810. If the slope was really zero then the probability will be extremely low. 2e-16 (2 * 10 to the power -16) Vero low. When p value is less than 0.05 then we reject the null hypothesis and accept that the slope is not equal to zero.</a:t>
            </a:r>
          </a:p>
          <a:p>
            <a:endParaRPr lang="en-US" sz="2000" dirty="0"/>
          </a:p>
          <a:p>
            <a:r>
              <a:rPr lang="en-US" sz="2000" b="1" dirty="0">
                <a:solidFill>
                  <a:srgbClr val="FF0000"/>
                </a:solidFill>
              </a:rPr>
              <a:t>R-squared (R²)</a:t>
            </a:r>
            <a:r>
              <a:rPr lang="en-US" sz="2000" dirty="0">
                <a:solidFill>
                  <a:srgbClr val="FF0000"/>
                </a:solidFill>
              </a:rPr>
              <a:t>: </a:t>
            </a:r>
            <a:r>
              <a:rPr lang="en-US" sz="2000" dirty="0"/>
              <a:t>This is a measure of how well the independent variable(s) explain the variability of the dependent variable. It ranges from 0 to 1, with higher values indicating a better fit of the model to the data. R-squared measures the proportion of the variance in the dependent variable that is predictable from the independent variable(s).  In our case 53.66% </a:t>
            </a:r>
          </a:p>
          <a:p>
            <a:endParaRPr lang="en-US" sz="2000" dirty="0"/>
          </a:p>
          <a:p>
            <a:r>
              <a:rPr lang="en-US" sz="2000" dirty="0">
                <a:solidFill>
                  <a:srgbClr val="FF0000"/>
                </a:solidFill>
              </a:rPr>
              <a:t>The Std. Error column </a:t>
            </a:r>
            <a:r>
              <a:rPr lang="en-US" sz="2000" dirty="0"/>
              <a:t>displays the standard error of the estimate. This number shows how much variation there is in our estimate of the relationship between diameter and field height.</a:t>
            </a:r>
          </a:p>
          <a:p>
            <a:endParaRPr lang="en-US" sz="2000" dirty="0"/>
          </a:p>
          <a:p>
            <a:r>
              <a:rPr lang="en-US" sz="2000" dirty="0"/>
              <a:t>The </a:t>
            </a:r>
            <a:r>
              <a:rPr lang="en-US" sz="2000" dirty="0">
                <a:solidFill>
                  <a:srgbClr val="FF0000"/>
                </a:solidFill>
              </a:rPr>
              <a:t>t value column </a:t>
            </a:r>
            <a:r>
              <a:rPr lang="en-US" sz="2000" dirty="0"/>
              <a:t>displays the test statistic. Unless you specify otherwise, the test statistic used in linear regression is the t value from a two-sided t test. The larger the test statistic, the less likely it is that our results occurred by chance.</a:t>
            </a:r>
          </a:p>
          <a:p>
            <a:endParaRPr lang="en-US" sz="2000" dirty="0"/>
          </a:p>
          <a:p>
            <a:endParaRPr lang="en-US" sz="2000" dirty="0"/>
          </a:p>
        </p:txBody>
      </p:sp>
      <p:sp>
        <p:nvSpPr>
          <p:cNvPr id="5" name="TextBox 4">
            <a:extLst>
              <a:ext uri="{FF2B5EF4-FFF2-40B4-BE49-F238E27FC236}">
                <a16:creationId xmlns:a16="http://schemas.microsoft.com/office/drawing/2014/main" id="{0ADA054E-59A2-4145-81A2-D980AF7EAF47}"/>
              </a:ext>
            </a:extLst>
          </p:cNvPr>
          <p:cNvSpPr txBox="1"/>
          <p:nvPr/>
        </p:nvSpPr>
        <p:spPr>
          <a:xfrm>
            <a:off x="109330" y="198783"/>
            <a:ext cx="10247244" cy="523220"/>
          </a:xfrm>
          <a:prstGeom prst="rect">
            <a:avLst/>
          </a:prstGeom>
          <a:noFill/>
        </p:spPr>
        <p:txBody>
          <a:bodyPr wrap="square" rtlCol="0">
            <a:spAutoFit/>
          </a:bodyPr>
          <a:lstStyle/>
          <a:p>
            <a:r>
              <a:rPr lang="en-US" sz="2800" dirty="0">
                <a:solidFill>
                  <a:srgbClr val="FF0000"/>
                </a:solidFill>
              </a:rPr>
              <a:t>Interpretation of linear regression model</a:t>
            </a:r>
          </a:p>
        </p:txBody>
      </p:sp>
    </p:spTree>
    <p:extLst>
      <p:ext uri="{BB962C8B-B14F-4D97-AF65-F5344CB8AC3E}">
        <p14:creationId xmlns:p14="http://schemas.microsoft.com/office/powerpoint/2010/main" val="3652810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E09BA19-2747-4658-BFDA-823FCC3BCDA5}"/>
              </a:ext>
            </a:extLst>
          </p:cNvPr>
          <p:cNvSpPr txBox="1"/>
          <p:nvPr/>
        </p:nvSpPr>
        <p:spPr>
          <a:xfrm>
            <a:off x="576469" y="576470"/>
            <a:ext cx="10714383" cy="923330"/>
          </a:xfrm>
          <a:prstGeom prst="rect">
            <a:avLst/>
          </a:prstGeom>
          <a:noFill/>
        </p:spPr>
        <p:txBody>
          <a:bodyPr wrap="square" rtlCol="0">
            <a:spAutoFit/>
          </a:bodyPr>
          <a:lstStyle/>
          <a:p>
            <a:r>
              <a:rPr lang="en-US" dirty="0">
                <a:solidFill>
                  <a:srgbClr val="FF0000"/>
                </a:solidFill>
              </a:rPr>
              <a:t>The last three lines </a:t>
            </a:r>
            <a:r>
              <a:rPr lang="en-US" dirty="0"/>
              <a:t>of the model summary are statistics about the model as a whole. The most important thing to notice here is the p value of the model. </a:t>
            </a:r>
            <a:r>
              <a:rPr lang="en-US" dirty="0">
                <a:solidFill>
                  <a:srgbClr val="FF0000"/>
                </a:solidFill>
              </a:rPr>
              <a:t>Here it is significant (p &lt; 0.001)</a:t>
            </a:r>
            <a:r>
              <a:rPr lang="en-US" dirty="0"/>
              <a:t>, which means that this model is a good fit for the observed data.</a:t>
            </a:r>
          </a:p>
        </p:txBody>
      </p:sp>
    </p:spTree>
    <p:extLst>
      <p:ext uri="{BB962C8B-B14F-4D97-AF65-F5344CB8AC3E}">
        <p14:creationId xmlns:p14="http://schemas.microsoft.com/office/powerpoint/2010/main" val="1949480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D80E2C-0A65-4D86-9D1B-3E784B3A32BF}"/>
              </a:ext>
            </a:extLst>
          </p:cNvPr>
          <p:cNvSpPr txBox="1"/>
          <p:nvPr/>
        </p:nvSpPr>
        <p:spPr>
          <a:xfrm>
            <a:off x="636104" y="566530"/>
            <a:ext cx="11062253" cy="6001643"/>
          </a:xfrm>
          <a:prstGeom prst="rect">
            <a:avLst/>
          </a:prstGeom>
          <a:noFill/>
        </p:spPr>
        <p:txBody>
          <a:bodyPr wrap="square" rtlCol="0">
            <a:spAutoFit/>
          </a:bodyPr>
          <a:lstStyle/>
          <a:p>
            <a:r>
              <a:rPr lang="en-US" sz="2400" dirty="0">
                <a:solidFill>
                  <a:srgbClr val="FF0000"/>
                </a:solidFill>
              </a:rPr>
              <a:t>Predicting height of the tree manually.  </a:t>
            </a:r>
          </a:p>
          <a:p>
            <a:endParaRPr lang="en-US" sz="2400" dirty="0"/>
          </a:p>
          <a:p>
            <a:endParaRPr lang="en-US" sz="2400" dirty="0"/>
          </a:p>
          <a:p>
            <a:r>
              <a:rPr lang="en-US" sz="2400" dirty="0"/>
              <a:t>Y = mx + c </a:t>
            </a:r>
          </a:p>
          <a:p>
            <a:endParaRPr lang="en-US" sz="2400" dirty="0"/>
          </a:p>
          <a:p>
            <a:r>
              <a:rPr lang="en-US" sz="2400" dirty="0"/>
              <a:t>Y = dependent variable </a:t>
            </a:r>
          </a:p>
          <a:p>
            <a:r>
              <a:rPr lang="en-US" sz="2400" dirty="0"/>
              <a:t>m = slope </a:t>
            </a:r>
          </a:p>
          <a:p>
            <a:r>
              <a:rPr lang="en-US" sz="2400" dirty="0"/>
              <a:t>X = independent variable </a:t>
            </a:r>
          </a:p>
          <a:p>
            <a:r>
              <a:rPr lang="en-US" sz="2400" dirty="0"/>
              <a:t>C = intercept </a:t>
            </a:r>
          </a:p>
          <a:p>
            <a:endParaRPr lang="en-US" sz="2400" dirty="0"/>
          </a:p>
          <a:p>
            <a:r>
              <a:rPr lang="en-US" sz="2400" dirty="0"/>
              <a:t>Support we want to predict what is the height of the tree whose diameter is equal to 3.5</a:t>
            </a:r>
          </a:p>
          <a:p>
            <a:endParaRPr lang="en-US" sz="2400" dirty="0"/>
          </a:p>
          <a:p>
            <a:r>
              <a:rPr lang="en-US" sz="2400" dirty="0"/>
              <a:t>Y = 0.62810 * 3.5 + 0.64299 </a:t>
            </a:r>
          </a:p>
          <a:p>
            <a:endParaRPr lang="en-US" sz="2400" dirty="0"/>
          </a:p>
          <a:p>
            <a:r>
              <a:rPr lang="en-US" sz="2400" dirty="0"/>
              <a:t>= 2.84134 m</a:t>
            </a:r>
          </a:p>
        </p:txBody>
      </p:sp>
    </p:spTree>
    <p:extLst>
      <p:ext uri="{BB962C8B-B14F-4D97-AF65-F5344CB8AC3E}">
        <p14:creationId xmlns:p14="http://schemas.microsoft.com/office/powerpoint/2010/main" val="41934105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75</TotalTime>
  <Words>1084</Words>
  <Application>Microsoft Office PowerPoint</Application>
  <PresentationFormat>Widescreen</PresentationFormat>
  <Paragraphs>91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Ion</vt:lpstr>
      <vt:lpstr>Predictive linear regression model</vt:lpstr>
      <vt:lpstr>PowerPoint Presentation</vt:lpstr>
      <vt:lpstr>PowerPoint Presentation</vt:lpstr>
      <vt:lpstr>PowerPoint Presentation</vt:lpstr>
      <vt:lpstr>PowerPoint Presentation</vt:lpstr>
      <vt:lpstr>Linear regression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38</cp:revision>
  <dcterms:created xsi:type="dcterms:W3CDTF">2024-03-26T15:07:38Z</dcterms:created>
  <dcterms:modified xsi:type="dcterms:W3CDTF">2024-03-27T02:37:43Z</dcterms:modified>
</cp:coreProperties>
</file>