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77" d="100"/>
          <a:sy n="77" d="100"/>
        </p:scale>
        <p:origin x="80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1135781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908032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3923943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FFC3B4-446D-4147-AE1E-C9C734C7206D}" type="datetimeFigureOut">
              <a:rPr lang="en-US" smtClean="0"/>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2943530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FFC3B4-446D-4147-AE1E-C9C734C7206D}" type="datetimeFigureOut">
              <a:rPr lang="en-US" smtClean="0"/>
              <a:t>3/23/2024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2742937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2583729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7580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407974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FFC3B4-446D-4147-AE1E-C9C734C7206D}" type="datetimeFigureOut">
              <a:rPr lang="en-US" smtClean="0"/>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3643558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5FFC3B4-446D-4147-AE1E-C9C734C7206D}" type="datetimeFigureOut">
              <a:rPr lang="en-US" smtClean="0"/>
              <a:t>3/23/2024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2613052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1887222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8149585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463630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223748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3431283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17054121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FFC3B4-446D-4147-AE1E-C9C734C7206D}" type="datetimeFigureOut">
              <a:rPr lang="en-US" smtClean="0"/>
              <a:t>3/23/2024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87D28-51A3-4D7A-925E-F7541228D89B}" type="slidenum">
              <a:rPr lang="en-US" smtClean="0"/>
              <a:t>‹#›</a:t>
            </a:fld>
            <a:endParaRPr lang="en-US"/>
          </a:p>
        </p:txBody>
      </p:sp>
    </p:spTree>
    <p:extLst>
      <p:ext uri="{BB962C8B-B14F-4D97-AF65-F5344CB8AC3E}">
        <p14:creationId xmlns:p14="http://schemas.microsoft.com/office/powerpoint/2010/main" val="289376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5FFC3B4-446D-4147-AE1E-C9C734C7206D}" type="datetimeFigureOut">
              <a:rPr lang="en-US" smtClean="0"/>
              <a:t>3/23/2024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8487D28-51A3-4D7A-925E-F7541228D89B}" type="slidenum">
              <a:rPr lang="en-US" smtClean="0"/>
              <a:t>‹#›</a:t>
            </a:fld>
            <a:endParaRPr lang="en-US"/>
          </a:p>
        </p:txBody>
      </p:sp>
    </p:spTree>
    <p:extLst>
      <p:ext uri="{BB962C8B-B14F-4D97-AF65-F5344CB8AC3E}">
        <p14:creationId xmlns:p14="http://schemas.microsoft.com/office/powerpoint/2010/main" val="43429793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cedricscherer.netlify.app/2019/08/05/a-ggplot2-tutorial-for-beautiful-plotting-in-r/#legends" TargetMode="External"/><Relationship Id="rId13" Type="http://schemas.openxmlformats.org/officeDocument/2006/relationships/hyperlink" Target="https://cedricscherer.netlify.app/2019/08/05/a-ggplot2-tutorial-for-beautiful-plotting-in-r/#themes" TargetMode="External"/><Relationship Id="rId18" Type="http://schemas.openxmlformats.org/officeDocument/2006/relationships/hyperlink" Target="https://cedricscherer.netlify.app/2019/08/05/a-ggplot2-tutorial-for-beautiful-plotting-in-r/#ribbons" TargetMode="External"/><Relationship Id="rId3" Type="http://schemas.openxmlformats.org/officeDocument/2006/relationships/hyperlink" Target="https://cedricscherer.netlify.app/2019/08/05/a-ggplot2-tutorial-for-beautiful-plotting-in-r/#data" TargetMode="External"/><Relationship Id="rId21" Type="http://schemas.openxmlformats.org/officeDocument/2006/relationships/hyperlink" Target="https://cedricscherer.netlify.app/2019/08/05/a-ggplot2-tutorial-for-beautiful-plotting-in-r/#tipps" TargetMode="External"/><Relationship Id="rId7" Type="http://schemas.openxmlformats.org/officeDocument/2006/relationships/hyperlink" Target="https://cedricscherer.netlify.app/2019/08/05/a-ggplot2-tutorial-for-beautiful-plotting-in-r/#titles" TargetMode="External"/><Relationship Id="rId12" Type="http://schemas.openxmlformats.org/officeDocument/2006/relationships/hyperlink" Target="https://cedricscherer.netlify.app/2019/08/05/a-ggplot2-tutorial-for-beautiful-plotting-in-r/#colors" TargetMode="External"/><Relationship Id="rId17" Type="http://schemas.openxmlformats.org/officeDocument/2006/relationships/hyperlink" Target="https://cedricscherer.netlify.app/2019/08/05/a-ggplot2-tutorial-for-beautiful-plotting-in-r/#charts" TargetMode="External"/><Relationship Id="rId2" Type="http://schemas.openxmlformats.org/officeDocument/2006/relationships/hyperlink" Target="https://cedricscherer.netlify.app/2019/08/05/a-ggplot2-tutorial-for-beautiful-plotting-in-r/#prep" TargetMode="External"/><Relationship Id="rId16" Type="http://schemas.openxmlformats.org/officeDocument/2006/relationships/hyperlink" Target="https://cedricscherer.netlify.app/2019/08/05/a-ggplot2-tutorial-for-beautiful-plotting-in-r/#coords" TargetMode="External"/><Relationship Id="rId20" Type="http://schemas.openxmlformats.org/officeDocument/2006/relationships/hyperlink" Target="https://cedricscherer.netlify.app/2019/08/05/a-ggplot2-tutorial-for-beautiful-plotting-in-r/#interactive" TargetMode="External"/><Relationship Id="rId1" Type="http://schemas.openxmlformats.org/officeDocument/2006/relationships/slideLayout" Target="../slideLayouts/slideLayout2.xml"/><Relationship Id="rId6" Type="http://schemas.openxmlformats.org/officeDocument/2006/relationships/hyperlink" Target="https://cedricscherer.netlify.app/2019/08/05/a-ggplot2-tutorial-for-beautiful-plotting-in-r/#axes" TargetMode="External"/><Relationship Id="rId11" Type="http://schemas.openxmlformats.org/officeDocument/2006/relationships/hyperlink" Target="https://cedricscherer.netlify.app/2019/08/05/a-ggplot2-tutorial-for-beautiful-plotting-in-r/#panels" TargetMode="External"/><Relationship Id="rId5" Type="http://schemas.openxmlformats.org/officeDocument/2006/relationships/hyperlink" Target="https://cedricscherer.netlify.app/2019/08/05/a-ggplot2-tutorial-for-beautiful-plotting-in-r/#default" TargetMode="External"/><Relationship Id="rId15" Type="http://schemas.openxmlformats.org/officeDocument/2006/relationships/hyperlink" Target="https://cedricscherer.netlify.app/2019/08/05/a-ggplot2-tutorial-for-beautiful-plotting-in-r/#text" TargetMode="External"/><Relationship Id="rId10" Type="http://schemas.openxmlformats.org/officeDocument/2006/relationships/hyperlink" Target="https://cedricscherer.netlify.app/2019/08/05/a-ggplot2-tutorial-for-beautiful-plotting-in-r/#margins" TargetMode="External"/><Relationship Id="rId19" Type="http://schemas.openxmlformats.org/officeDocument/2006/relationships/hyperlink" Target="https://cedricscherer.netlify.app/2019/08/05/a-ggplot2-tutorial-for-beautiful-plotting-in-r/#smooths" TargetMode="External"/><Relationship Id="rId4" Type="http://schemas.openxmlformats.org/officeDocument/2006/relationships/hyperlink" Target="https://cedricscherer.netlify.app/2019/08/05/a-ggplot2-tutorial-for-beautiful-plotting-in-r/#ggplot" TargetMode="External"/><Relationship Id="rId9" Type="http://schemas.openxmlformats.org/officeDocument/2006/relationships/hyperlink" Target="https://cedricscherer.netlify.app/2019/08/05/a-ggplot2-tutorial-for-beautiful-plotting-in-r/#style" TargetMode="External"/><Relationship Id="rId14" Type="http://schemas.openxmlformats.org/officeDocument/2006/relationships/hyperlink" Target="https://cedricscherer.netlify.app/2019/08/05/a-ggplot2-tutorial-for-beautiful-plotting-in-r/#lin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64677-0E27-4E6B-9C52-8E98048019F6}"/>
              </a:ext>
            </a:extLst>
          </p:cNvPr>
          <p:cNvSpPr>
            <a:spLocks noGrp="1"/>
          </p:cNvSpPr>
          <p:nvPr>
            <p:ph type="ctrTitle"/>
          </p:nvPr>
        </p:nvSpPr>
        <p:spPr>
          <a:xfrm>
            <a:off x="944217" y="626166"/>
            <a:ext cx="9036396" cy="4151216"/>
          </a:xfrm>
        </p:spPr>
        <p:txBody>
          <a:bodyPr>
            <a:normAutofit/>
          </a:bodyPr>
          <a:lstStyle/>
          <a:p>
            <a:r>
              <a:rPr lang="en-US" b="1" dirty="0"/>
              <a:t>ggplot2 tutorial for plotting in R</a:t>
            </a:r>
            <a:br>
              <a:rPr lang="en-US" b="1" dirty="0"/>
            </a:br>
            <a:endParaRPr lang="en-US" dirty="0"/>
          </a:p>
        </p:txBody>
      </p:sp>
      <p:sp>
        <p:nvSpPr>
          <p:cNvPr id="3" name="Subtitle 2">
            <a:extLst>
              <a:ext uri="{FF2B5EF4-FFF2-40B4-BE49-F238E27FC236}">
                <a16:creationId xmlns:a16="http://schemas.microsoft.com/office/drawing/2014/main" id="{31F37E2E-B5E0-48E9-B3FB-8B9C4574106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60079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cedricscherer.netlify.app/img/ggplot-tutorial/overview.png">
            <a:extLst>
              <a:ext uri="{FF2B5EF4-FFF2-40B4-BE49-F238E27FC236}">
                <a16:creationId xmlns:a16="http://schemas.microsoft.com/office/drawing/2014/main" id="{6110D57E-09A8-4DA9-8117-A37186BEA7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792" y="0"/>
            <a:ext cx="90744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0112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F671A9-5A5C-4E1B-8955-3BB28D46B146}"/>
              </a:ext>
            </a:extLst>
          </p:cNvPr>
          <p:cNvSpPr/>
          <p:nvPr/>
        </p:nvSpPr>
        <p:spPr>
          <a:xfrm>
            <a:off x="129209" y="129208"/>
            <a:ext cx="10585174" cy="6555641"/>
          </a:xfrm>
          <a:prstGeom prst="rect">
            <a:avLst/>
          </a:prstGeom>
        </p:spPr>
        <p:txBody>
          <a:bodyPr wrap="square">
            <a:spAutoFit/>
          </a:bodyPr>
          <a:lstStyle/>
          <a:p>
            <a:r>
              <a:rPr lang="en-US" sz="2000" b="1" dirty="0">
                <a:solidFill>
                  <a:schemeClr val="tx1">
                    <a:lumMod val="95000"/>
                  </a:schemeClr>
                </a:solidFill>
                <a:latin typeface="Canicule Display"/>
              </a:rPr>
              <a:t>										Table of Content</a:t>
            </a:r>
          </a:p>
          <a:p>
            <a:pPr>
              <a:buFont typeface="Arial" panose="020B0604020202020204" pitchFamily="34" charset="0"/>
              <a:buChar char="•"/>
            </a:pPr>
            <a:r>
              <a:rPr lang="en-US" sz="2000" b="1" dirty="0">
                <a:solidFill>
                  <a:schemeClr val="tx1">
                    <a:lumMod val="95000"/>
                  </a:schemeClr>
                </a:solidFill>
                <a:latin typeface="Cabinet Grotesk"/>
                <a:hlinkClick r:id="rId2">
                  <a:extLst>
                    <a:ext uri="{A12FA001-AC4F-418D-AE19-62706E023703}">
                      <ahyp:hlinkClr xmlns:ahyp="http://schemas.microsoft.com/office/drawing/2018/hyperlinkcolor" val="tx"/>
                    </a:ext>
                  </a:extLst>
                </a:hlinkClick>
              </a:rPr>
              <a:t>Preparation</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u="sng" dirty="0">
                <a:solidFill>
                  <a:schemeClr val="tx1">
                    <a:lumMod val="95000"/>
                  </a:schemeClr>
                </a:solidFill>
                <a:latin typeface="Cabinet Grotesk"/>
                <a:hlinkClick r:id="rId3">
                  <a:extLst>
                    <a:ext uri="{A12FA001-AC4F-418D-AE19-62706E023703}">
                      <ahyp:hlinkClr xmlns:ahyp="http://schemas.microsoft.com/office/drawing/2018/hyperlinkcolor" val="tx"/>
                    </a:ext>
                  </a:extLst>
                </a:hlinkClick>
              </a:rPr>
              <a:t>The Dataset</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4">
                  <a:extLst>
                    <a:ext uri="{A12FA001-AC4F-418D-AE19-62706E023703}">
                      <ahyp:hlinkClr xmlns:ahyp="http://schemas.microsoft.com/office/drawing/2018/hyperlinkcolor" val="tx"/>
                    </a:ext>
                  </a:extLst>
                </a:hlinkClick>
              </a:rPr>
              <a:t>The {ggplot2} Package</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5">
                  <a:extLst>
                    <a:ext uri="{A12FA001-AC4F-418D-AE19-62706E023703}">
                      <ahyp:hlinkClr xmlns:ahyp="http://schemas.microsoft.com/office/drawing/2018/hyperlinkcolor" val="tx"/>
                    </a:ext>
                  </a:extLst>
                </a:hlinkClick>
              </a:rPr>
              <a:t>A Default </a:t>
            </a:r>
            <a:r>
              <a:rPr lang="en-US" sz="2000" b="1" dirty="0" err="1">
                <a:solidFill>
                  <a:schemeClr val="tx1">
                    <a:lumMod val="95000"/>
                  </a:schemeClr>
                </a:solidFill>
                <a:latin typeface="Cabinet Grotesk"/>
                <a:hlinkClick r:id="rId5">
                  <a:extLst>
                    <a:ext uri="{A12FA001-AC4F-418D-AE19-62706E023703}">
                      <ahyp:hlinkClr xmlns:ahyp="http://schemas.microsoft.com/office/drawing/2018/hyperlinkcolor" val="tx"/>
                    </a:ext>
                  </a:extLst>
                </a:hlinkClick>
              </a:rPr>
              <a:t>ggplot</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6">
                  <a:extLst>
                    <a:ext uri="{A12FA001-AC4F-418D-AE19-62706E023703}">
                      <ahyp:hlinkClr xmlns:ahyp="http://schemas.microsoft.com/office/drawing/2018/hyperlinkcolor" val="tx"/>
                    </a:ext>
                  </a:extLst>
                </a:hlinkClick>
              </a:rPr>
              <a:t>Working with Axes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7">
                  <a:extLst>
                    <a:ext uri="{A12FA001-AC4F-418D-AE19-62706E023703}">
                      <ahyp:hlinkClr xmlns:ahyp="http://schemas.microsoft.com/office/drawing/2018/hyperlinkcolor" val="tx"/>
                    </a:ext>
                  </a:extLst>
                </a:hlinkClick>
              </a:rPr>
              <a:t>Working with Titles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8">
                  <a:extLst>
                    <a:ext uri="{A12FA001-AC4F-418D-AE19-62706E023703}">
                      <ahyp:hlinkClr xmlns:ahyp="http://schemas.microsoft.com/office/drawing/2018/hyperlinkcolor" val="tx"/>
                    </a:ext>
                  </a:extLst>
                </a:hlinkClick>
              </a:rPr>
              <a:t>Working with Legends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9">
                  <a:extLst>
                    <a:ext uri="{A12FA001-AC4F-418D-AE19-62706E023703}">
                      <ahyp:hlinkClr xmlns:ahyp="http://schemas.microsoft.com/office/drawing/2018/hyperlinkcolor" val="tx"/>
                    </a:ext>
                  </a:extLst>
                </a:hlinkClick>
              </a:rPr>
              <a:t>Working with Backgrounds &amp; Grid Lines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0">
                  <a:extLst>
                    <a:ext uri="{A12FA001-AC4F-418D-AE19-62706E023703}">
                      <ahyp:hlinkClr xmlns:ahyp="http://schemas.microsoft.com/office/drawing/2018/hyperlinkcolor" val="tx"/>
                    </a:ext>
                  </a:extLst>
                </a:hlinkClick>
              </a:rPr>
              <a:t>Working with Margins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1">
                  <a:extLst>
                    <a:ext uri="{A12FA001-AC4F-418D-AE19-62706E023703}">
                      <ahyp:hlinkClr xmlns:ahyp="http://schemas.microsoft.com/office/drawing/2018/hyperlinkcolor" val="tx"/>
                    </a:ext>
                  </a:extLst>
                </a:hlinkClick>
              </a:rPr>
              <a:t>Working with Multi-Panel Plots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2">
                  <a:extLst>
                    <a:ext uri="{A12FA001-AC4F-418D-AE19-62706E023703}">
                      <ahyp:hlinkClr xmlns:ahyp="http://schemas.microsoft.com/office/drawing/2018/hyperlinkcolor" val="tx"/>
                    </a:ext>
                  </a:extLst>
                </a:hlinkClick>
              </a:rPr>
              <a:t>Working with Colors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3">
                  <a:extLst>
                    <a:ext uri="{A12FA001-AC4F-418D-AE19-62706E023703}">
                      <ahyp:hlinkClr xmlns:ahyp="http://schemas.microsoft.com/office/drawing/2018/hyperlinkcolor" val="tx"/>
                    </a:ext>
                  </a:extLst>
                </a:hlinkClick>
              </a:rPr>
              <a:t>Working with Themes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4">
                  <a:extLst>
                    <a:ext uri="{A12FA001-AC4F-418D-AE19-62706E023703}">
                      <ahyp:hlinkClr xmlns:ahyp="http://schemas.microsoft.com/office/drawing/2018/hyperlinkcolor" val="tx"/>
                    </a:ext>
                  </a:extLst>
                </a:hlinkClick>
              </a:rPr>
              <a:t>Working with Lines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5">
                  <a:extLst>
                    <a:ext uri="{A12FA001-AC4F-418D-AE19-62706E023703}">
                      <ahyp:hlinkClr xmlns:ahyp="http://schemas.microsoft.com/office/drawing/2018/hyperlinkcolor" val="tx"/>
                    </a:ext>
                  </a:extLst>
                </a:hlinkClick>
              </a:rPr>
              <a:t>Working with Text</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6">
                  <a:extLst>
                    <a:ext uri="{A12FA001-AC4F-418D-AE19-62706E023703}">
                      <ahyp:hlinkClr xmlns:ahyp="http://schemas.microsoft.com/office/drawing/2018/hyperlinkcolor" val="tx"/>
                    </a:ext>
                  </a:extLst>
                </a:hlinkClick>
              </a:rPr>
              <a:t>Working with Coordinates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7">
                  <a:extLst>
                    <a:ext uri="{A12FA001-AC4F-418D-AE19-62706E023703}">
                      <ahyp:hlinkClr xmlns:ahyp="http://schemas.microsoft.com/office/drawing/2018/hyperlinkcolor" val="tx"/>
                    </a:ext>
                  </a:extLst>
                </a:hlinkClick>
              </a:rPr>
              <a:t>Working with Chart Types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8">
                  <a:extLst>
                    <a:ext uri="{A12FA001-AC4F-418D-AE19-62706E023703}">
                      <ahyp:hlinkClr xmlns:ahyp="http://schemas.microsoft.com/office/drawing/2018/hyperlinkcolor" val="tx"/>
                    </a:ext>
                  </a:extLst>
                </a:hlinkClick>
              </a:rPr>
              <a:t>Working with Ribbons (AUC, CI, etc.)</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19">
                  <a:extLst>
                    <a:ext uri="{A12FA001-AC4F-418D-AE19-62706E023703}">
                      <ahyp:hlinkClr xmlns:ahyp="http://schemas.microsoft.com/office/drawing/2018/hyperlinkcolor" val="tx"/>
                    </a:ext>
                  </a:extLst>
                </a:hlinkClick>
              </a:rPr>
              <a:t>Working with </a:t>
            </a:r>
            <a:r>
              <a:rPr lang="en-US" sz="2000" b="1" dirty="0" err="1">
                <a:solidFill>
                  <a:schemeClr val="tx1">
                    <a:lumMod val="95000"/>
                  </a:schemeClr>
                </a:solidFill>
                <a:latin typeface="Cabinet Grotesk"/>
                <a:hlinkClick r:id="rId19">
                  <a:extLst>
                    <a:ext uri="{A12FA001-AC4F-418D-AE19-62706E023703}">
                      <ahyp:hlinkClr xmlns:ahyp="http://schemas.microsoft.com/office/drawing/2018/hyperlinkcolor" val="tx"/>
                    </a:ext>
                  </a:extLst>
                </a:hlinkClick>
              </a:rPr>
              <a:t>Smoothings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20">
                  <a:extLst>
                    <a:ext uri="{A12FA001-AC4F-418D-AE19-62706E023703}">
                      <ahyp:hlinkClr xmlns:ahyp="http://schemas.microsoft.com/office/drawing/2018/hyperlinkcolor" val="tx"/>
                    </a:ext>
                  </a:extLst>
                </a:hlinkClick>
              </a:rPr>
              <a:t>Working with Interactive Plots</a:t>
            </a:r>
            <a:endParaRPr lang="en-US" sz="2000" dirty="0">
              <a:solidFill>
                <a:schemeClr val="tx1">
                  <a:lumMod val="95000"/>
                </a:schemeClr>
              </a:solidFill>
              <a:latin typeface="Cabinet Grotesk"/>
            </a:endParaRPr>
          </a:p>
          <a:p>
            <a:pPr>
              <a:buFont typeface="Arial" panose="020B0604020202020204" pitchFamily="34" charset="0"/>
              <a:buChar char="•"/>
            </a:pPr>
            <a:r>
              <a:rPr lang="en-US" sz="2000" b="1" dirty="0">
                <a:solidFill>
                  <a:schemeClr val="tx1">
                    <a:lumMod val="95000"/>
                  </a:schemeClr>
                </a:solidFill>
                <a:latin typeface="Cabinet Grotesk"/>
                <a:hlinkClick r:id="rId21">
                  <a:extLst>
                    <a:ext uri="{A12FA001-AC4F-418D-AE19-62706E023703}">
                      <ahyp:hlinkClr xmlns:ahyp="http://schemas.microsoft.com/office/drawing/2018/hyperlinkcolor" val="tx"/>
                    </a:ext>
                  </a:extLst>
                </a:hlinkClick>
              </a:rPr>
              <a:t>Remarks, Tipps &amp; Resources</a:t>
            </a:r>
            <a:endParaRPr lang="en-US" sz="2000" b="0" i="0" dirty="0">
              <a:solidFill>
                <a:schemeClr val="tx1">
                  <a:lumMod val="95000"/>
                </a:schemeClr>
              </a:solidFill>
              <a:effectLst/>
              <a:latin typeface="Cabinet Grotesk"/>
            </a:endParaRPr>
          </a:p>
        </p:txBody>
      </p:sp>
    </p:spTree>
    <p:extLst>
      <p:ext uri="{BB962C8B-B14F-4D97-AF65-F5344CB8AC3E}">
        <p14:creationId xmlns:p14="http://schemas.microsoft.com/office/powerpoint/2010/main" val="3292219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56203-1760-4853-9D4D-D48FC3EF4846}"/>
              </a:ext>
            </a:extLst>
          </p:cNvPr>
          <p:cNvSpPr>
            <a:spLocks noGrp="1"/>
          </p:cNvSpPr>
          <p:nvPr>
            <p:ph type="title"/>
          </p:nvPr>
        </p:nvSpPr>
        <p:spPr/>
        <p:txBody>
          <a:bodyPr/>
          <a:lstStyle/>
          <a:p>
            <a:r>
              <a:rPr lang="en-US" b="1" dirty="0"/>
              <a:t>Preparation</a:t>
            </a:r>
            <a:br>
              <a:rPr lang="en-US" b="1" dirty="0"/>
            </a:br>
            <a:endParaRPr lang="en-US" dirty="0"/>
          </a:p>
        </p:txBody>
      </p:sp>
      <p:sp>
        <p:nvSpPr>
          <p:cNvPr id="5" name="TextBox 4">
            <a:extLst>
              <a:ext uri="{FF2B5EF4-FFF2-40B4-BE49-F238E27FC236}">
                <a16:creationId xmlns:a16="http://schemas.microsoft.com/office/drawing/2014/main" id="{83FE559C-3D38-4B4D-B5D2-05BF28F461AE}"/>
              </a:ext>
            </a:extLst>
          </p:cNvPr>
          <p:cNvSpPr txBox="1"/>
          <p:nvPr/>
        </p:nvSpPr>
        <p:spPr>
          <a:xfrm>
            <a:off x="983974" y="1600200"/>
            <a:ext cx="10157791" cy="1938992"/>
          </a:xfrm>
          <a:prstGeom prst="rect">
            <a:avLst/>
          </a:prstGeom>
          <a:noFill/>
        </p:spPr>
        <p:txBody>
          <a:bodyPr wrap="square" rtlCol="0">
            <a:spAutoFit/>
          </a:bodyPr>
          <a:lstStyle/>
          <a:p>
            <a:r>
              <a:rPr lang="en-US" sz="4000" dirty="0" err="1"/>
              <a:t>install.packages</a:t>
            </a:r>
            <a:r>
              <a:rPr lang="en-US" sz="4000" dirty="0"/>
              <a:t>(“ggplot2”)</a:t>
            </a:r>
          </a:p>
          <a:p>
            <a:endParaRPr lang="en-US" sz="4000" dirty="0"/>
          </a:p>
          <a:p>
            <a:r>
              <a:rPr lang="en-US" sz="4000" dirty="0"/>
              <a:t>Library(ggplot2)</a:t>
            </a:r>
          </a:p>
        </p:txBody>
      </p:sp>
    </p:spTree>
    <p:extLst>
      <p:ext uri="{BB962C8B-B14F-4D97-AF65-F5344CB8AC3E}">
        <p14:creationId xmlns:p14="http://schemas.microsoft.com/office/powerpoint/2010/main" val="329487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A95BD-39EE-4300-B310-48F758C610AC}"/>
              </a:ext>
            </a:extLst>
          </p:cNvPr>
          <p:cNvSpPr>
            <a:spLocks noGrp="1"/>
          </p:cNvSpPr>
          <p:nvPr>
            <p:ph type="title"/>
          </p:nvPr>
        </p:nvSpPr>
        <p:spPr/>
        <p:txBody>
          <a:bodyPr/>
          <a:lstStyle/>
          <a:p>
            <a:r>
              <a:rPr lang="en-US" b="1" dirty="0"/>
              <a:t>The Dataset</a:t>
            </a:r>
            <a:br>
              <a:rPr lang="en-US" b="1" dirty="0"/>
            </a:br>
            <a:endParaRPr lang="en-US" dirty="0"/>
          </a:p>
        </p:txBody>
      </p:sp>
      <p:pic>
        <p:nvPicPr>
          <p:cNvPr id="4" name="Picture 3">
            <a:extLst>
              <a:ext uri="{FF2B5EF4-FFF2-40B4-BE49-F238E27FC236}">
                <a16:creationId xmlns:a16="http://schemas.microsoft.com/office/drawing/2014/main" id="{D77AA566-B86C-4312-960C-655F0DB574AC}"/>
              </a:ext>
            </a:extLst>
          </p:cNvPr>
          <p:cNvPicPr>
            <a:picLocks noChangeAspect="1"/>
          </p:cNvPicPr>
          <p:nvPr/>
        </p:nvPicPr>
        <p:blipFill>
          <a:blip r:embed="rId2"/>
          <a:stretch>
            <a:fillRect/>
          </a:stretch>
        </p:blipFill>
        <p:spPr>
          <a:xfrm>
            <a:off x="646110" y="1327673"/>
            <a:ext cx="5449889" cy="5376735"/>
          </a:xfrm>
          <a:prstGeom prst="rect">
            <a:avLst/>
          </a:prstGeom>
        </p:spPr>
      </p:pic>
      <p:sp>
        <p:nvSpPr>
          <p:cNvPr id="5" name="TextBox 4">
            <a:extLst>
              <a:ext uri="{FF2B5EF4-FFF2-40B4-BE49-F238E27FC236}">
                <a16:creationId xmlns:a16="http://schemas.microsoft.com/office/drawing/2014/main" id="{A6440AC2-AE4B-48BD-B327-FA29D45717F6}"/>
              </a:ext>
            </a:extLst>
          </p:cNvPr>
          <p:cNvSpPr txBox="1"/>
          <p:nvPr/>
        </p:nvSpPr>
        <p:spPr>
          <a:xfrm>
            <a:off x="6520070" y="1769165"/>
            <a:ext cx="5449889" cy="1754326"/>
          </a:xfrm>
          <a:prstGeom prst="rect">
            <a:avLst/>
          </a:prstGeom>
          <a:noFill/>
        </p:spPr>
        <p:txBody>
          <a:bodyPr wrap="square" rtlCol="0">
            <a:spAutoFit/>
          </a:bodyPr>
          <a:lstStyle/>
          <a:p>
            <a:r>
              <a:rPr lang="en-US" dirty="0" err="1"/>
              <a:t>forest_data</a:t>
            </a:r>
            <a:r>
              <a:rPr lang="en-US" dirty="0"/>
              <a:t> &lt;- read.csv("C:/GIIS/Maxent GEE R Training (March 2024 </a:t>
            </a:r>
            <a:r>
              <a:rPr lang="en-US" dirty="0" err="1"/>
              <a:t>Surkhet</a:t>
            </a:r>
            <a:r>
              <a:rPr lang="en-US" dirty="0"/>
              <a:t>)/R Code/Drone_Project.csv")</a:t>
            </a:r>
          </a:p>
          <a:p>
            <a:endParaRPr lang="en-US" dirty="0"/>
          </a:p>
          <a:p>
            <a:endParaRPr lang="en-US" dirty="0"/>
          </a:p>
          <a:p>
            <a:r>
              <a:rPr lang="en-US" dirty="0" err="1"/>
              <a:t>tibble</a:t>
            </a:r>
            <a:r>
              <a:rPr lang="en-US" dirty="0"/>
              <a:t>::glimpse(data)</a:t>
            </a:r>
          </a:p>
        </p:txBody>
      </p:sp>
    </p:spTree>
    <p:extLst>
      <p:ext uri="{BB962C8B-B14F-4D97-AF65-F5344CB8AC3E}">
        <p14:creationId xmlns:p14="http://schemas.microsoft.com/office/powerpoint/2010/main" val="542855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06BF9-0A89-486F-9BA1-D6BD1B8E0A56}"/>
              </a:ext>
            </a:extLst>
          </p:cNvPr>
          <p:cNvSpPr>
            <a:spLocks noGrp="1"/>
          </p:cNvSpPr>
          <p:nvPr>
            <p:ph type="title"/>
          </p:nvPr>
        </p:nvSpPr>
        <p:spPr/>
        <p:txBody>
          <a:bodyPr/>
          <a:lstStyle/>
          <a:p>
            <a:r>
              <a:rPr lang="en-US" b="1" dirty="0"/>
              <a:t>The {ggplot2} Package</a:t>
            </a:r>
            <a:br>
              <a:rPr lang="en-US" b="1" dirty="0"/>
            </a:br>
            <a:endParaRPr lang="en-US" dirty="0"/>
          </a:p>
        </p:txBody>
      </p:sp>
      <p:sp>
        <p:nvSpPr>
          <p:cNvPr id="3" name="Content Placeholder 2">
            <a:extLst>
              <a:ext uri="{FF2B5EF4-FFF2-40B4-BE49-F238E27FC236}">
                <a16:creationId xmlns:a16="http://schemas.microsoft.com/office/drawing/2014/main" id="{EB3E1015-F1E8-44B3-98F0-E955B7DC65F5}"/>
              </a:ext>
            </a:extLst>
          </p:cNvPr>
          <p:cNvSpPr>
            <a:spLocks noGrp="1"/>
          </p:cNvSpPr>
          <p:nvPr>
            <p:ph idx="1"/>
          </p:nvPr>
        </p:nvSpPr>
        <p:spPr>
          <a:xfrm>
            <a:off x="715618" y="1620078"/>
            <a:ext cx="9334236" cy="4628321"/>
          </a:xfrm>
        </p:spPr>
        <p:txBody>
          <a:bodyPr/>
          <a:lstStyle/>
          <a:p>
            <a:r>
              <a:rPr lang="en-US" dirty="0"/>
              <a:t>ggplot2 is a system for declaratively creating graphics, based on The Grammar of Graphics. You provide the data, tell ggplot2 how to map variables to aesthetics, what graphical primitives to use, and it takes care of the details.</a:t>
            </a:r>
          </a:p>
        </p:txBody>
      </p:sp>
    </p:spTree>
    <p:extLst>
      <p:ext uri="{BB962C8B-B14F-4D97-AF65-F5344CB8AC3E}">
        <p14:creationId xmlns:p14="http://schemas.microsoft.com/office/powerpoint/2010/main" val="4140997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A7C4E-410D-412E-82A5-DD4964CCBD68}"/>
              </a:ext>
            </a:extLst>
          </p:cNvPr>
          <p:cNvSpPr>
            <a:spLocks noGrp="1"/>
          </p:cNvSpPr>
          <p:nvPr>
            <p:ph type="title"/>
          </p:nvPr>
        </p:nvSpPr>
        <p:spPr>
          <a:xfrm>
            <a:off x="645130" y="0"/>
            <a:ext cx="9404723" cy="964096"/>
          </a:xfrm>
        </p:spPr>
        <p:txBody>
          <a:bodyPr/>
          <a:lstStyle/>
          <a:p>
            <a:r>
              <a:rPr lang="en-US" dirty="0"/>
              <a:t>A </a:t>
            </a:r>
            <a:r>
              <a:rPr lang="en-US" dirty="0" err="1"/>
              <a:t>ggplot</a:t>
            </a:r>
            <a:r>
              <a:rPr lang="en-US" dirty="0"/>
              <a:t> basic elements:</a:t>
            </a:r>
          </a:p>
        </p:txBody>
      </p:sp>
      <p:sp>
        <p:nvSpPr>
          <p:cNvPr id="3" name="Content Placeholder 2">
            <a:extLst>
              <a:ext uri="{FF2B5EF4-FFF2-40B4-BE49-F238E27FC236}">
                <a16:creationId xmlns:a16="http://schemas.microsoft.com/office/drawing/2014/main" id="{E481B675-1908-4495-88E3-426A65C00FDF}"/>
              </a:ext>
            </a:extLst>
          </p:cNvPr>
          <p:cNvSpPr>
            <a:spLocks noGrp="1"/>
          </p:cNvSpPr>
          <p:nvPr>
            <p:ph idx="1"/>
          </p:nvPr>
        </p:nvSpPr>
        <p:spPr>
          <a:xfrm>
            <a:off x="645130" y="805071"/>
            <a:ext cx="11381218" cy="5804452"/>
          </a:xfrm>
        </p:spPr>
        <p:txBody>
          <a:bodyPr>
            <a:normAutofit/>
          </a:bodyPr>
          <a:lstStyle/>
          <a:p>
            <a:r>
              <a:rPr lang="en-US" dirty="0"/>
              <a:t>Data: The raw data that you want to plot. </a:t>
            </a:r>
          </a:p>
          <a:p>
            <a:r>
              <a:rPr lang="en-US" dirty="0"/>
              <a:t>Geometries </a:t>
            </a:r>
            <a:r>
              <a:rPr lang="en-US" dirty="0" err="1"/>
              <a:t>geom</a:t>
            </a:r>
            <a:r>
              <a:rPr lang="en-US" dirty="0"/>
              <a:t>_: The geometric shapes that will represent the data. </a:t>
            </a:r>
          </a:p>
          <a:p>
            <a:r>
              <a:rPr lang="en-US" dirty="0"/>
              <a:t>Aesthetics </a:t>
            </a:r>
            <a:r>
              <a:rPr lang="en-US" dirty="0" err="1"/>
              <a:t>aes</a:t>
            </a:r>
            <a:r>
              <a:rPr lang="en-US" dirty="0"/>
              <a:t>(): Aesthetics of the geometric and statistical objects, such as position, color, size, shape, and transparency Scales </a:t>
            </a:r>
          </a:p>
          <a:p>
            <a:r>
              <a:rPr lang="en-US" dirty="0"/>
              <a:t>scale_: Maps between the data and the aesthetic dimensions, such as data range to plot width or factor values to colors. </a:t>
            </a:r>
          </a:p>
          <a:p>
            <a:r>
              <a:rPr lang="en-US" dirty="0"/>
              <a:t>Statistical transformations stat_: Statistical summaries of the data, such as quantiles, fitted curves, and sums. </a:t>
            </a:r>
          </a:p>
          <a:p>
            <a:r>
              <a:rPr lang="en-US" dirty="0"/>
              <a:t>Coordinate system </a:t>
            </a:r>
            <a:r>
              <a:rPr lang="en-US" dirty="0" err="1"/>
              <a:t>coord</a:t>
            </a:r>
            <a:r>
              <a:rPr lang="en-US" dirty="0"/>
              <a:t>_: The transformation used for mapping data coordinates into the plane of the data rectangle. </a:t>
            </a:r>
          </a:p>
          <a:p>
            <a:r>
              <a:rPr lang="en-US" dirty="0"/>
              <a:t>Facets facet_: The arrangement of the data into a grid of plots. </a:t>
            </a:r>
          </a:p>
          <a:p>
            <a:r>
              <a:rPr lang="en-US" dirty="0"/>
              <a:t>Visual themes theme(): The overall visual defaults of a plot, such as background, grids, axes, default typeface, sizes and colors.</a:t>
            </a:r>
          </a:p>
        </p:txBody>
      </p:sp>
    </p:spTree>
    <p:extLst>
      <p:ext uri="{BB962C8B-B14F-4D97-AF65-F5344CB8AC3E}">
        <p14:creationId xmlns:p14="http://schemas.microsoft.com/office/powerpoint/2010/main" val="455942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BBF67-C730-427D-8012-AC532D9A33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643F873-DC37-4F57-A661-FFA430351BC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593769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168</TotalTime>
  <Words>351</Words>
  <Application>Microsoft Office PowerPoint</Application>
  <PresentationFormat>Widescreen</PresentationFormat>
  <Paragraphs>42</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Cabinet Grotesk</vt:lpstr>
      <vt:lpstr>Canicule Display</vt:lpstr>
      <vt:lpstr>Century Gothic</vt:lpstr>
      <vt:lpstr>Wingdings 3</vt:lpstr>
      <vt:lpstr>Ion</vt:lpstr>
      <vt:lpstr>ggplot2 tutorial for plotting in R </vt:lpstr>
      <vt:lpstr>PowerPoint Presentation</vt:lpstr>
      <vt:lpstr>PowerPoint Presentation</vt:lpstr>
      <vt:lpstr>Preparation </vt:lpstr>
      <vt:lpstr>The Dataset </vt:lpstr>
      <vt:lpstr>The {ggplot2} Package </vt:lpstr>
      <vt:lpstr>A ggplot basic elements: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ggplot2 tutorial for plotting in R </dc:title>
  <dc:creator>Dell</dc:creator>
  <cp:lastModifiedBy>Dell</cp:lastModifiedBy>
  <cp:revision>11</cp:revision>
  <dcterms:created xsi:type="dcterms:W3CDTF">2024-03-23T06:51:51Z</dcterms:created>
  <dcterms:modified xsi:type="dcterms:W3CDTF">2024-03-23T09:40:01Z</dcterms:modified>
</cp:coreProperties>
</file>