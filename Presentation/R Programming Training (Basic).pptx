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18"/>
  </p:notesMasterIdLst>
  <p:sldIdLst>
    <p:sldId id="256" r:id="rId2"/>
    <p:sldId id="258" r:id="rId3"/>
    <p:sldId id="259" r:id="rId4"/>
    <p:sldId id="260" r:id="rId5"/>
    <p:sldId id="261" r:id="rId6"/>
    <p:sldId id="262" r:id="rId7"/>
    <p:sldId id="263" r:id="rId8"/>
    <p:sldId id="264"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 id="307" r:id="rId51"/>
    <p:sldId id="308" r:id="rId52"/>
    <p:sldId id="309" r:id="rId53"/>
    <p:sldId id="310" r:id="rId54"/>
    <p:sldId id="311" r:id="rId55"/>
    <p:sldId id="312" r:id="rId56"/>
    <p:sldId id="313" r:id="rId57"/>
    <p:sldId id="314" r:id="rId58"/>
    <p:sldId id="315" r:id="rId59"/>
    <p:sldId id="316" r:id="rId60"/>
    <p:sldId id="317" r:id="rId61"/>
    <p:sldId id="318" r:id="rId62"/>
    <p:sldId id="319" r:id="rId63"/>
    <p:sldId id="320" r:id="rId64"/>
    <p:sldId id="321" r:id="rId65"/>
    <p:sldId id="322" r:id="rId66"/>
    <p:sldId id="323" r:id="rId67"/>
    <p:sldId id="324" r:id="rId68"/>
    <p:sldId id="325" r:id="rId69"/>
    <p:sldId id="326" r:id="rId70"/>
    <p:sldId id="327" r:id="rId71"/>
    <p:sldId id="328" r:id="rId72"/>
    <p:sldId id="329" r:id="rId73"/>
    <p:sldId id="330" r:id="rId74"/>
    <p:sldId id="331" r:id="rId75"/>
    <p:sldId id="332" r:id="rId76"/>
    <p:sldId id="333" r:id="rId77"/>
    <p:sldId id="334" r:id="rId78"/>
    <p:sldId id="335" r:id="rId79"/>
    <p:sldId id="336" r:id="rId80"/>
    <p:sldId id="337" r:id="rId81"/>
    <p:sldId id="338" r:id="rId82"/>
    <p:sldId id="339" r:id="rId83"/>
    <p:sldId id="340" r:id="rId84"/>
    <p:sldId id="373" r:id="rId85"/>
    <p:sldId id="341" r:id="rId86"/>
    <p:sldId id="342" r:id="rId87"/>
    <p:sldId id="343" r:id="rId88"/>
    <p:sldId id="344" r:id="rId89"/>
    <p:sldId id="345" r:id="rId90"/>
    <p:sldId id="346" r:id="rId91"/>
    <p:sldId id="347" r:id="rId92"/>
    <p:sldId id="348" r:id="rId93"/>
    <p:sldId id="349" r:id="rId94"/>
    <p:sldId id="350" r:id="rId95"/>
    <p:sldId id="351" r:id="rId96"/>
    <p:sldId id="352" r:id="rId97"/>
    <p:sldId id="353" r:id="rId98"/>
    <p:sldId id="354" r:id="rId99"/>
    <p:sldId id="355" r:id="rId100"/>
    <p:sldId id="356" r:id="rId101"/>
    <p:sldId id="357" r:id="rId102"/>
    <p:sldId id="358" r:id="rId103"/>
    <p:sldId id="359" r:id="rId104"/>
    <p:sldId id="360" r:id="rId105"/>
    <p:sldId id="361" r:id="rId106"/>
    <p:sldId id="362" r:id="rId107"/>
    <p:sldId id="363" r:id="rId108"/>
    <p:sldId id="364" r:id="rId109"/>
    <p:sldId id="365" r:id="rId110"/>
    <p:sldId id="366" r:id="rId111"/>
    <p:sldId id="367" r:id="rId112"/>
    <p:sldId id="368" r:id="rId113"/>
    <p:sldId id="369" r:id="rId114"/>
    <p:sldId id="370" r:id="rId115"/>
    <p:sldId id="371" r:id="rId116"/>
    <p:sldId id="372" r:id="rId117"/>
  </p:sldIdLst>
  <p:sldSz cx="12192000" cy="6858000"/>
  <p:notesSz cx="6858000" cy="9144000"/>
  <p:embeddedFontLst>
    <p:embeddedFont>
      <p:font typeface="Century Gothic" panose="020B0502020202020204" pitchFamily="34" charset="0"/>
      <p:regular r:id="rId119"/>
      <p:bold r:id="rId120"/>
      <p:italic r:id="rId121"/>
      <p:boldItalic r:id="rId1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26" roundtripDataSignature="AMtx7mgIhPNUuwrsqsOu7TU9yCBDb7oxy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073" autoAdjust="0"/>
  </p:normalViewPr>
  <p:slideViewPr>
    <p:cSldViewPr snapToGrid="0">
      <p:cViewPr varScale="1">
        <p:scale>
          <a:sx n="103" d="100"/>
          <a:sy n="103" d="100"/>
        </p:scale>
        <p:origin x="792"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8"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notesMaster" Target="notesMasters/notesMaster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9"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font" Target="fonts/font1.fntdata"/><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tableStyles" Target="tableStyle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font" Target="fonts/font2.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customschemas.google.com/relationships/presentationmetadata" Target="meta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font" Target="fonts/font3.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5" name="Google Shape;145;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7" name="Google Shape;157;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3" name="Google Shape;163;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0" name="Google Shape;170;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7" name="Google Shape;177;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90" name="Google Shape;190;p1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145ea7f5fe7_1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6" name="Google Shape;196;g145ea7f5fe7_1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145ea7f5fe7_1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9" name="Google Shape;209;g145ea7f5fe7_1_2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145ea7f5fe7_1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5" name="Google Shape;215;g145ea7f5fe7_1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145ea7f5fe7_1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1" name="Google Shape;221;g145ea7f5fe7_1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145ea7f5fe7_1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7" name="Google Shape;227;g145ea7f5fe7_1_4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145ea7f5fe7_1_5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145ea7f5fe7_1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7" name="Google Shape;237;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7" name="Google Shape;247;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56" name="Google Shape;256;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1" name="Google Shape;271;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p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7" name="Google Shape;277;p4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4" name="Google Shape;284;p4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145ea7f5fe7_1_6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 name="Google Shape;290;g145ea7f5fe7_1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145ea7f5fe7_1_7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 name="Google Shape;296;g145ea7f5fe7_1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145ea7f5fe7_1_8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145ea7f5fe7_1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9" name="Google Shape;309;p3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5" name="Google Shape;315;p3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1" name="Google Shape;321;p3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145ea7f5fe7_1_1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7" name="Google Shape;327;g145ea7f5fe7_1_16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3" name="Google Shape;333;p4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g145ea7f5fe7_1_9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0" name="Google Shape;340;g145ea7f5fe7_1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145ea7f5fe7_1_11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 name="Google Shape;346;g145ea7f5fe7_1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g145ea7f5fe7_1_12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3" name="Google Shape;353;g145ea7f5fe7_1_1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g145ea7f5fe7_1_12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9" name="Google Shape;359;g145ea7f5fe7_1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g145ea7f5fe7_1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5" name="Google Shape;365;g145ea7f5fe7_1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g145ea7f5fe7_1_14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5" name="Google Shape;375;g145ea7f5fe7_1_1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g145ea7f5fe7_1_10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3" name="Google Shape;383;g145ea7f5fe7_1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145ea7f5fe7_1_11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145ea7f5fe7_1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g145ea7f5fe7_1_1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5" name="Google Shape;395;g145ea7f5fe7_1_1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1" name="Google Shape;401;p4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g145ea7f5fe7_1_1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9" name="Google Shape;409;g145ea7f5fe7_1_1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g145ea7f5fe7_1_19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5" name="Google Shape;415;g145ea7f5fe7_1_1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p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2" name="Google Shape;422;p4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p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0" name="Google Shape;430;p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p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6" name="Google Shape;436;p4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p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6" name="Google Shape;446;p4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p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5" name="Google Shape;455;p5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p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61" name="Google Shape;461;p5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g145ea7f5fe7_1_21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0" name="Google Shape;470;g145ea7f5fe7_1_2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g145ea7f5fe7_1_23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8" name="Google Shape;478;g145ea7f5fe7_1_2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p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6" name="Google Shape;486;p5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p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2" name="Google Shape;492;p5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p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9" name="Google Shape;499;p5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3"/>
        <p:cNvGrpSpPr/>
        <p:nvPr/>
      </p:nvGrpSpPr>
      <p:grpSpPr>
        <a:xfrm>
          <a:off x="0" y="0"/>
          <a:ext cx="0" cy="0"/>
          <a:chOff x="0" y="0"/>
          <a:chExt cx="0" cy="0"/>
        </a:xfrm>
      </p:grpSpPr>
      <p:sp>
        <p:nvSpPr>
          <p:cNvPr id="504" name="Google Shape;504;p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5" name="Google Shape;505;p5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p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2" name="Google Shape;512;p6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p:cNvGrpSpPr/>
        <p:nvPr/>
      </p:nvGrpSpPr>
      <p:grpSpPr>
        <a:xfrm>
          <a:off x="0" y="0"/>
          <a:ext cx="0" cy="0"/>
          <a:chOff x="0" y="0"/>
          <a:chExt cx="0" cy="0"/>
        </a:xfrm>
      </p:grpSpPr>
      <p:sp>
        <p:nvSpPr>
          <p:cNvPr id="520" name="Google Shape;520;p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1" name="Google Shape;521;p6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p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1" name="Google Shape;531;p6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p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7" name="Google Shape;537;p6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3"/>
        <p:cNvGrpSpPr/>
        <p:nvPr/>
      </p:nvGrpSpPr>
      <p:grpSpPr>
        <a:xfrm>
          <a:off x="0" y="0"/>
          <a:ext cx="0" cy="0"/>
          <a:chOff x="0" y="0"/>
          <a:chExt cx="0" cy="0"/>
        </a:xfrm>
      </p:grpSpPr>
      <p:sp>
        <p:nvSpPr>
          <p:cNvPr id="544" name="Google Shape;544;p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5" name="Google Shape;545;p6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0"/>
        <p:cNvGrpSpPr/>
        <p:nvPr/>
      </p:nvGrpSpPr>
      <p:grpSpPr>
        <a:xfrm>
          <a:off x="0" y="0"/>
          <a:ext cx="0" cy="0"/>
          <a:chOff x="0" y="0"/>
          <a:chExt cx="0" cy="0"/>
        </a:xfrm>
      </p:grpSpPr>
      <p:sp>
        <p:nvSpPr>
          <p:cNvPr id="551" name="Google Shape;551;g145ea7f5fe7_1_25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2" name="Google Shape;552;g145ea7f5fe7_1_2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Google Shape;559;g145ea7f5fe7_1_26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0" name="Google Shape;560;g145ea7f5fe7_1_2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5"/>
        <p:cNvGrpSpPr/>
        <p:nvPr/>
      </p:nvGrpSpPr>
      <p:grpSpPr>
        <a:xfrm>
          <a:off x="0" y="0"/>
          <a:ext cx="0" cy="0"/>
          <a:chOff x="0" y="0"/>
          <a:chExt cx="0" cy="0"/>
        </a:xfrm>
      </p:grpSpPr>
      <p:sp>
        <p:nvSpPr>
          <p:cNvPr id="566" name="Google Shape;566;g145ea7f5fe7_1_2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7" name="Google Shape;567;g145ea7f5fe7_1_2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3"/>
        <p:cNvGrpSpPr/>
        <p:nvPr/>
      </p:nvGrpSpPr>
      <p:grpSpPr>
        <a:xfrm>
          <a:off x="0" y="0"/>
          <a:ext cx="0" cy="0"/>
          <a:chOff x="0" y="0"/>
          <a:chExt cx="0" cy="0"/>
        </a:xfrm>
      </p:grpSpPr>
      <p:sp>
        <p:nvSpPr>
          <p:cNvPr id="574" name="Google Shape;574;p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75" name="Google Shape;575;p6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0"/>
        <p:cNvGrpSpPr/>
        <p:nvPr/>
      </p:nvGrpSpPr>
      <p:grpSpPr>
        <a:xfrm>
          <a:off x="0" y="0"/>
          <a:ext cx="0" cy="0"/>
          <a:chOff x="0" y="0"/>
          <a:chExt cx="0" cy="0"/>
        </a:xfrm>
      </p:grpSpPr>
      <p:sp>
        <p:nvSpPr>
          <p:cNvPr id="581" name="Google Shape;581;g145ea7f5fe7_1_29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2" name="Google Shape;582;g145ea7f5fe7_1_2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7"/>
        <p:cNvGrpSpPr/>
        <p:nvPr/>
      </p:nvGrpSpPr>
      <p:grpSpPr>
        <a:xfrm>
          <a:off x="0" y="0"/>
          <a:ext cx="0" cy="0"/>
          <a:chOff x="0" y="0"/>
          <a:chExt cx="0" cy="0"/>
        </a:xfrm>
      </p:grpSpPr>
      <p:sp>
        <p:nvSpPr>
          <p:cNvPr id="588" name="Google Shape;588;p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9" name="Google Shape;589;p6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3"/>
        <p:cNvGrpSpPr/>
        <p:nvPr/>
      </p:nvGrpSpPr>
      <p:grpSpPr>
        <a:xfrm>
          <a:off x="0" y="0"/>
          <a:ext cx="0" cy="0"/>
          <a:chOff x="0" y="0"/>
          <a:chExt cx="0" cy="0"/>
        </a:xfrm>
      </p:grpSpPr>
      <p:sp>
        <p:nvSpPr>
          <p:cNvPr id="594" name="Google Shape;594;p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5" name="Google Shape;595;p7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9"/>
        <p:cNvGrpSpPr/>
        <p:nvPr/>
      </p:nvGrpSpPr>
      <p:grpSpPr>
        <a:xfrm>
          <a:off x="0" y="0"/>
          <a:ext cx="0" cy="0"/>
          <a:chOff x="0" y="0"/>
          <a:chExt cx="0" cy="0"/>
        </a:xfrm>
      </p:grpSpPr>
      <p:sp>
        <p:nvSpPr>
          <p:cNvPr id="600" name="Google Shape;600;p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01" name="Google Shape;601;p7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p:cNvGrpSpPr/>
        <p:nvPr/>
      </p:nvGrpSpPr>
      <p:grpSpPr>
        <a:xfrm>
          <a:off x="0" y="0"/>
          <a:ext cx="0" cy="0"/>
          <a:chOff x="0" y="0"/>
          <a:chExt cx="0" cy="0"/>
        </a:xfrm>
      </p:grpSpPr>
      <p:sp>
        <p:nvSpPr>
          <p:cNvPr id="606" name="Google Shape;606;p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a:t>&gt; theArray[1, , ]</a:t>
            </a:r>
            <a:endParaRPr/>
          </a:p>
          <a:p>
            <a:pPr marL="0" lvl="0" indent="0" algn="l" rtl="0">
              <a:spcBef>
                <a:spcPts val="0"/>
              </a:spcBef>
              <a:spcAft>
                <a:spcPts val="0"/>
              </a:spcAft>
              <a:buClr>
                <a:schemeClr val="dk1"/>
              </a:buClr>
              <a:buSzPts val="1100"/>
              <a:buFont typeface="Arial"/>
              <a:buNone/>
            </a:pPr>
            <a:r>
              <a:rPr lang="en-US"/>
              <a:t>[,1] [,2]</a:t>
            </a:r>
            <a:endParaRPr/>
          </a:p>
          <a:p>
            <a:pPr marL="0" lvl="0" indent="0" algn="l" rtl="0">
              <a:spcBef>
                <a:spcPts val="0"/>
              </a:spcBef>
              <a:spcAft>
                <a:spcPts val="0"/>
              </a:spcAft>
              <a:buClr>
                <a:schemeClr val="dk1"/>
              </a:buClr>
              <a:buSzPts val="1100"/>
              <a:buFont typeface="Arial"/>
              <a:buNone/>
            </a:pPr>
            <a:r>
              <a:rPr lang="en-US"/>
              <a:t>[1,] 1 7</a:t>
            </a:r>
            <a:endParaRPr/>
          </a:p>
          <a:p>
            <a:pPr marL="0" lvl="0" indent="0" algn="l" rtl="0">
              <a:spcBef>
                <a:spcPts val="0"/>
              </a:spcBef>
              <a:spcAft>
                <a:spcPts val="0"/>
              </a:spcAft>
              <a:buClr>
                <a:schemeClr val="dk1"/>
              </a:buClr>
              <a:buSzPts val="1100"/>
              <a:buFont typeface="Arial"/>
              <a:buNone/>
            </a:pPr>
            <a:r>
              <a:rPr lang="en-US"/>
              <a:t>[2,] 3 9</a:t>
            </a:r>
            <a:endParaRPr/>
          </a:p>
          <a:p>
            <a:pPr marL="0" lvl="0" indent="0" algn="l" rtl="0">
              <a:spcBef>
                <a:spcPts val="0"/>
              </a:spcBef>
              <a:spcAft>
                <a:spcPts val="0"/>
              </a:spcAft>
              <a:buClr>
                <a:schemeClr val="dk1"/>
              </a:buClr>
              <a:buSzPts val="1100"/>
              <a:buFont typeface="Arial"/>
              <a:buNone/>
            </a:pPr>
            <a:r>
              <a:rPr lang="en-US"/>
              <a:t>[3,] 5 11</a:t>
            </a:r>
            <a:endParaRPr/>
          </a:p>
          <a:p>
            <a:pPr marL="0" lvl="0" indent="0" algn="l" rtl="0">
              <a:spcBef>
                <a:spcPts val="0"/>
              </a:spcBef>
              <a:spcAft>
                <a:spcPts val="0"/>
              </a:spcAft>
              <a:buClr>
                <a:schemeClr val="dk1"/>
              </a:buClr>
              <a:buSzPts val="1100"/>
              <a:buFont typeface="Arial"/>
              <a:buNone/>
            </a:pPr>
            <a:r>
              <a:rPr lang="en-US"/>
              <a:t>&gt; theArray[1, , 1]</a:t>
            </a:r>
            <a:endParaRPr/>
          </a:p>
          <a:p>
            <a:pPr marL="0" lvl="0" indent="0" algn="l" rtl="0">
              <a:spcBef>
                <a:spcPts val="0"/>
              </a:spcBef>
              <a:spcAft>
                <a:spcPts val="0"/>
              </a:spcAft>
              <a:buClr>
                <a:schemeClr val="dk1"/>
              </a:buClr>
              <a:buSzPts val="1100"/>
              <a:buFont typeface="Arial"/>
              <a:buNone/>
            </a:pPr>
            <a:r>
              <a:rPr lang="en-US"/>
              <a:t>[1] 1 3 5</a:t>
            </a:r>
            <a:endParaRPr/>
          </a:p>
          <a:p>
            <a:pPr marL="0" lvl="0" indent="0" algn="l" rtl="0">
              <a:spcBef>
                <a:spcPts val="0"/>
              </a:spcBef>
              <a:spcAft>
                <a:spcPts val="0"/>
              </a:spcAft>
              <a:buClr>
                <a:schemeClr val="dk1"/>
              </a:buClr>
              <a:buSzPts val="1100"/>
              <a:buFont typeface="Arial"/>
              <a:buNone/>
            </a:pPr>
            <a:r>
              <a:rPr lang="en-US"/>
              <a:t>&gt; theArray[, , 1]</a:t>
            </a:r>
            <a:endParaRPr/>
          </a:p>
          <a:p>
            <a:pPr marL="0" lvl="0" indent="0" algn="l" rtl="0">
              <a:spcBef>
                <a:spcPts val="0"/>
              </a:spcBef>
              <a:spcAft>
                <a:spcPts val="0"/>
              </a:spcAft>
              <a:buClr>
                <a:schemeClr val="dk1"/>
              </a:buClr>
              <a:buSzPts val="1100"/>
              <a:buFont typeface="Arial"/>
              <a:buNone/>
            </a:pPr>
            <a:r>
              <a:rPr lang="en-US"/>
              <a:t>[,1] [,2] [,3]</a:t>
            </a:r>
            <a:endParaRPr/>
          </a:p>
          <a:p>
            <a:pPr marL="0" lvl="0" indent="0" algn="l" rtl="0">
              <a:spcBef>
                <a:spcPts val="0"/>
              </a:spcBef>
              <a:spcAft>
                <a:spcPts val="0"/>
              </a:spcAft>
              <a:buClr>
                <a:schemeClr val="dk1"/>
              </a:buClr>
              <a:buSzPts val="1100"/>
              <a:buFont typeface="Arial"/>
              <a:buNone/>
            </a:pPr>
            <a:r>
              <a:rPr lang="en-US"/>
              <a:t>[1,] 1 3 5</a:t>
            </a:r>
            <a:endParaRPr/>
          </a:p>
          <a:p>
            <a:pPr marL="0" lvl="0" indent="0" algn="l" rtl="0">
              <a:spcBef>
                <a:spcPts val="0"/>
              </a:spcBef>
              <a:spcAft>
                <a:spcPts val="0"/>
              </a:spcAft>
              <a:buNone/>
            </a:pPr>
            <a:r>
              <a:rPr lang="en-US"/>
              <a:t>[2,] 2 4 6</a:t>
            </a:r>
            <a:endParaRPr/>
          </a:p>
        </p:txBody>
      </p:sp>
      <p:sp>
        <p:nvSpPr>
          <p:cNvPr id="607" name="Google Shape;607;p7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2"/>
        <p:cNvGrpSpPr/>
        <p:nvPr/>
      </p:nvGrpSpPr>
      <p:grpSpPr>
        <a:xfrm>
          <a:off x="0" y="0"/>
          <a:ext cx="0" cy="0"/>
          <a:chOff x="0" y="0"/>
          <a:chExt cx="0" cy="0"/>
        </a:xfrm>
      </p:grpSpPr>
      <p:sp>
        <p:nvSpPr>
          <p:cNvPr id="613" name="Google Shape;613;p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14" name="Google Shape;614;p7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8"/>
        <p:cNvGrpSpPr/>
        <p:nvPr/>
      </p:nvGrpSpPr>
      <p:grpSpPr>
        <a:xfrm>
          <a:off x="0" y="0"/>
          <a:ext cx="0" cy="0"/>
          <a:chOff x="0" y="0"/>
          <a:chExt cx="0" cy="0"/>
        </a:xfrm>
      </p:grpSpPr>
      <p:sp>
        <p:nvSpPr>
          <p:cNvPr id="619" name="Google Shape;619;g145ea7f5fe7_1_3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0" name="Google Shape;620;g145ea7f5fe7_1_3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4"/>
        <p:cNvGrpSpPr/>
        <p:nvPr/>
      </p:nvGrpSpPr>
      <p:grpSpPr>
        <a:xfrm>
          <a:off x="0" y="0"/>
          <a:ext cx="0" cy="0"/>
          <a:chOff x="0" y="0"/>
          <a:chExt cx="0" cy="0"/>
        </a:xfrm>
      </p:grpSpPr>
      <p:sp>
        <p:nvSpPr>
          <p:cNvPr id="625" name="Google Shape;625;g145ea7f5fe7_1_3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6" name="Google Shape;626;g145ea7f5fe7_1_3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a:t>table(patientdata$diabetes, patientdata$status)</a:t>
            </a:r>
            <a:endParaRPr/>
          </a:p>
          <a:p>
            <a:pPr marL="0" lvl="0" indent="0" algn="l" rtl="0">
              <a:spcBef>
                <a:spcPts val="0"/>
              </a:spcBef>
              <a:spcAft>
                <a:spcPts val="0"/>
              </a:spcAft>
              <a:buClr>
                <a:schemeClr val="dk1"/>
              </a:buClr>
              <a:buSzPts val="1100"/>
              <a:buFont typeface="Arial"/>
              <a:buNone/>
            </a:pPr>
            <a:r>
              <a:rPr lang="en-US"/>
              <a:t>Excellent Improved Poor</a:t>
            </a:r>
            <a:endParaRPr/>
          </a:p>
          <a:p>
            <a:pPr marL="0" lvl="0" indent="0" algn="l" rtl="0">
              <a:spcBef>
                <a:spcPts val="0"/>
              </a:spcBef>
              <a:spcAft>
                <a:spcPts val="0"/>
              </a:spcAft>
              <a:buClr>
                <a:schemeClr val="dk1"/>
              </a:buClr>
              <a:buSzPts val="1100"/>
              <a:buFont typeface="Arial"/>
              <a:buNone/>
            </a:pPr>
            <a:r>
              <a:rPr lang="en-US"/>
              <a:t>Type1 1 0 2</a:t>
            </a:r>
            <a:endParaRPr/>
          </a:p>
          <a:p>
            <a:pPr marL="0" lvl="0" indent="0" algn="l" rtl="0">
              <a:spcBef>
                <a:spcPts val="0"/>
              </a:spcBef>
              <a:spcAft>
                <a:spcPts val="0"/>
              </a:spcAft>
              <a:buNone/>
            </a:pPr>
            <a:r>
              <a:rPr lang="en-US"/>
              <a:t>Type2 0 1 0</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1"/>
        <p:cNvGrpSpPr/>
        <p:nvPr/>
      </p:nvGrpSpPr>
      <p:grpSpPr>
        <a:xfrm>
          <a:off x="0" y="0"/>
          <a:ext cx="0" cy="0"/>
          <a:chOff x="0" y="0"/>
          <a:chExt cx="0" cy="0"/>
        </a:xfrm>
      </p:grpSpPr>
      <p:sp>
        <p:nvSpPr>
          <p:cNvPr id="632" name="Google Shape;632;g145ea7f5fe7_1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3" name="Google Shape;633;g145ea7f5fe7_1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p:cNvGrpSpPr/>
        <p:nvPr/>
      </p:nvGrpSpPr>
      <p:grpSpPr>
        <a:xfrm>
          <a:off x="0" y="0"/>
          <a:ext cx="0" cy="0"/>
          <a:chOff x="0" y="0"/>
          <a:chExt cx="0" cy="0"/>
        </a:xfrm>
      </p:grpSpPr>
      <p:sp>
        <p:nvSpPr>
          <p:cNvPr id="640" name="Google Shape;640;p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41" name="Google Shape;641;p7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5"/>
        <p:cNvGrpSpPr/>
        <p:nvPr/>
      </p:nvGrpSpPr>
      <p:grpSpPr>
        <a:xfrm>
          <a:off x="0" y="0"/>
          <a:ext cx="0" cy="0"/>
          <a:chOff x="0" y="0"/>
          <a:chExt cx="0" cy="0"/>
        </a:xfrm>
      </p:grpSpPr>
      <p:sp>
        <p:nvSpPr>
          <p:cNvPr id="646" name="Google Shape;646;g145ea7f5fe7_1_3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7" name="Google Shape;647;g145ea7f5fe7_1_3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p:cNvGrpSpPr/>
        <p:nvPr/>
      </p:nvGrpSpPr>
      <p:grpSpPr>
        <a:xfrm>
          <a:off x="0" y="0"/>
          <a:ext cx="0" cy="0"/>
          <a:chOff x="0" y="0"/>
          <a:chExt cx="0" cy="0"/>
        </a:xfrm>
      </p:grpSpPr>
      <p:sp>
        <p:nvSpPr>
          <p:cNvPr id="652" name="Google Shape;652;g145ea7f5fe7_1_3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3" name="Google Shape;653;g145ea7f5fe7_1_3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9"/>
        <p:cNvGrpSpPr/>
        <p:nvPr/>
      </p:nvGrpSpPr>
      <p:grpSpPr>
        <a:xfrm>
          <a:off x="0" y="0"/>
          <a:ext cx="0" cy="0"/>
          <a:chOff x="0" y="0"/>
          <a:chExt cx="0" cy="0"/>
        </a:xfrm>
      </p:grpSpPr>
      <p:sp>
        <p:nvSpPr>
          <p:cNvPr id="660" name="Google Shape;660;g145ea7f5fe7_1_36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1" name="Google Shape;661;g145ea7f5fe7_1_3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5"/>
        <p:cNvGrpSpPr/>
        <p:nvPr/>
      </p:nvGrpSpPr>
      <p:grpSpPr>
        <a:xfrm>
          <a:off x="0" y="0"/>
          <a:ext cx="0" cy="0"/>
          <a:chOff x="0" y="0"/>
          <a:chExt cx="0" cy="0"/>
        </a:xfrm>
      </p:grpSpPr>
      <p:sp>
        <p:nvSpPr>
          <p:cNvPr id="666" name="Google Shape;666;g145ea7f5fe7_1_37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7" name="Google Shape;667;g145ea7f5fe7_1_3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g145ea7f5fe7_1_39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1" name="Google Shape;671;g145ea7f5fe7_1_3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6"/>
        <p:cNvGrpSpPr/>
        <p:nvPr/>
      </p:nvGrpSpPr>
      <p:grpSpPr>
        <a:xfrm>
          <a:off x="0" y="0"/>
          <a:ext cx="0" cy="0"/>
          <a:chOff x="0" y="0"/>
          <a:chExt cx="0" cy="0"/>
        </a:xfrm>
      </p:grpSpPr>
      <p:sp>
        <p:nvSpPr>
          <p:cNvPr id="677" name="Google Shape;677;g145ea7f5fe7_1_39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8" name="Google Shape;678;g145ea7f5fe7_1_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3"/>
        <p:cNvGrpSpPr/>
        <p:nvPr/>
      </p:nvGrpSpPr>
      <p:grpSpPr>
        <a:xfrm>
          <a:off x="0" y="0"/>
          <a:ext cx="0" cy="0"/>
          <a:chOff x="0" y="0"/>
          <a:chExt cx="0" cy="0"/>
        </a:xfrm>
      </p:grpSpPr>
      <p:sp>
        <p:nvSpPr>
          <p:cNvPr id="684" name="Google Shape;684;g145ea7f5fe7_1_4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5" name="Google Shape;685;g145ea7f5fe7_1_4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9"/>
        <p:cNvGrpSpPr/>
        <p:nvPr/>
      </p:nvGrpSpPr>
      <p:grpSpPr>
        <a:xfrm>
          <a:off x="0" y="0"/>
          <a:ext cx="0" cy="0"/>
          <a:chOff x="0" y="0"/>
          <a:chExt cx="0" cy="0"/>
        </a:xfrm>
      </p:grpSpPr>
      <p:sp>
        <p:nvSpPr>
          <p:cNvPr id="690" name="Google Shape;690;g145ea7f5fe7_1_42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1" name="Google Shape;691;g145ea7f5fe7_1_4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145ea7f5fe7_1_4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145ea7f5fe7_1_4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
        <p:cNvGrpSpPr/>
        <p:nvPr/>
      </p:nvGrpSpPr>
      <p:grpSpPr>
        <a:xfrm>
          <a:off x="0" y="0"/>
          <a:ext cx="0" cy="0"/>
          <a:chOff x="0" y="0"/>
          <a:chExt cx="0" cy="0"/>
        </a:xfrm>
      </p:grpSpPr>
      <p:sp>
        <p:nvSpPr>
          <p:cNvPr id="705" name="Google Shape;705;g145ea7f5fe7_1_4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6" name="Google Shape;706;g145ea7f5fe7_1_4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2"/>
        <p:cNvGrpSpPr/>
        <p:nvPr/>
      </p:nvGrpSpPr>
      <p:grpSpPr>
        <a:xfrm>
          <a:off x="0" y="0"/>
          <a:ext cx="0" cy="0"/>
          <a:chOff x="0" y="0"/>
          <a:chExt cx="0" cy="0"/>
        </a:xfrm>
      </p:grpSpPr>
      <p:sp>
        <p:nvSpPr>
          <p:cNvPr id="713" name="Google Shape;713;g145ea7f5fe7_1_45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4" name="Google Shape;714;g145ea7f5fe7_1_4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8"/>
        <p:cNvGrpSpPr/>
        <p:nvPr/>
      </p:nvGrpSpPr>
      <p:grpSpPr>
        <a:xfrm>
          <a:off x="0" y="0"/>
          <a:ext cx="0" cy="0"/>
          <a:chOff x="0" y="0"/>
          <a:chExt cx="0" cy="0"/>
        </a:xfrm>
      </p:grpSpPr>
      <p:sp>
        <p:nvSpPr>
          <p:cNvPr id="719" name="Google Shape;719;g145ea7f5fe7_1_45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0" name="Google Shape;720;g145ea7f5fe7_1_4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4"/>
        <p:cNvGrpSpPr/>
        <p:nvPr/>
      </p:nvGrpSpPr>
      <p:grpSpPr>
        <a:xfrm>
          <a:off x="0" y="0"/>
          <a:ext cx="0" cy="0"/>
          <a:chOff x="0" y="0"/>
          <a:chExt cx="0" cy="0"/>
        </a:xfrm>
      </p:grpSpPr>
      <p:sp>
        <p:nvSpPr>
          <p:cNvPr id="725" name="Google Shape;725;g145ea7f5fe7_1_46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6" name="Google Shape;726;g145ea7f5fe7_1_4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1"/>
        <p:cNvGrpSpPr/>
        <p:nvPr/>
      </p:nvGrpSpPr>
      <p:grpSpPr>
        <a:xfrm>
          <a:off x="0" y="0"/>
          <a:ext cx="0" cy="0"/>
          <a:chOff x="0" y="0"/>
          <a:chExt cx="0" cy="0"/>
        </a:xfrm>
      </p:grpSpPr>
      <p:sp>
        <p:nvSpPr>
          <p:cNvPr id="732" name="Google Shape;732;g145ea7f5fe7_1_47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3" name="Google Shape;733;g145ea7f5fe7_1_4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5"/>
        <p:cNvGrpSpPr/>
        <p:nvPr/>
      </p:nvGrpSpPr>
      <p:grpSpPr>
        <a:xfrm>
          <a:off x="0" y="0"/>
          <a:ext cx="0" cy="0"/>
          <a:chOff x="0" y="0"/>
          <a:chExt cx="0" cy="0"/>
        </a:xfrm>
      </p:grpSpPr>
      <p:sp>
        <p:nvSpPr>
          <p:cNvPr id="736" name="Google Shape;736;p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7" name="Google Shape;737;p7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1"/>
        <p:cNvGrpSpPr/>
        <p:nvPr/>
      </p:nvGrpSpPr>
      <p:grpSpPr>
        <a:xfrm>
          <a:off x="0" y="0"/>
          <a:ext cx="0" cy="0"/>
          <a:chOff x="0" y="0"/>
          <a:chExt cx="0" cy="0"/>
        </a:xfrm>
      </p:grpSpPr>
      <p:sp>
        <p:nvSpPr>
          <p:cNvPr id="742" name="Google Shape;742;p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43" name="Google Shape;743;p7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9"/>
        <p:cNvGrpSpPr/>
        <p:nvPr/>
      </p:nvGrpSpPr>
      <p:grpSpPr>
        <a:xfrm>
          <a:off x="0" y="0"/>
          <a:ext cx="0" cy="0"/>
          <a:chOff x="0" y="0"/>
          <a:chExt cx="0" cy="0"/>
        </a:xfrm>
      </p:grpSpPr>
      <p:sp>
        <p:nvSpPr>
          <p:cNvPr id="750" name="Google Shape;750;p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51" name="Google Shape;751;p8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8"/>
        <p:cNvGrpSpPr/>
        <p:nvPr/>
      </p:nvGrpSpPr>
      <p:grpSpPr>
        <a:xfrm>
          <a:off x="0" y="0"/>
          <a:ext cx="0" cy="0"/>
          <a:chOff x="0" y="0"/>
          <a:chExt cx="0" cy="0"/>
        </a:xfrm>
      </p:grpSpPr>
      <p:sp>
        <p:nvSpPr>
          <p:cNvPr id="759" name="Google Shape;759;p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0" name="Google Shape;760;p8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7"/>
        <p:cNvGrpSpPr/>
        <p:nvPr/>
      </p:nvGrpSpPr>
      <p:grpSpPr>
        <a:xfrm>
          <a:off x="0" y="0"/>
          <a:ext cx="0" cy="0"/>
          <a:chOff x="0" y="0"/>
          <a:chExt cx="0" cy="0"/>
        </a:xfrm>
      </p:grpSpPr>
      <p:sp>
        <p:nvSpPr>
          <p:cNvPr id="768" name="Google Shape;768;p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9" name="Google Shape;769;p8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4"/>
        <p:cNvGrpSpPr/>
        <p:nvPr/>
      </p:nvGrpSpPr>
      <p:grpSpPr>
        <a:xfrm>
          <a:off x="0" y="0"/>
          <a:ext cx="0" cy="0"/>
          <a:chOff x="0" y="0"/>
          <a:chExt cx="0" cy="0"/>
        </a:xfrm>
      </p:grpSpPr>
      <p:sp>
        <p:nvSpPr>
          <p:cNvPr id="775" name="Google Shape;775;p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76" name="Google Shape;776;p8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1"/>
        <p:cNvGrpSpPr/>
        <p:nvPr/>
      </p:nvGrpSpPr>
      <p:grpSpPr>
        <a:xfrm>
          <a:off x="0" y="0"/>
          <a:ext cx="0" cy="0"/>
          <a:chOff x="0" y="0"/>
          <a:chExt cx="0" cy="0"/>
        </a:xfrm>
      </p:grpSpPr>
      <p:sp>
        <p:nvSpPr>
          <p:cNvPr id="782" name="Google Shape;782;p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83" name="Google Shape;783;p8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p:cNvGrpSpPr/>
        <p:nvPr/>
      </p:nvGrpSpPr>
      <p:grpSpPr>
        <a:xfrm>
          <a:off x="0" y="0"/>
          <a:ext cx="0" cy="0"/>
          <a:chOff x="0" y="0"/>
          <a:chExt cx="0" cy="0"/>
        </a:xfrm>
      </p:grpSpPr>
      <p:sp>
        <p:nvSpPr>
          <p:cNvPr id="789" name="Google Shape;789;p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90" name="Google Shape;790;p8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5"/>
        <p:cNvGrpSpPr/>
        <p:nvPr/>
      </p:nvGrpSpPr>
      <p:grpSpPr>
        <a:xfrm>
          <a:off x="0" y="0"/>
          <a:ext cx="0" cy="0"/>
          <a:chOff x="0" y="0"/>
          <a:chExt cx="0" cy="0"/>
        </a:xfrm>
      </p:grpSpPr>
      <p:sp>
        <p:nvSpPr>
          <p:cNvPr id="796" name="Google Shape;796;p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97" name="Google Shape;797;p8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6"/>
        <p:cNvGrpSpPr/>
        <p:nvPr/>
      </p:nvGrpSpPr>
      <p:grpSpPr>
        <a:xfrm>
          <a:off x="0" y="0"/>
          <a:ext cx="0" cy="0"/>
          <a:chOff x="0" y="0"/>
          <a:chExt cx="0" cy="0"/>
        </a:xfrm>
      </p:grpSpPr>
      <p:sp>
        <p:nvSpPr>
          <p:cNvPr id="807" name="Google Shape;807;p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08" name="Google Shape;808;p8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2"/>
        <p:cNvGrpSpPr/>
        <p:nvPr/>
      </p:nvGrpSpPr>
      <p:grpSpPr>
        <a:xfrm>
          <a:off x="0" y="0"/>
          <a:ext cx="0" cy="0"/>
          <a:chOff x="0" y="0"/>
          <a:chExt cx="0" cy="0"/>
        </a:xfrm>
      </p:grpSpPr>
      <p:sp>
        <p:nvSpPr>
          <p:cNvPr id="813" name="Google Shape;813;p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14" name="Google Shape;814;p8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9"/>
        <p:cNvGrpSpPr/>
        <p:nvPr/>
      </p:nvGrpSpPr>
      <p:grpSpPr>
        <a:xfrm>
          <a:off x="0" y="0"/>
          <a:ext cx="0" cy="0"/>
          <a:chOff x="0" y="0"/>
          <a:chExt cx="0" cy="0"/>
        </a:xfrm>
      </p:grpSpPr>
      <p:sp>
        <p:nvSpPr>
          <p:cNvPr id="820" name="Google Shape;820;p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1" name="Google Shape;821;p8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6"/>
        <p:cNvGrpSpPr/>
        <p:nvPr/>
      </p:nvGrpSpPr>
      <p:grpSpPr>
        <a:xfrm>
          <a:off x="0" y="0"/>
          <a:ext cx="0" cy="0"/>
          <a:chOff x="0" y="0"/>
          <a:chExt cx="0" cy="0"/>
        </a:xfrm>
      </p:grpSpPr>
      <p:sp>
        <p:nvSpPr>
          <p:cNvPr id="827" name="Google Shape;827;p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8" name="Google Shape;828;p9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1"/>
        <p:cNvGrpSpPr/>
        <p:nvPr/>
      </p:nvGrpSpPr>
      <p:grpSpPr>
        <a:xfrm>
          <a:off x="0" y="0"/>
          <a:ext cx="0" cy="0"/>
          <a:chOff x="0" y="0"/>
          <a:chExt cx="0" cy="0"/>
        </a:xfrm>
      </p:grpSpPr>
      <p:sp>
        <p:nvSpPr>
          <p:cNvPr id="832" name="Google Shape;832;p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33" name="Google Shape;833;p9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8"/>
        <p:cNvGrpSpPr/>
        <p:nvPr/>
      </p:nvGrpSpPr>
      <p:grpSpPr>
        <a:xfrm>
          <a:off x="0" y="0"/>
          <a:ext cx="0" cy="0"/>
          <a:chOff x="0" y="0"/>
          <a:chExt cx="0" cy="0"/>
        </a:xfrm>
      </p:grpSpPr>
      <p:sp>
        <p:nvSpPr>
          <p:cNvPr id="839" name="Google Shape;839;p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40" name="Google Shape;840;p9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5"/>
        <p:cNvGrpSpPr/>
        <p:nvPr/>
      </p:nvGrpSpPr>
      <p:grpSpPr>
        <a:xfrm>
          <a:off x="0" y="0"/>
          <a:ext cx="0" cy="0"/>
          <a:chOff x="0" y="0"/>
          <a:chExt cx="0" cy="0"/>
        </a:xfrm>
      </p:grpSpPr>
      <p:sp>
        <p:nvSpPr>
          <p:cNvPr id="846" name="Google Shape;846;p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47" name="Google Shape;847;p9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1"/>
        <p:cNvGrpSpPr/>
        <p:nvPr/>
      </p:nvGrpSpPr>
      <p:grpSpPr>
        <a:xfrm>
          <a:off x="0" y="0"/>
          <a:ext cx="0" cy="0"/>
          <a:chOff x="0" y="0"/>
          <a:chExt cx="0" cy="0"/>
        </a:xfrm>
      </p:grpSpPr>
      <p:sp>
        <p:nvSpPr>
          <p:cNvPr id="852" name="Google Shape;852;p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3" name="Google Shape;853;p9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7"/>
        <p:cNvGrpSpPr/>
        <p:nvPr/>
      </p:nvGrpSpPr>
      <p:grpSpPr>
        <a:xfrm>
          <a:off x="0" y="0"/>
          <a:ext cx="0" cy="0"/>
          <a:chOff x="0" y="0"/>
          <a:chExt cx="0" cy="0"/>
        </a:xfrm>
      </p:grpSpPr>
      <p:sp>
        <p:nvSpPr>
          <p:cNvPr id="858" name="Google Shape;858;p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9" name="Google Shape;859;p9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3"/>
        <p:cNvGrpSpPr/>
        <p:nvPr/>
      </p:nvGrpSpPr>
      <p:grpSpPr>
        <a:xfrm>
          <a:off x="0" y="0"/>
          <a:ext cx="0" cy="0"/>
          <a:chOff x="0" y="0"/>
          <a:chExt cx="0" cy="0"/>
        </a:xfrm>
      </p:grpSpPr>
      <p:sp>
        <p:nvSpPr>
          <p:cNvPr id="864" name="Google Shape;864;p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5" name="Google Shape;865;p9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p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71" name="Google Shape;871;p9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6"/>
        <p:cNvGrpSpPr/>
        <p:nvPr/>
      </p:nvGrpSpPr>
      <p:grpSpPr>
        <a:xfrm>
          <a:off x="0" y="0"/>
          <a:ext cx="0" cy="0"/>
          <a:chOff x="0" y="0"/>
          <a:chExt cx="0" cy="0"/>
        </a:xfrm>
      </p:grpSpPr>
      <p:sp>
        <p:nvSpPr>
          <p:cNvPr id="877" name="Google Shape;877;p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78" name="Google Shape;878;p9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2"/>
        <p:cNvGrpSpPr/>
        <p:nvPr/>
      </p:nvGrpSpPr>
      <p:grpSpPr>
        <a:xfrm>
          <a:off x="0" y="0"/>
          <a:ext cx="0" cy="0"/>
          <a:chOff x="0" y="0"/>
          <a:chExt cx="0" cy="0"/>
        </a:xfrm>
      </p:grpSpPr>
      <p:sp>
        <p:nvSpPr>
          <p:cNvPr id="883" name="Google Shape;883;p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4" name="Google Shape;884;p9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9"/>
        <p:cNvGrpSpPr/>
        <p:nvPr/>
      </p:nvGrpSpPr>
      <p:grpSpPr>
        <a:xfrm>
          <a:off x="0" y="0"/>
          <a:ext cx="0" cy="0"/>
          <a:chOff x="0" y="0"/>
          <a:chExt cx="0" cy="0"/>
        </a:xfrm>
      </p:grpSpPr>
      <p:sp>
        <p:nvSpPr>
          <p:cNvPr id="890" name="Google Shape;890;p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1" name="Google Shape;891;p10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5"/>
        <p:cNvGrpSpPr/>
        <p:nvPr/>
      </p:nvGrpSpPr>
      <p:grpSpPr>
        <a:xfrm>
          <a:off x="0" y="0"/>
          <a:ext cx="0" cy="0"/>
          <a:chOff x="0" y="0"/>
          <a:chExt cx="0" cy="0"/>
        </a:xfrm>
      </p:grpSpPr>
      <p:sp>
        <p:nvSpPr>
          <p:cNvPr id="896" name="Google Shape;896;p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7" name="Google Shape;897;p10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1"/>
        <p:cNvGrpSpPr/>
        <p:nvPr/>
      </p:nvGrpSpPr>
      <p:grpSpPr>
        <a:xfrm>
          <a:off x="0" y="0"/>
          <a:ext cx="0" cy="0"/>
          <a:chOff x="0" y="0"/>
          <a:chExt cx="0" cy="0"/>
        </a:xfrm>
      </p:grpSpPr>
      <p:sp>
        <p:nvSpPr>
          <p:cNvPr id="902" name="Google Shape;902;p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3" name="Google Shape;903;p10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7"/>
        <p:cNvGrpSpPr/>
        <p:nvPr/>
      </p:nvGrpSpPr>
      <p:grpSpPr>
        <a:xfrm>
          <a:off x="0" y="0"/>
          <a:ext cx="0" cy="0"/>
          <a:chOff x="0" y="0"/>
          <a:chExt cx="0" cy="0"/>
        </a:xfrm>
      </p:grpSpPr>
      <p:sp>
        <p:nvSpPr>
          <p:cNvPr id="908" name="Google Shape;908;p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9" name="Google Shape;909;p10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3"/>
        <p:cNvGrpSpPr/>
        <p:nvPr/>
      </p:nvGrpSpPr>
      <p:grpSpPr>
        <a:xfrm>
          <a:off x="0" y="0"/>
          <a:ext cx="0" cy="0"/>
          <a:chOff x="0" y="0"/>
          <a:chExt cx="0" cy="0"/>
        </a:xfrm>
      </p:grpSpPr>
      <p:sp>
        <p:nvSpPr>
          <p:cNvPr id="914" name="Google Shape;914;p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5" name="Google Shape;915;p10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9"/>
        <p:cNvGrpSpPr/>
        <p:nvPr/>
      </p:nvGrpSpPr>
      <p:grpSpPr>
        <a:xfrm>
          <a:off x="0" y="0"/>
          <a:ext cx="0" cy="0"/>
          <a:chOff x="0" y="0"/>
          <a:chExt cx="0" cy="0"/>
        </a:xfrm>
      </p:grpSpPr>
      <p:sp>
        <p:nvSpPr>
          <p:cNvPr id="920" name="Google Shape;920;p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1" name="Google Shape;921;p10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7"/>
        <p:cNvGrpSpPr/>
        <p:nvPr/>
      </p:nvGrpSpPr>
      <p:grpSpPr>
        <a:xfrm>
          <a:off x="0" y="0"/>
          <a:ext cx="0" cy="0"/>
          <a:chOff x="0" y="0"/>
          <a:chExt cx="0" cy="0"/>
        </a:xfrm>
      </p:grpSpPr>
      <p:sp>
        <p:nvSpPr>
          <p:cNvPr id="928" name="Google Shape;928;p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9" name="Google Shape;929;p10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3"/>
        <p:cNvGrpSpPr/>
        <p:nvPr/>
      </p:nvGrpSpPr>
      <p:grpSpPr>
        <a:xfrm>
          <a:off x="0" y="0"/>
          <a:ext cx="0" cy="0"/>
          <a:chOff x="0" y="0"/>
          <a:chExt cx="0" cy="0"/>
        </a:xfrm>
      </p:grpSpPr>
      <p:sp>
        <p:nvSpPr>
          <p:cNvPr id="934" name="Google Shape;934;p1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35" name="Google Shape;935;p10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0"/>
        <p:cNvGrpSpPr/>
        <p:nvPr/>
      </p:nvGrpSpPr>
      <p:grpSpPr>
        <a:xfrm>
          <a:off x="0" y="0"/>
          <a:ext cx="0" cy="0"/>
          <a:chOff x="0" y="0"/>
          <a:chExt cx="0" cy="0"/>
        </a:xfrm>
      </p:grpSpPr>
      <p:sp>
        <p:nvSpPr>
          <p:cNvPr id="941" name="Google Shape;941;p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2" name="Google Shape;942;p10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110"/>
          <p:cNvSpPr txBox="1">
            <a:spLocks noGrp="1"/>
          </p:cNvSpPr>
          <p:nvPr>
            <p:ph type="ctrTitle"/>
          </p:nvPr>
        </p:nvSpPr>
        <p:spPr>
          <a:xfrm>
            <a:off x="1154955" y="1447800"/>
            <a:ext cx="8825658" cy="332958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lt2"/>
              </a:buClr>
              <a:buSzPts val="7200"/>
              <a:buFont typeface="Century Gothic"/>
              <a:buNone/>
              <a:defRPr sz="7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10"/>
          <p:cNvSpPr txBox="1">
            <a:spLocks noGrp="1"/>
          </p:cNvSpPr>
          <p:nvPr>
            <p:ph type="subTitle" idx="1"/>
          </p:nvPr>
        </p:nvSpPr>
        <p:spPr>
          <a:xfrm>
            <a:off x="1154955" y="4777380"/>
            <a:ext cx="8825658" cy="861420"/>
          </a:xfrm>
          <a:prstGeom prst="rect">
            <a:avLst/>
          </a:prstGeom>
          <a:noFill/>
          <a:ln>
            <a:noFill/>
          </a:ln>
        </p:spPr>
        <p:txBody>
          <a:bodyPr spcFirstLastPara="1" wrap="square" lIns="91425" tIns="45700" rIns="91425" bIns="45700" anchor="t" anchorCtr="0">
            <a:normAutofit/>
          </a:bodyPr>
          <a:lstStyle>
            <a:lvl1pPr lvl="0" algn="l">
              <a:spcBef>
                <a:spcPts val="1000"/>
              </a:spcBef>
              <a:spcAft>
                <a:spcPts val="0"/>
              </a:spcAft>
              <a:buSzPts val="1600"/>
              <a:buNone/>
              <a:defRPr cap="none">
                <a:solidFill>
                  <a:srgbClr val="86D1D8"/>
                </a:solidFill>
              </a:defRPr>
            </a:lvl1pPr>
            <a:lvl2pPr lvl="1" algn="ctr">
              <a:spcBef>
                <a:spcPts val="1000"/>
              </a:spcBef>
              <a:spcAft>
                <a:spcPts val="0"/>
              </a:spcAft>
              <a:buSzPts val="1440"/>
              <a:buNone/>
              <a:defRPr>
                <a:solidFill>
                  <a:schemeClr val="lt1"/>
                </a:solidFill>
              </a:defRPr>
            </a:lvl2pPr>
            <a:lvl3pPr lvl="2" algn="ctr">
              <a:spcBef>
                <a:spcPts val="1000"/>
              </a:spcBef>
              <a:spcAft>
                <a:spcPts val="0"/>
              </a:spcAft>
              <a:buSzPts val="1280"/>
              <a:buNone/>
              <a:defRPr>
                <a:solidFill>
                  <a:schemeClr val="lt1"/>
                </a:solidFill>
              </a:defRPr>
            </a:lvl3pPr>
            <a:lvl4pPr lvl="3" algn="ctr">
              <a:spcBef>
                <a:spcPts val="1000"/>
              </a:spcBef>
              <a:spcAft>
                <a:spcPts val="0"/>
              </a:spcAft>
              <a:buSzPts val="1120"/>
              <a:buNone/>
              <a:defRPr>
                <a:solidFill>
                  <a:schemeClr val="lt1"/>
                </a:solidFill>
              </a:defRPr>
            </a:lvl4pPr>
            <a:lvl5pPr lvl="4" algn="ctr">
              <a:spcBef>
                <a:spcPts val="1000"/>
              </a:spcBef>
              <a:spcAft>
                <a:spcPts val="0"/>
              </a:spcAft>
              <a:buSzPts val="1120"/>
              <a:buNone/>
              <a:defRPr>
                <a:solidFill>
                  <a:schemeClr val="lt1"/>
                </a:solidFill>
              </a:defRPr>
            </a:lvl5pPr>
            <a:lvl6pPr lvl="5" algn="ctr">
              <a:spcBef>
                <a:spcPts val="1000"/>
              </a:spcBef>
              <a:spcAft>
                <a:spcPts val="0"/>
              </a:spcAft>
              <a:buSzPts val="1120"/>
              <a:buNone/>
              <a:defRPr>
                <a:solidFill>
                  <a:schemeClr val="lt1"/>
                </a:solidFill>
              </a:defRPr>
            </a:lvl6pPr>
            <a:lvl7pPr lvl="6" algn="ctr">
              <a:spcBef>
                <a:spcPts val="1000"/>
              </a:spcBef>
              <a:spcAft>
                <a:spcPts val="0"/>
              </a:spcAft>
              <a:buSzPts val="1120"/>
              <a:buNone/>
              <a:defRPr>
                <a:solidFill>
                  <a:schemeClr val="lt1"/>
                </a:solidFill>
              </a:defRPr>
            </a:lvl7pPr>
            <a:lvl8pPr lvl="7" algn="ctr">
              <a:spcBef>
                <a:spcPts val="1000"/>
              </a:spcBef>
              <a:spcAft>
                <a:spcPts val="0"/>
              </a:spcAft>
              <a:buSzPts val="1120"/>
              <a:buNone/>
              <a:defRPr>
                <a:solidFill>
                  <a:schemeClr val="lt1"/>
                </a:solidFill>
              </a:defRPr>
            </a:lvl8pPr>
            <a:lvl9pPr lvl="8" algn="ctr">
              <a:spcBef>
                <a:spcPts val="1000"/>
              </a:spcBef>
              <a:spcAft>
                <a:spcPts val="0"/>
              </a:spcAft>
              <a:buSzPts val="1120"/>
              <a:buNone/>
              <a:defRPr>
                <a:solidFill>
                  <a:schemeClr val="lt1"/>
                </a:solidFill>
              </a:defRPr>
            </a:lvl9pPr>
          </a:lstStyle>
          <a:p>
            <a:endParaRPr/>
          </a:p>
        </p:txBody>
      </p:sp>
      <p:sp>
        <p:nvSpPr>
          <p:cNvPr id="20" name="Google Shape;20;p110"/>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10"/>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10"/>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111"/>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11"/>
          <p:cNvSpPr txBox="1">
            <a:spLocks noGrp="1"/>
          </p:cNvSpPr>
          <p:nvPr>
            <p:ph type="body" idx="1"/>
          </p:nvPr>
        </p:nvSpPr>
        <p:spPr>
          <a:xfrm>
            <a:off x="1103312" y="2052918"/>
            <a:ext cx="8946541" cy="4195481"/>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26" name="Google Shape;26;p111"/>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111"/>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111"/>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112"/>
          <p:cNvSpPr txBox="1">
            <a:spLocks noGrp="1"/>
          </p:cNvSpPr>
          <p:nvPr>
            <p:ph type="title"/>
          </p:nvPr>
        </p:nvSpPr>
        <p:spPr>
          <a:xfrm>
            <a:off x="1154956" y="2861733"/>
            <a:ext cx="8825657" cy="1915647"/>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lt2"/>
              </a:buClr>
              <a:buSzPts val="4000"/>
              <a:buFont typeface="Century Gothic"/>
              <a:buNone/>
              <a:defRPr sz="40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12"/>
          <p:cNvSpPr txBox="1">
            <a:spLocks noGrp="1"/>
          </p:cNvSpPr>
          <p:nvPr>
            <p:ph type="body" idx="1"/>
          </p:nvPr>
        </p:nvSpPr>
        <p:spPr>
          <a:xfrm>
            <a:off x="1154955" y="4777381"/>
            <a:ext cx="8825658" cy="8604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600"/>
              <a:buNone/>
              <a:defRPr sz="2000" cap="none">
                <a:solidFill>
                  <a:srgbClr val="86D1D8"/>
                </a:solidFill>
              </a:defRPr>
            </a:lvl1pPr>
            <a:lvl2pPr marL="914400" lvl="1" indent="-228600" algn="l">
              <a:spcBef>
                <a:spcPts val="1000"/>
              </a:spcBef>
              <a:spcAft>
                <a:spcPts val="0"/>
              </a:spcAft>
              <a:buSzPts val="1440"/>
              <a:buNone/>
              <a:defRPr sz="1800">
                <a:solidFill>
                  <a:schemeClr val="lt1"/>
                </a:solidFill>
              </a:defRPr>
            </a:lvl2pPr>
            <a:lvl3pPr marL="1371600" lvl="2" indent="-228600" algn="l">
              <a:spcBef>
                <a:spcPts val="1000"/>
              </a:spcBef>
              <a:spcAft>
                <a:spcPts val="0"/>
              </a:spcAft>
              <a:buSzPts val="1280"/>
              <a:buNone/>
              <a:defRPr sz="1600">
                <a:solidFill>
                  <a:schemeClr val="lt1"/>
                </a:solidFill>
              </a:defRPr>
            </a:lvl3pPr>
            <a:lvl4pPr marL="1828800" lvl="3" indent="-228600" algn="l">
              <a:spcBef>
                <a:spcPts val="1000"/>
              </a:spcBef>
              <a:spcAft>
                <a:spcPts val="0"/>
              </a:spcAft>
              <a:buSzPts val="1120"/>
              <a:buNone/>
              <a:defRPr sz="1400">
                <a:solidFill>
                  <a:schemeClr val="lt1"/>
                </a:solidFill>
              </a:defRPr>
            </a:lvl4pPr>
            <a:lvl5pPr marL="2286000" lvl="4" indent="-228600" algn="l">
              <a:spcBef>
                <a:spcPts val="1000"/>
              </a:spcBef>
              <a:spcAft>
                <a:spcPts val="0"/>
              </a:spcAft>
              <a:buSzPts val="1120"/>
              <a:buNone/>
              <a:defRPr sz="1400">
                <a:solidFill>
                  <a:schemeClr val="lt1"/>
                </a:solidFill>
              </a:defRPr>
            </a:lvl5pPr>
            <a:lvl6pPr marL="2743200" lvl="5" indent="-228600" algn="l">
              <a:spcBef>
                <a:spcPts val="1000"/>
              </a:spcBef>
              <a:spcAft>
                <a:spcPts val="0"/>
              </a:spcAft>
              <a:buSzPts val="1120"/>
              <a:buNone/>
              <a:defRPr sz="1400">
                <a:solidFill>
                  <a:schemeClr val="lt1"/>
                </a:solidFill>
              </a:defRPr>
            </a:lvl6pPr>
            <a:lvl7pPr marL="3200400" lvl="6" indent="-228600" algn="l">
              <a:spcBef>
                <a:spcPts val="1000"/>
              </a:spcBef>
              <a:spcAft>
                <a:spcPts val="0"/>
              </a:spcAft>
              <a:buSzPts val="1120"/>
              <a:buNone/>
              <a:defRPr sz="1400">
                <a:solidFill>
                  <a:schemeClr val="lt1"/>
                </a:solidFill>
              </a:defRPr>
            </a:lvl7pPr>
            <a:lvl8pPr marL="3657600" lvl="7" indent="-228600" algn="l">
              <a:spcBef>
                <a:spcPts val="1000"/>
              </a:spcBef>
              <a:spcAft>
                <a:spcPts val="0"/>
              </a:spcAft>
              <a:buSzPts val="1120"/>
              <a:buNone/>
              <a:defRPr sz="1400">
                <a:solidFill>
                  <a:schemeClr val="lt1"/>
                </a:solidFill>
              </a:defRPr>
            </a:lvl8pPr>
            <a:lvl9pPr marL="4114800" lvl="8" indent="-228600" algn="l">
              <a:spcBef>
                <a:spcPts val="1000"/>
              </a:spcBef>
              <a:spcAft>
                <a:spcPts val="0"/>
              </a:spcAft>
              <a:buSzPts val="1120"/>
              <a:buNone/>
              <a:defRPr sz="1400">
                <a:solidFill>
                  <a:schemeClr val="lt1"/>
                </a:solidFill>
              </a:defRPr>
            </a:lvl9pPr>
          </a:lstStyle>
          <a:p>
            <a:endParaRPr/>
          </a:p>
        </p:txBody>
      </p:sp>
      <p:sp>
        <p:nvSpPr>
          <p:cNvPr id="32" name="Google Shape;32;p112"/>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112"/>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112"/>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113"/>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113"/>
          <p:cNvSpPr txBox="1">
            <a:spLocks noGrp="1"/>
          </p:cNvSpPr>
          <p:nvPr>
            <p:ph type="body" idx="1"/>
          </p:nvPr>
        </p:nvSpPr>
        <p:spPr>
          <a:xfrm>
            <a:off x="1103312" y="2060575"/>
            <a:ext cx="4396339" cy="4195763"/>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sz="1800"/>
            </a:lvl1pPr>
            <a:lvl2pPr marL="914400" lvl="1" indent="-309880" algn="l">
              <a:spcBef>
                <a:spcPts val="1000"/>
              </a:spcBef>
              <a:spcAft>
                <a:spcPts val="0"/>
              </a:spcAft>
              <a:buSzPts val="1280"/>
              <a:buChar char="►"/>
              <a:defRPr sz="1600"/>
            </a:lvl2pPr>
            <a:lvl3pPr marL="1371600" lvl="2" indent="-299719" algn="l">
              <a:spcBef>
                <a:spcPts val="1000"/>
              </a:spcBef>
              <a:spcAft>
                <a:spcPts val="0"/>
              </a:spcAft>
              <a:buSzPts val="1120"/>
              <a:buChar char="►"/>
              <a:defRPr sz="1400"/>
            </a:lvl3pPr>
            <a:lvl4pPr marL="1828800" lvl="3" indent="-289560" algn="l">
              <a:spcBef>
                <a:spcPts val="1000"/>
              </a:spcBef>
              <a:spcAft>
                <a:spcPts val="0"/>
              </a:spcAft>
              <a:buSzPts val="960"/>
              <a:buChar char="►"/>
              <a:defRPr sz="1200"/>
            </a:lvl4pPr>
            <a:lvl5pPr marL="2286000" lvl="4" indent="-289560" algn="l">
              <a:spcBef>
                <a:spcPts val="1000"/>
              </a:spcBef>
              <a:spcAft>
                <a:spcPts val="0"/>
              </a:spcAft>
              <a:buSzPts val="960"/>
              <a:buChar char="►"/>
              <a:defRPr sz="1200"/>
            </a:lvl5pPr>
            <a:lvl6pPr marL="2743200" lvl="5" indent="-289560" algn="l">
              <a:spcBef>
                <a:spcPts val="1000"/>
              </a:spcBef>
              <a:spcAft>
                <a:spcPts val="0"/>
              </a:spcAft>
              <a:buSzPts val="960"/>
              <a:buChar char="►"/>
              <a:defRPr sz="1200"/>
            </a:lvl6pPr>
            <a:lvl7pPr marL="3200400" lvl="6" indent="-289560" algn="l">
              <a:spcBef>
                <a:spcPts val="1000"/>
              </a:spcBef>
              <a:spcAft>
                <a:spcPts val="0"/>
              </a:spcAft>
              <a:buSzPts val="960"/>
              <a:buChar char="►"/>
              <a:defRPr sz="1200"/>
            </a:lvl7pPr>
            <a:lvl8pPr marL="3657600" lvl="7" indent="-289559" algn="l">
              <a:spcBef>
                <a:spcPts val="1000"/>
              </a:spcBef>
              <a:spcAft>
                <a:spcPts val="0"/>
              </a:spcAft>
              <a:buSzPts val="960"/>
              <a:buChar char="►"/>
              <a:defRPr sz="1200"/>
            </a:lvl8pPr>
            <a:lvl9pPr marL="4114800" lvl="8" indent="-289559" algn="l">
              <a:spcBef>
                <a:spcPts val="1000"/>
              </a:spcBef>
              <a:spcAft>
                <a:spcPts val="0"/>
              </a:spcAft>
              <a:buSzPts val="960"/>
              <a:buChar char="►"/>
              <a:defRPr sz="1200"/>
            </a:lvl9pPr>
          </a:lstStyle>
          <a:p>
            <a:endParaRPr/>
          </a:p>
        </p:txBody>
      </p:sp>
      <p:sp>
        <p:nvSpPr>
          <p:cNvPr id="38" name="Google Shape;38;p113"/>
          <p:cNvSpPr txBox="1">
            <a:spLocks noGrp="1"/>
          </p:cNvSpPr>
          <p:nvPr>
            <p:ph type="body" idx="2"/>
          </p:nvPr>
        </p:nvSpPr>
        <p:spPr>
          <a:xfrm>
            <a:off x="5654493" y="2056092"/>
            <a:ext cx="4396341" cy="4200245"/>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sz="1800"/>
            </a:lvl1pPr>
            <a:lvl2pPr marL="914400" lvl="1" indent="-309880" algn="l">
              <a:spcBef>
                <a:spcPts val="1000"/>
              </a:spcBef>
              <a:spcAft>
                <a:spcPts val="0"/>
              </a:spcAft>
              <a:buSzPts val="1280"/>
              <a:buChar char="►"/>
              <a:defRPr sz="1600"/>
            </a:lvl2pPr>
            <a:lvl3pPr marL="1371600" lvl="2" indent="-299719" algn="l">
              <a:spcBef>
                <a:spcPts val="1000"/>
              </a:spcBef>
              <a:spcAft>
                <a:spcPts val="0"/>
              </a:spcAft>
              <a:buSzPts val="1120"/>
              <a:buChar char="►"/>
              <a:defRPr sz="1400"/>
            </a:lvl3pPr>
            <a:lvl4pPr marL="1828800" lvl="3" indent="-289560" algn="l">
              <a:spcBef>
                <a:spcPts val="1000"/>
              </a:spcBef>
              <a:spcAft>
                <a:spcPts val="0"/>
              </a:spcAft>
              <a:buSzPts val="960"/>
              <a:buChar char="►"/>
              <a:defRPr sz="1200"/>
            </a:lvl4pPr>
            <a:lvl5pPr marL="2286000" lvl="4" indent="-289560" algn="l">
              <a:spcBef>
                <a:spcPts val="1000"/>
              </a:spcBef>
              <a:spcAft>
                <a:spcPts val="0"/>
              </a:spcAft>
              <a:buSzPts val="960"/>
              <a:buChar char="►"/>
              <a:defRPr sz="1200"/>
            </a:lvl5pPr>
            <a:lvl6pPr marL="2743200" lvl="5" indent="-289560" algn="l">
              <a:spcBef>
                <a:spcPts val="1000"/>
              </a:spcBef>
              <a:spcAft>
                <a:spcPts val="0"/>
              </a:spcAft>
              <a:buSzPts val="960"/>
              <a:buChar char="►"/>
              <a:defRPr sz="1200"/>
            </a:lvl6pPr>
            <a:lvl7pPr marL="3200400" lvl="6" indent="-289560" algn="l">
              <a:spcBef>
                <a:spcPts val="1000"/>
              </a:spcBef>
              <a:spcAft>
                <a:spcPts val="0"/>
              </a:spcAft>
              <a:buSzPts val="960"/>
              <a:buChar char="►"/>
              <a:defRPr sz="1200"/>
            </a:lvl7pPr>
            <a:lvl8pPr marL="3657600" lvl="7" indent="-289559" algn="l">
              <a:spcBef>
                <a:spcPts val="1000"/>
              </a:spcBef>
              <a:spcAft>
                <a:spcPts val="0"/>
              </a:spcAft>
              <a:buSzPts val="960"/>
              <a:buChar char="►"/>
              <a:defRPr sz="1200"/>
            </a:lvl8pPr>
            <a:lvl9pPr marL="4114800" lvl="8" indent="-289559" algn="l">
              <a:spcBef>
                <a:spcPts val="1000"/>
              </a:spcBef>
              <a:spcAft>
                <a:spcPts val="0"/>
              </a:spcAft>
              <a:buSzPts val="960"/>
              <a:buChar char="►"/>
              <a:defRPr sz="1200"/>
            </a:lvl9pPr>
          </a:lstStyle>
          <a:p>
            <a:endParaRPr/>
          </a:p>
        </p:txBody>
      </p:sp>
      <p:sp>
        <p:nvSpPr>
          <p:cNvPr id="39" name="Google Shape;39;p113"/>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113"/>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113"/>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114"/>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lt2"/>
              </a:buClr>
              <a:buSzPts val="4200"/>
              <a:buFont typeface="Century Gothic"/>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114"/>
          <p:cNvSpPr txBox="1">
            <a:spLocks noGrp="1"/>
          </p:cNvSpPr>
          <p:nvPr>
            <p:ph type="body" idx="1"/>
          </p:nvPr>
        </p:nvSpPr>
        <p:spPr>
          <a:xfrm>
            <a:off x="1103313" y="1905000"/>
            <a:ext cx="4396338"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solidFill>
                  <a:srgbClr val="86D1D8"/>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45" name="Google Shape;45;p114"/>
          <p:cNvSpPr txBox="1">
            <a:spLocks noGrp="1"/>
          </p:cNvSpPr>
          <p:nvPr>
            <p:ph type="body" idx="2"/>
          </p:nvPr>
        </p:nvSpPr>
        <p:spPr>
          <a:xfrm>
            <a:off x="1103312" y="2514600"/>
            <a:ext cx="4396339" cy="3741738"/>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sz="1800"/>
            </a:lvl1pPr>
            <a:lvl2pPr marL="914400" lvl="1" indent="-309880" algn="l">
              <a:spcBef>
                <a:spcPts val="1000"/>
              </a:spcBef>
              <a:spcAft>
                <a:spcPts val="0"/>
              </a:spcAft>
              <a:buSzPts val="1280"/>
              <a:buChar char="►"/>
              <a:defRPr sz="1600"/>
            </a:lvl2pPr>
            <a:lvl3pPr marL="1371600" lvl="2" indent="-299719" algn="l">
              <a:spcBef>
                <a:spcPts val="1000"/>
              </a:spcBef>
              <a:spcAft>
                <a:spcPts val="0"/>
              </a:spcAft>
              <a:buSzPts val="1120"/>
              <a:buChar char="►"/>
              <a:defRPr sz="1400"/>
            </a:lvl3pPr>
            <a:lvl4pPr marL="1828800" lvl="3" indent="-289560" algn="l">
              <a:spcBef>
                <a:spcPts val="1000"/>
              </a:spcBef>
              <a:spcAft>
                <a:spcPts val="0"/>
              </a:spcAft>
              <a:buSzPts val="960"/>
              <a:buChar char="►"/>
              <a:defRPr sz="1200"/>
            </a:lvl4pPr>
            <a:lvl5pPr marL="2286000" lvl="4" indent="-289560" algn="l">
              <a:spcBef>
                <a:spcPts val="1000"/>
              </a:spcBef>
              <a:spcAft>
                <a:spcPts val="0"/>
              </a:spcAft>
              <a:buSzPts val="960"/>
              <a:buChar char="►"/>
              <a:defRPr sz="1200"/>
            </a:lvl5pPr>
            <a:lvl6pPr marL="2743200" lvl="5" indent="-289560" algn="l">
              <a:spcBef>
                <a:spcPts val="1000"/>
              </a:spcBef>
              <a:spcAft>
                <a:spcPts val="0"/>
              </a:spcAft>
              <a:buSzPts val="960"/>
              <a:buChar char="►"/>
              <a:defRPr sz="1200"/>
            </a:lvl6pPr>
            <a:lvl7pPr marL="3200400" lvl="6" indent="-289560" algn="l">
              <a:spcBef>
                <a:spcPts val="1000"/>
              </a:spcBef>
              <a:spcAft>
                <a:spcPts val="0"/>
              </a:spcAft>
              <a:buSzPts val="960"/>
              <a:buChar char="►"/>
              <a:defRPr sz="1200"/>
            </a:lvl7pPr>
            <a:lvl8pPr marL="3657600" lvl="7" indent="-289559" algn="l">
              <a:spcBef>
                <a:spcPts val="1000"/>
              </a:spcBef>
              <a:spcAft>
                <a:spcPts val="0"/>
              </a:spcAft>
              <a:buSzPts val="960"/>
              <a:buChar char="►"/>
              <a:defRPr sz="1200"/>
            </a:lvl8pPr>
            <a:lvl9pPr marL="4114800" lvl="8" indent="-289559" algn="l">
              <a:spcBef>
                <a:spcPts val="1000"/>
              </a:spcBef>
              <a:spcAft>
                <a:spcPts val="0"/>
              </a:spcAft>
              <a:buSzPts val="960"/>
              <a:buChar char="►"/>
              <a:defRPr sz="1200"/>
            </a:lvl9pPr>
          </a:lstStyle>
          <a:p>
            <a:endParaRPr/>
          </a:p>
        </p:txBody>
      </p:sp>
      <p:sp>
        <p:nvSpPr>
          <p:cNvPr id="46" name="Google Shape;46;p114"/>
          <p:cNvSpPr txBox="1">
            <a:spLocks noGrp="1"/>
          </p:cNvSpPr>
          <p:nvPr>
            <p:ph type="body" idx="3"/>
          </p:nvPr>
        </p:nvSpPr>
        <p:spPr>
          <a:xfrm>
            <a:off x="5654495" y="1905000"/>
            <a:ext cx="4396339"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solidFill>
                  <a:srgbClr val="86D1D8"/>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47" name="Google Shape;47;p114"/>
          <p:cNvSpPr txBox="1">
            <a:spLocks noGrp="1"/>
          </p:cNvSpPr>
          <p:nvPr>
            <p:ph type="body" idx="4"/>
          </p:nvPr>
        </p:nvSpPr>
        <p:spPr>
          <a:xfrm>
            <a:off x="5654495" y="2514600"/>
            <a:ext cx="4396339" cy="3741738"/>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sz="1800"/>
            </a:lvl1pPr>
            <a:lvl2pPr marL="914400" lvl="1" indent="-309880" algn="l">
              <a:spcBef>
                <a:spcPts val="1000"/>
              </a:spcBef>
              <a:spcAft>
                <a:spcPts val="0"/>
              </a:spcAft>
              <a:buSzPts val="1280"/>
              <a:buChar char="►"/>
              <a:defRPr sz="1600"/>
            </a:lvl2pPr>
            <a:lvl3pPr marL="1371600" lvl="2" indent="-299719" algn="l">
              <a:spcBef>
                <a:spcPts val="1000"/>
              </a:spcBef>
              <a:spcAft>
                <a:spcPts val="0"/>
              </a:spcAft>
              <a:buSzPts val="1120"/>
              <a:buChar char="►"/>
              <a:defRPr sz="1400"/>
            </a:lvl3pPr>
            <a:lvl4pPr marL="1828800" lvl="3" indent="-289560" algn="l">
              <a:spcBef>
                <a:spcPts val="1000"/>
              </a:spcBef>
              <a:spcAft>
                <a:spcPts val="0"/>
              </a:spcAft>
              <a:buSzPts val="960"/>
              <a:buChar char="►"/>
              <a:defRPr sz="1200"/>
            </a:lvl4pPr>
            <a:lvl5pPr marL="2286000" lvl="4" indent="-289560" algn="l">
              <a:spcBef>
                <a:spcPts val="1000"/>
              </a:spcBef>
              <a:spcAft>
                <a:spcPts val="0"/>
              </a:spcAft>
              <a:buSzPts val="960"/>
              <a:buChar char="►"/>
              <a:defRPr sz="1200"/>
            </a:lvl5pPr>
            <a:lvl6pPr marL="2743200" lvl="5" indent="-289560" algn="l">
              <a:spcBef>
                <a:spcPts val="1000"/>
              </a:spcBef>
              <a:spcAft>
                <a:spcPts val="0"/>
              </a:spcAft>
              <a:buSzPts val="960"/>
              <a:buChar char="►"/>
              <a:defRPr sz="1200"/>
            </a:lvl6pPr>
            <a:lvl7pPr marL="3200400" lvl="6" indent="-289560" algn="l">
              <a:spcBef>
                <a:spcPts val="1000"/>
              </a:spcBef>
              <a:spcAft>
                <a:spcPts val="0"/>
              </a:spcAft>
              <a:buSzPts val="960"/>
              <a:buChar char="►"/>
              <a:defRPr sz="1200"/>
            </a:lvl7pPr>
            <a:lvl8pPr marL="3657600" lvl="7" indent="-289559" algn="l">
              <a:spcBef>
                <a:spcPts val="1000"/>
              </a:spcBef>
              <a:spcAft>
                <a:spcPts val="0"/>
              </a:spcAft>
              <a:buSzPts val="960"/>
              <a:buChar char="►"/>
              <a:defRPr sz="1200"/>
            </a:lvl8pPr>
            <a:lvl9pPr marL="4114800" lvl="8" indent="-289559" algn="l">
              <a:spcBef>
                <a:spcPts val="1000"/>
              </a:spcBef>
              <a:spcAft>
                <a:spcPts val="0"/>
              </a:spcAft>
              <a:buSzPts val="960"/>
              <a:buChar char="►"/>
              <a:defRPr sz="1200"/>
            </a:lvl9pPr>
          </a:lstStyle>
          <a:p>
            <a:endParaRPr/>
          </a:p>
        </p:txBody>
      </p:sp>
      <p:sp>
        <p:nvSpPr>
          <p:cNvPr id="48" name="Google Shape;48;p114"/>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14"/>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114"/>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115"/>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15"/>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115"/>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115"/>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116"/>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116"/>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16"/>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117"/>
          <p:cNvSpPr txBox="1">
            <a:spLocks noGrp="1"/>
          </p:cNvSpPr>
          <p:nvPr>
            <p:ph type="title"/>
          </p:nvPr>
        </p:nvSpPr>
        <p:spPr>
          <a:xfrm>
            <a:off x="1154953" y="1447800"/>
            <a:ext cx="3401064" cy="14478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lt2"/>
              </a:buClr>
              <a:buSzPts val="2400"/>
              <a:buFont typeface="Century Gothic"/>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117"/>
          <p:cNvSpPr txBox="1">
            <a:spLocks noGrp="1"/>
          </p:cNvSpPr>
          <p:nvPr>
            <p:ph type="body" idx="1"/>
          </p:nvPr>
        </p:nvSpPr>
        <p:spPr>
          <a:xfrm>
            <a:off x="4784616" y="1447800"/>
            <a:ext cx="5195997" cy="4572000"/>
          </a:xfrm>
          <a:prstGeom prst="rect">
            <a:avLst/>
          </a:prstGeom>
          <a:noFill/>
          <a:ln>
            <a:noFill/>
          </a:ln>
        </p:spPr>
        <p:txBody>
          <a:bodyPr spcFirstLastPara="1" wrap="square" lIns="91425" tIns="45700" rIns="91425" bIns="45700" anchor="ctr" anchorCtr="0">
            <a:normAutofit/>
          </a:bodyPr>
          <a:lstStyle>
            <a:lvl1pPr marL="457200" lvl="0" indent="-330200" algn="l">
              <a:spcBef>
                <a:spcPts val="1000"/>
              </a:spcBef>
              <a:spcAft>
                <a:spcPts val="0"/>
              </a:spcAft>
              <a:buSzPts val="1600"/>
              <a:buChar char="►"/>
              <a:defRPr sz="2000"/>
            </a:lvl1pPr>
            <a:lvl2pPr marL="914400" lvl="1" indent="-320040" algn="l">
              <a:spcBef>
                <a:spcPts val="1000"/>
              </a:spcBef>
              <a:spcAft>
                <a:spcPts val="0"/>
              </a:spcAft>
              <a:buSzPts val="1440"/>
              <a:buChar char="►"/>
              <a:defRPr sz="1800"/>
            </a:lvl2pPr>
            <a:lvl3pPr marL="1371600" lvl="2" indent="-309880" algn="l">
              <a:spcBef>
                <a:spcPts val="1000"/>
              </a:spcBef>
              <a:spcAft>
                <a:spcPts val="0"/>
              </a:spcAft>
              <a:buSzPts val="1280"/>
              <a:buChar char="►"/>
              <a:defRPr sz="1600"/>
            </a:lvl3pPr>
            <a:lvl4pPr marL="1828800" lvl="3" indent="-299719" algn="l">
              <a:spcBef>
                <a:spcPts val="1000"/>
              </a:spcBef>
              <a:spcAft>
                <a:spcPts val="0"/>
              </a:spcAft>
              <a:buSzPts val="1120"/>
              <a:buChar char="►"/>
              <a:defRPr sz="1400"/>
            </a:lvl4pPr>
            <a:lvl5pPr marL="2286000" lvl="4" indent="-299720" algn="l">
              <a:spcBef>
                <a:spcPts val="1000"/>
              </a:spcBef>
              <a:spcAft>
                <a:spcPts val="0"/>
              </a:spcAft>
              <a:buSzPts val="1120"/>
              <a:buChar char="►"/>
              <a:defRPr sz="1400"/>
            </a:lvl5pPr>
            <a:lvl6pPr marL="2743200" lvl="5" indent="-299720" algn="l">
              <a:spcBef>
                <a:spcPts val="1000"/>
              </a:spcBef>
              <a:spcAft>
                <a:spcPts val="0"/>
              </a:spcAft>
              <a:buSzPts val="1120"/>
              <a:buChar char="►"/>
              <a:defRPr sz="1400"/>
            </a:lvl6pPr>
            <a:lvl7pPr marL="3200400" lvl="6" indent="-299720" algn="l">
              <a:spcBef>
                <a:spcPts val="1000"/>
              </a:spcBef>
              <a:spcAft>
                <a:spcPts val="0"/>
              </a:spcAft>
              <a:buSzPts val="1120"/>
              <a:buChar char="►"/>
              <a:defRPr sz="1400"/>
            </a:lvl7pPr>
            <a:lvl8pPr marL="3657600" lvl="7" indent="-299720" algn="l">
              <a:spcBef>
                <a:spcPts val="1000"/>
              </a:spcBef>
              <a:spcAft>
                <a:spcPts val="0"/>
              </a:spcAft>
              <a:buSzPts val="1120"/>
              <a:buChar char="►"/>
              <a:defRPr sz="1400"/>
            </a:lvl8pPr>
            <a:lvl9pPr marL="4114800" lvl="8" indent="-299720" algn="l">
              <a:spcBef>
                <a:spcPts val="1000"/>
              </a:spcBef>
              <a:spcAft>
                <a:spcPts val="0"/>
              </a:spcAft>
              <a:buSzPts val="1120"/>
              <a:buChar char="►"/>
              <a:defRPr sz="1400"/>
            </a:lvl9pPr>
          </a:lstStyle>
          <a:p>
            <a:endParaRPr/>
          </a:p>
        </p:txBody>
      </p:sp>
      <p:sp>
        <p:nvSpPr>
          <p:cNvPr id="63" name="Google Shape;63;p117"/>
          <p:cNvSpPr txBox="1">
            <a:spLocks noGrp="1"/>
          </p:cNvSpPr>
          <p:nvPr>
            <p:ph type="body" idx="2"/>
          </p:nvPr>
        </p:nvSpPr>
        <p:spPr>
          <a:xfrm>
            <a:off x="1154953" y="3129280"/>
            <a:ext cx="3401063" cy="2895599"/>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64" name="Google Shape;64;p117"/>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117"/>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17"/>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118"/>
          <p:cNvSpPr txBox="1">
            <a:spLocks noGrp="1"/>
          </p:cNvSpPr>
          <p:nvPr>
            <p:ph type="title"/>
          </p:nvPr>
        </p:nvSpPr>
        <p:spPr>
          <a:xfrm>
            <a:off x="1153907" y="1854192"/>
            <a:ext cx="5092906" cy="157480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2"/>
              </a:buClr>
              <a:buSzPts val="3600"/>
              <a:buFont typeface="Century Gothic"/>
              <a:buNone/>
              <a:defRPr sz="36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118"/>
          <p:cNvSpPr>
            <a:spLocks noGrp="1"/>
          </p:cNvSpPr>
          <p:nvPr>
            <p:ph type="pic" idx="2"/>
          </p:nvPr>
        </p:nvSpPr>
        <p:spPr>
          <a:xfrm>
            <a:off x="6949546" y="1143000"/>
            <a:ext cx="3200400" cy="4572000"/>
          </a:xfrm>
          <a:prstGeom prst="roundRect">
            <a:avLst>
              <a:gd name="adj" fmla="val 1858"/>
            </a:avLst>
          </a:prstGeom>
          <a:noFill/>
          <a:ln>
            <a:noFill/>
          </a:ln>
          <a:effectLst>
            <a:outerShdw blurRad="50800" dist="50800" dir="5400000" algn="tl" rotWithShape="0">
              <a:srgbClr val="000000">
                <a:alpha val="42745"/>
              </a:srgbClr>
            </a:outerShdw>
          </a:effectLst>
        </p:spPr>
      </p:sp>
      <p:sp>
        <p:nvSpPr>
          <p:cNvPr id="70" name="Google Shape;70;p118"/>
          <p:cNvSpPr txBox="1">
            <a:spLocks noGrp="1"/>
          </p:cNvSpPr>
          <p:nvPr>
            <p:ph type="body" idx="1"/>
          </p:nvPr>
        </p:nvSpPr>
        <p:spPr>
          <a:xfrm>
            <a:off x="1154954" y="3657600"/>
            <a:ext cx="5084979" cy="13716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71" name="Google Shape;71;p118"/>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8"/>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8"/>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74"/>
        <p:cNvGrpSpPr/>
        <p:nvPr/>
      </p:nvGrpSpPr>
      <p:grpSpPr>
        <a:xfrm>
          <a:off x="0" y="0"/>
          <a:ext cx="0" cy="0"/>
          <a:chOff x="0" y="0"/>
          <a:chExt cx="0" cy="0"/>
        </a:xfrm>
      </p:grpSpPr>
      <p:sp>
        <p:nvSpPr>
          <p:cNvPr id="75" name="Google Shape;75;p119"/>
          <p:cNvSpPr txBox="1">
            <a:spLocks noGrp="1"/>
          </p:cNvSpPr>
          <p:nvPr>
            <p:ph type="title"/>
          </p:nvPr>
        </p:nvSpPr>
        <p:spPr>
          <a:xfrm>
            <a:off x="1154956" y="4800587"/>
            <a:ext cx="8825657"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2"/>
              </a:buClr>
              <a:buSzPts val="2400"/>
              <a:buFont typeface="Century Gothic"/>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9"/>
          <p:cNvSpPr>
            <a:spLocks noGrp="1"/>
          </p:cNvSpPr>
          <p:nvPr>
            <p:ph type="pic" idx="2"/>
          </p:nvPr>
        </p:nvSpPr>
        <p:spPr>
          <a:xfrm>
            <a:off x="1154955" y="685800"/>
            <a:ext cx="8825658" cy="3640666"/>
          </a:xfrm>
          <a:prstGeom prst="roundRect">
            <a:avLst>
              <a:gd name="adj" fmla="val 1858"/>
            </a:avLst>
          </a:prstGeom>
          <a:noFill/>
          <a:ln>
            <a:noFill/>
          </a:ln>
          <a:effectLst>
            <a:outerShdw blurRad="50800" dist="50800" dir="5400000" algn="tl" rotWithShape="0">
              <a:srgbClr val="000000">
                <a:alpha val="42745"/>
              </a:srgbClr>
            </a:outerShdw>
          </a:effectLst>
        </p:spPr>
      </p:sp>
      <p:sp>
        <p:nvSpPr>
          <p:cNvPr id="77" name="Google Shape;77;p119"/>
          <p:cNvSpPr txBox="1">
            <a:spLocks noGrp="1"/>
          </p:cNvSpPr>
          <p:nvPr>
            <p:ph type="body" idx="1"/>
          </p:nvPr>
        </p:nvSpPr>
        <p:spPr>
          <a:xfrm>
            <a:off x="1154956" y="5367325"/>
            <a:ext cx="8825656" cy="493712"/>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960"/>
              <a:buNone/>
              <a:defRPr sz="12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78" name="Google Shape;78;p119"/>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19"/>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119"/>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aption">
  <p:cSld name="Title and Caption">
    <p:spTree>
      <p:nvGrpSpPr>
        <p:cNvPr id="1" name="Shape 81"/>
        <p:cNvGrpSpPr/>
        <p:nvPr/>
      </p:nvGrpSpPr>
      <p:grpSpPr>
        <a:xfrm>
          <a:off x="0" y="0"/>
          <a:ext cx="0" cy="0"/>
          <a:chOff x="0" y="0"/>
          <a:chExt cx="0" cy="0"/>
        </a:xfrm>
      </p:grpSpPr>
      <p:sp>
        <p:nvSpPr>
          <p:cNvPr id="82" name="Google Shape;82;p120"/>
          <p:cNvSpPr txBox="1">
            <a:spLocks noGrp="1"/>
          </p:cNvSpPr>
          <p:nvPr>
            <p:ph type="title"/>
          </p:nvPr>
        </p:nvSpPr>
        <p:spPr>
          <a:xfrm>
            <a:off x="1154954" y="1447800"/>
            <a:ext cx="8825659" cy="1981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lt2"/>
              </a:buClr>
              <a:buSzPts val="4800"/>
              <a:buFont typeface="Century Gothic"/>
              <a:buNone/>
              <a:defRPr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0"/>
          <p:cNvSpPr txBox="1">
            <a:spLocks noGrp="1"/>
          </p:cNvSpPr>
          <p:nvPr>
            <p:ph type="body" idx="1"/>
          </p:nvPr>
        </p:nvSpPr>
        <p:spPr>
          <a:xfrm>
            <a:off x="1154954" y="3657600"/>
            <a:ext cx="8825659" cy="2362200"/>
          </a:xfrm>
          <a:prstGeom prst="rect">
            <a:avLst/>
          </a:prstGeom>
          <a:noFill/>
          <a:ln>
            <a:noFill/>
          </a:ln>
        </p:spPr>
        <p:txBody>
          <a:bodyPr spcFirstLastPara="1" wrap="square" lIns="91425" tIns="45700" rIns="91425" bIns="45700" anchor="ctr" anchorCtr="0">
            <a:normAutofit/>
          </a:bodyPr>
          <a:lstStyle>
            <a:lvl1pPr marL="457200" lvl="0" indent="-228600" algn="l">
              <a:spcBef>
                <a:spcPts val="1000"/>
              </a:spcBef>
              <a:spcAft>
                <a:spcPts val="0"/>
              </a:spcAft>
              <a:buSzPts val="1440"/>
              <a:buNone/>
              <a:defRPr sz="18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84" name="Google Shape;84;p120"/>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20"/>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20"/>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Quote with Caption">
  <p:cSld name="Quote with Caption">
    <p:spTree>
      <p:nvGrpSpPr>
        <p:cNvPr id="1" name="Shape 87"/>
        <p:cNvGrpSpPr/>
        <p:nvPr/>
      </p:nvGrpSpPr>
      <p:grpSpPr>
        <a:xfrm>
          <a:off x="0" y="0"/>
          <a:ext cx="0" cy="0"/>
          <a:chOff x="0" y="0"/>
          <a:chExt cx="0" cy="0"/>
        </a:xfrm>
      </p:grpSpPr>
      <p:sp>
        <p:nvSpPr>
          <p:cNvPr id="88" name="Google Shape;88;p121"/>
          <p:cNvSpPr txBox="1">
            <a:spLocks noGrp="1"/>
          </p:cNvSpPr>
          <p:nvPr>
            <p:ph type="title"/>
          </p:nvPr>
        </p:nvSpPr>
        <p:spPr>
          <a:xfrm>
            <a:off x="1574801" y="1447800"/>
            <a:ext cx="7999315" cy="2323374"/>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lt2"/>
              </a:buClr>
              <a:buSzPts val="4800"/>
              <a:buFont typeface="Century Gothic"/>
              <a:buNone/>
              <a:defRPr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121"/>
          <p:cNvSpPr txBox="1">
            <a:spLocks noGrp="1"/>
          </p:cNvSpPr>
          <p:nvPr>
            <p:ph type="body" idx="1"/>
          </p:nvPr>
        </p:nvSpPr>
        <p:spPr>
          <a:xfrm>
            <a:off x="1930400" y="3771174"/>
            <a:ext cx="7279649" cy="34217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b="0" i="0" cap="small">
                <a:solidFill>
                  <a:srgbClr val="86D1D8"/>
                </a:solidFill>
                <a:latin typeface="Century Gothic"/>
                <a:ea typeface="Century Gothic"/>
                <a:cs typeface="Century Gothic"/>
                <a:sym typeface="Century Gothic"/>
              </a:defRPr>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90" name="Google Shape;90;p121"/>
          <p:cNvSpPr txBox="1">
            <a:spLocks noGrp="1"/>
          </p:cNvSpPr>
          <p:nvPr>
            <p:ph type="body" idx="2"/>
          </p:nvPr>
        </p:nvSpPr>
        <p:spPr>
          <a:xfrm>
            <a:off x="1154954" y="4350657"/>
            <a:ext cx="8825659" cy="1676400"/>
          </a:xfrm>
          <a:prstGeom prst="rect">
            <a:avLst/>
          </a:prstGeom>
          <a:noFill/>
          <a:ln>
            <a:noFill/>
          </a:ln>
        </p:spPr>
        <p:txBody>
          <a:bodyPr spcFirstLastPara="1" wrap="square" lIns="91425" tIns="45700" rIns="91425" bIns="45700" anchor="ctr" anchorCtr="0">
            <a:normAutofit/>
          </a:bodyPr>
          <a:lstStyle>
            <a:lvl1pPr marL="457200" lvl="0" indent="-228600" algn="l">
              <a:spcBef>
                <a:spcPts val="1000"/>
              </a:spcBef>
              <a:spcAft>
                <a:spcPts val="0"/>
              </a:spcAft>
              <a:buSzPts val="1440"/>
              <a:buNone/>
              <a:defRPr sz="18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91" name="Google Shape;91;p121"/>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21"/>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121"/>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94" name="Google Shape;94;p121"/>
          <p:cNvSpPr txBox="1"/>
          <p:nvPr/>
        </p:nvSpPr>
        <p:spPr>
          <a:xfrm>
            <a:off x="898295" y="971253"/>
            <a:ext cx="801912" cy="196977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2200" b="0" i="0">
                <a:solidFill>
                  <a:srgbClr val="86D1D8"/>
                </a:solidFill>
                <a:latin typeface="Arial"/>
                <a:ea typeface="Arial"/>
                <a:cs typeface="Arial"/>
                <a:sym typeface="Arial"/>
              </a:rPr>
              <a:t>“</a:t>
            </a:r>
            <a:endParaRPr/>
          </a:p>
        </p:txBody>
      </p:sp>
      <p:sp>
        <p:nvSpPr>
          <p:cNvPr id="95" name="Google Shape;95;p121"/>
          <p:cNvSpPr txBox="1"/>
          <p:nvPr/>
        </p:nvSpPr>
        <p:spPr>
          <a:xfrm>
            <a:off x="9330490" y="2613787"/>
            <a:ext cx="801912" cy="196977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2200" b="0" i="0">
                <a:solidFill>
                  <a:srgbClr val="86D1D8"/>
                </a:solidFill>
                <a:latin typeface="Arial"/>
                <a:ea typeface="Arial"/>
                <a:cs typeface="Arial"/>
                <a:sym typeface="Arial"/>
              </a:rPr>
              <a:t>”</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1" name="Shape 96"/>
        <p:cNvGrpSpPr/>
        <p:nvPr/>
      </p:nvGrpSpPr>
      <p:grpSpPr>
        <a:xfrm>
          <a:off x="0" y="0"/>
          <a:ext cx="0" cy="0"/>
          <a:chOff x="0" y="0"/>
          <a:chExt cx="0" cy="0"/>
        </a:xfrm>
      </p:grpSpPr>
      <p:sp>
        <p:nvSpPr>
          <p:cNvPr id="97" name="Google Shape;97;p122"/>
          <p:cNvSpPr txBox="1">
            <a:spLocks noGrp="1"/>
          </p:cNvSpPr>
          <p:nvPr>
            <p:ph type="title"/>
          </p:nvPr>
        </p:nvSpPr>
        <p:spPr>
          <a:xfrm>
            <a:off x="1154954" y="3124201"/>
            <a:ext cx="8825660" cy="165318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lt2"/>
              </a:buClr>
              <a:buSzPts val="4000"/>
              <a:buFont typeface="Century Gothic"/>
              <a:buNone/>
              <a:defRPr sz="40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122"/>
          <p:cNvSpPr txBox="1">
            <a:spLocks noGrp="1"/>
          </p:cNvSpPr>
          <p:nvPr>
            <p:ph type="body" idx="1"/>
          </p:nvPr>
        </p:nvSpPr>
        <p:spPr>
          <a:xfrm>
            <a:off x="1154954" y="4777381"/>
            <a:ext cx="8825659" cy="8604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600"/>
              <a:buNone/>
              <a:defRPr sz="2000" cap="none">
                <a:solidFill>
                  <a:srgbClr val="86D1D8"/>
                </a:solidFill>
              </a:defRPr>
            </a:lvl1pPr>
            <a:lvl2pPr marL="914400" lvl="1" indent="-228600" algn="l">
              <a:spcBef>
                <a:spcPts val="1000"/>
              </a:spcBef>
              <a:spcAft>
                <a:spcPts val="0"/>
              </a:spcAft>
              <a:buSzPts val="1440"/>
              <a:buNone/>
              <a:defRPr sz="1800">
                <a:solidFill>
                  <a:schemeClr val="lt1"/>
                </a:solidFill>
              </a:defRPr>
            </a:lvl2pPr>
            <a:lvl3pPr marL="1371600" lvl="2" indent="-228600" algn="l">
              <a:spcBef>
                <a:spcPts val="1000"/>
              </a:spcBef>
              <a:spcAft>
                <a:spcPts val="0"/>
              </a:spcAft>
              <a:buSzPts val="1280"/>
              <a:buNone/>
              <a:defRPr sz="1600">
                <a:solidFill>
                  <a:schemeClr val="lt1"/>
                </a:solidFill>
              </a:defRPr>
            </a:lvl3pPr>
            <a:lvl4pPr marL="1828800" lvl="3" indent="-228600" algn="l">
              <a:spcBef>
                <a:spcPts val="1000"/>
              </a:spcBef>
              <a:spcAft>
                <a:spcPts val="0"/>
              </a:spcAft>
              <a:buSzPts val="1120"/>
              <a:buNone/>
              <a:defRPr sz="1400">
                <a:solidFill>
                  <a:schemeClr val="lt1"/>
                </a:solidFill>
              </a:defRPr>
            </a:lvl4pPr>
            <a:lvl5pPr marL="2286000" lvl="4" indent="-228600" algn="l">
              <a:spcBef>
                <a:spcPts val="1000"/>
              </a:spcBef>
              <a:spcAft>
                <a:spcPts val="0"/>
              </a:spcAft>
              <a:buSzPts val="1120"/>
              <a:buNone/>
              <a:defRPr sz="1400">
                <a:solidFill>
                  <a:schemeClr val="lt1"/>
                </a:solidFill>
              </a:defRPr>
            </a:lvl5pPr>
            <a:lvl6pPr marL="2743200" lvl="5" indent="-228600" algn="l">
              <a:spcBef>
                <a:spcPts val="1000"/>
              </a:spcBef>
              <a:spcAft>
                <a:spcPts val="0"/>
              </a:spcAft>
              <a:buSzPts val="1120"/>
              <a:buNone/>
              <a:defRPr sz="1400">
                <a:solidFill>
                  <a:schemeClr val="lt1"/>
                </a:solidFill>
              </a:defRPr>
            </a:lvl6pPr>
            <a:lvl7pPr marL="3200400" lvl="6" indent="-228600" algn="l">
              <a:spcBef>
                <a:spcPts val="1000"/>
              </a:spcBef>
              <a:spcAft>
                <a:spcPts val="0"/>
              </a:spcAft>
              <a:buSzPts val="1120"/>
              <a:buNone/>
              <a:defRPr sz="1400">
                <a:solidFill>
                  <a:schemeClr val="lt1"/>
                </a:solidFill>
              </a:defRPr>
            </a:lvl7pPr>
            <a:lvl8pPr marL="3657600" lvl="7" indent="-228600" algn="l">
              <a:spcBef>
                <a:spcPts val="1000"/>
              </a:spcBef>
              <a:spcAft>
                <a:spcPts val="0"/>
              </a:spcAft>
              <a:buSzPts val="1120"/>
              <a:buNone/>
              <a:defRPr sz="1400">
                <a:solidFill>
                  <a:schemeClr val="lt1"/>
                </a:solidFill>
              </a:defRPr>
            </a:lvl8pPr>
            <a:lvl9pPr marL="4114800" lvl="8" indent="-228600" algn="l">
              <a:spcBef>
                <a:spcPts val="1000"/>
              </a:spcBef>
              <a:spcAft>
                <a:spcPts val="0"/>
              </a:spcAft>
              <a:buSzPts val="1120"/>
              <a:buNone/>
              <a:defRPr sz="1400">
                <a:solidFill>
                  <a:schemeClr val="lt1"/>
                </a:solidFill>
              </a:defRPr>
            </a:lvl9pPr>
          </a:lstStyle>
          <a:p>
            <a:endParaRPr/>
          </a:p>
        </p:txBody>
      </p:sp>
      <p:sp>
        <p:nvSpPr>
          <p:cNvPr id="99" name="Google Shape;99;p122"/>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122"/>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122"/>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02"/>
        <p:cNvGrpSpPr/>
        <p:nvPr/>
      </p:nvGrpSpPr>
      <p:grpSpPr>
        <a:xfrm>
          <a:off x="0" y="0"/>
          <a:ext cx="0" cy="0"/>
          <a:chOff x="0" y="0"/>
          <a:chExt cx="0" cy="0"/>
        </a:xfrm>
      </p:grpSpPr>
      <p:sp>
        <p:nvSpPr>
          <p:cNvPr id="103" name="Google Shape;103;p123"/>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lt2"/>
              </a:buClr>
              <a:buSzPts val="4200"/>
              <a:buFont typeface="Century Gothic"/>
              <a:buNone/>
              <a:defRPr sz="4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123"/>
          <p:cNvSpPr txBox="1">
            <a:spLocks noGrp="1"/>
          </p:cNvSpPr>
          <p:nvPr>
            <p:ph type="body" idx="1"/>
          </p:nvPr>
        </p:nvSpPr>
        <p:spPr>
          <a:xfrm>
            <a:off x="632947" y="1981200"/>
            <a:ext cx="2946866"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solidFill>
                  <a:srgbClr val="86D1D8"/>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105" name="Google Shape;105;p123"/>
          <p:cNvSpPr txBox="1">
            <a:spLocks noGrp="1"/>
          </p:cNvSpPr>
          <p:nvPr>
            <p:ph type="body" idx="2"/>
          </p:nvPr>
        </p:nvSpPr>
        <p:spPr>
          <a:xfrm>
            <a:off x="652463" y="2667000"/>
            <a:ext cx="2927350" cy="3589338"/>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106" name="Google Shape;106;p123"/>
          <p:cNvSpPr txBox="1">
            <a:spLocks noGrp="1"/>
          </p:cNvSpPr>
          <p:nvPr>
            <p:ph type="body" idx="3"/>
          </p:nvPr>
        </p:nvSpPr>
        <p:spPr>
          <a:xfrm>
            <a:off x="3883659" y="1981200"/>
            <a:ext cx="2936241"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solidFill>
                  <a:srgbClr val="86D1D8"/>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107" name="Google Shape;107;p123"/>
          <p:cNvSpPr txBox="1">
            <a:spLocks noGrp="1"/>
          </p:cNvSpPr>
          <p:nvPr>
            <p:ph type="body" idx="4"/>
          </p:nvPr>
        </p:nvSpPr>
        <p:spPr>
          <a:xfrm>
            <a:off x="3873106" y="2667000"/>
            <a:ext cx="2946794" cy="3589338"/>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108" name="Google Shape;108;p123"/>
          <p:cNvSpPr txBox="1">
            <a:spLocks noGrp="1"/>
          </p:cNvSpPr>
          <p:nvPr>
            <p:ph type="body" idx="5"/>
          </p:nvPr>
        </p:nvSpPr>
        <p:spPr>
          <a:xfrm>
            <a:off x="7124700" y="1981200"/>
            <a:ext cx="2932113"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solidFill>
                  <a:srgbClr val="86D1D8"/>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109" name="Google Shape;109;p123"/>
          <p:cNvSpPr txBox="1">
            <a:spLocks noGrp="1"/>
          </p:cNvSpPr>
          <p:nvPr>
            <p:ph type="body" idx="6"/>
          </p:nvPr>
        </p:nvSpPr>
        <p:spPr>
          <a:xfrm>
            <a:off x="7124700" y="2667000"/>
            <a:ext cx="2932113" cy="3589338"/>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cxnSp>
        <p:nvCxnSpPr>
          <p:cNvPr id="110" name="Google Shape;110;p123"/>
          <p:cNvCxnSpPr/>
          <p:nvPr/>
        </p:nvCxnSpPr>
        <p:spPr>
          <a:xfrm>
            <a:off x="3726142" y="2133600"/>
            <a:ext cx="0" cy="3962400"/>
          </a:xfrm>
          <a:prstGeom prst="straightConnector1">
            <a:avLst/>
          </a:prstGeom>
          <a:noFill/>
          <a:ln w="12700" cap="flat" cmpd="sng">
            <a:solidFill>
              <a:srgbClr val="86D1D8">
                <a:alpha val="40000"/>
              </a:srgbClr>
            </a:solidFill>
            <a:prstDash val="solid"/>
            <a:round/>
            <a:headEnd type="none" w="sm" len="sm"/>
            <a:tailEnd type="none" w="sm" len="sm"/>
          </a:ln>
        </p:spPr>
      </p:cxnSp>
      <p:cxnSp>
        <p:nvCxnSpPr>
          <p:cNvPr id="111" name="Google Shape;111;p123"/>
          <p:cNvCxnSpPr/>
          <p:nvPr/>
        </p:nvCxnSpPr>
        <p:spPr>
          <a:xfrm>
            <a:off x="6962227" y="2133600"/>
            <a:ext cx="0" cy="3966882"/>
          </a:xfrm>
          <a:prstGeom prst="straightConnector1">
            <a:avLst/>
          </a:prstGeom>
          <a:noFill/>
          <a:ln w="12700" cap="flat" cmpd="sng">
            <a:solidFill>
              <a:srgbClr val="86D1D8">
                <a:alpha val="40000"/>
              </a:srgbClr>
            </a:solidFill>
            <a:prstDash val="solid"/>
            <a:round/>
            <a:headEnd type="none" w="sm" len="sm"/>
            <a:tailEnd type="none" w="sm" len="sm"/>
          </a:ln>
        </p:spPr>
      </p:cxnSp>
      <p:sp>
        <p:nvSpPr>
          <p:cNvPr id="112" name="Google Shape;112;p123"/>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123"/>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123"/>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115"/>
        <p:cNvGrpSpPr/>
        <p:nvPr/>
      </p:nvGrpSpPr>
      <p:grpSpPr>
        <a:xfrm>
          <a:off x="0" y="0"/>
          <a:ext cx="0" cy="0"/>
          <a:chOff x="0" y="0"/>
          <a:chExt cx="0" cy="0"/>
        </a:xfrm>
      </p:grpSpPr>
      <p:sp>
        <p:nvSpPr>
          <p:cNvPr id="116" name="Google Shape;116;p124"/>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lt2"/>
              </a:buClr>
              <a:buSzPts val="4200"/>
              <a:buFont typeface="Century Gothic"/>
              <a:buNone/>
              <a:defRPr sz="4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7" name="Google Shape;117;p124"/>
          <p:cNvSpPr txBox="1">
            <a:spLocks noGrp="1"/>
          </p:cNvSpPr>
          <p:nvPr>
            <p:ph type="body" idx="1"/>
          </p:nvPr>
        </p:nvSpPr>
        <p:spPr>
          <a:xfrm>
            <a:off x="652463" y="4250949"/>
            <a:ext cx="2940050"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solidFill>
                  <a:srgbClr val="86D1D8"/>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118" name="Google Shape;118;p124"/>
          <p:cNvSpPr>
            <a:spLocks noGrp="1"/>
          </p:cNvSpPr>
          <p:nvPr>
            <p:ph type="pic" idx="2"/>
          </p:nvPr>
        </p:nvSpPr>
        <p:spPr>
          <a:xfrm>
            <a:off x="652463" y="2209800"/>
            <a:ext cx="2940050" cy="1524000"/>
          </a:xfrm>
          <a:prstGeom prst="roundRect">
            <a:avLst>
              <a:gd name="adj" fmla="val 1858"/>
            </a:avLst>
          </a:prstGeom>
          <a:noFill/>
          <a:ln>
            <a:noFill/>
          </a:ln>
          <a:effectLst>
            <a:outerShdw blurRad="50800" dist="50800" dir="5400000" algn="tl" rotWithShape="0">
              <a:srgbClr val="000000">
                <a:alpha val="42745"/>
              </a:srgbClr>
            </a:outerShdw>
          </a:effectLst>
        </p:spPr>
      </p:sp>
      <p:sp>
        <p:nvSpPr>
          <p:cNvPr id="119" name="Google Shape;119;p124"/>
          <p:cNvSpPr txBox="1">
            <a:spLocks noGrp="1"/>
          </p:cNvSpPr>
          <p:nvPr>
            <p:ph type="body" idx="3"/>
          </p:nvPr>
        </p:nvSpPr>
        <p:spPr>
          <a:xfrm>
            <a:off x="652463" y="4827211"/>
            <a:ext cx="2940050" cy="659189"/>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120" name="Google Shape;120;p124"/>
          <p:cNvSpPr txBox="1">
            <a:spLocks noGrp="1"/>
          </p:cNvSpPr>
          <p:nvPr>
            <p:ph type="body" idx="4"/>
          </p:nvPr>
        </p:nvSpPr>
        <p:spPr>
          <a:xfrm>
            <a:off x="3889375" y="4250949"/>
            <a:ext cx="2930525"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solidFill>
                  <a:srgbClr val="86D1D8"/>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121" name="Google Shape;121;p124"/>
          <p:cNvSpPr>
            <a:spLocks noGrp="1"/>
          </p:cNvSpPr>
          <p:nvPr>
            <p:ph type="pic" idx="5"/>
          </p:nvPr>
        </p:nvSpPr>
        <p:spPr>
          <a:xfrm>
            <a:off x="3889374" y="2209800"/>
            <a:ext cx="2930525" cy="1524000"/>
          </a:xfrm>
          <a:prstGeom prst="roundRect">
            <a:avLst>
              <a:gd name="adj" fmla="val 1858"/>
            </a:avLst>
          </a:prstGeom>
          <a:noFill/>
          <a:ln>
            <a:noFill/>
          </a:ln>
          <a:effectLst>
            <a:outerShdw blurRad="50800" dist="50800" dir="5400000" algn="tl" rotWithShape="0">
              <a:srgbClr val="000000">
                <a:alpha val="42745"/>
              </a:srgbClr>
            </a:outerShdw>
          </a:effectLst>
        </p:spPr>
      </p:sp>
      <p:sp>
        <p:nvSpPr>
          <p:cNvPr id="122" name="Google Shape;122;p124"/>
          <p:cNvSpPr txBox="1">
            <a:spLocks noGrp="1"/>
          </p:cNvSpPr>
          <p:nvPr>
            <p:ph type="body" idx="6"/>
          </p:nvPr>
        </p:nvSpPr>
        <p:spPr>
          <a:xfrm>
            <a:off x="3888022" y="4827210"/>
            <a:ext cx="2934406" cy="659189"/>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123" name="Google Shape;123;p124"/>
          <p:cNvSpPr txBox="1">
            <a:spLocks noGrp="1"/>
          </p:cNvSpPr>
          <p:nvPr>
            <p:ph type="body" idx="7"/>
          </p:nvPr>
        </p:nvSpPr>
        <p:spPr>
          <a:xfrm>
            <a:off x="7124700" y="4250949"/>
            <a:ext cx="2932113"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solidFill>
                  <a:srgbClr val="86D1D8"/>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124" name="Google Shape;124;p124"/>
          <p:cNvSpPr>
            <a:spLocks noGrp="1"/>
          </p:cNvSpPr>
          <p:nvPr>
            <p:ph type="pic" idx="8"/>
          </p:nvPr>
        </p:nvSpPr>
        <p:spPr>
          <a:xfrm>
            <a:off x="7124699" y="2209800"/>
            <a:ext cx="2932113" cy="1524000"/>
          </a:xfrm>
          <a:prstGeom prst="roundRect">
            <a:avLst>
              <a:gd name="adj" fmla="val 1858"/>
            </a:avLst>
          </a:prstGeom>
          <a:noFill/>
          <a:ln>
            <a:noFill/>
          </a:ln>
          <a:effectLst>
            <a:outerShdw blurRad="50800" dist="50800" dir="5400000" algn="tl" rotWithShape="0">
              <a:srgbClr val="000000">
                <a:alpha val="42745"/>
              </a:srgbClr>
            </a:outerShdw>
          </a:effectLst>
        </p:spPr>
      </p:sp>
      <p:sp>
        <p:nvSpPr>
          <p:cNvPr id="125" name="Google Shape;125;p124"/>
          <p:cNvSpPr txBox="1">
            <a:spLocks noGrp="1"/>
          </p:cNvSpPr>
          <p:nvPr>
            <p:ph type="body" idx="9"/>
          </p:nvPr>
        </p:nvSpPr>
        <p:spPr>
          <a:xfrm>
            <a:off x="7124575" y="4827208"/>
            <a:ext cx="2935997" cy="659189"/>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cxnSp>
        <p:nvCxnSpPr>
          <p:cNvPr id="126" name="Google Shape;126;p124"/>
          <p:cNvCxnSpPr/>
          <p:nvPr/>
        </p:nvCxnSpPr>
        <p:spPr>
          <a:xfrm>
            <a:off x="3726142" y="2133600"/>
            <a:ext cx="0" cy="3962400"/>
          </a:xfrm>
          <a:prstGeom prst="straightConnector1">
            <a:avLst/>
          </a:prstGeom>
          <a:noFill/>
          <a:ln w="12700" cap="flat" cmpd="sng">
            <a:solidFill>
              <a:srgbClr val="86D1D8">
                <a:alpha val="40000"/>
              </a:srgbClr>
            </a:solidFill>
            <a:prstDash val="solid"/>
            <a:round/>
            <a:headEnd type="none" w="sm" len="sm"/>
            <a:tailEnd type="none" w="sm" len="sm"/>
          </a:ln>
        </p:spPr>
      </p:cxnSp>
      <p:cxnSp>
        <p:nvCxnSpPr>
          <p:cNvPr id="127" name="Google Shape;127;p124"/>
          <p:cNvCxnSpPr/>
          <p:nvPr/>
        </p:nvCxnSpPr>
        <p:spPr>
          <a:xfrm>
            <a:off x="6962227" y="2133600"/>
            <a:ext cx="0" cy="3966882"/>
          </a:xfrm>
          <a:prstGeom prst="straightConnector1">
            <a:avLst/>
          </a:prstGeom>
          <a:noFill/>
          <a:ln w="12700" cap="flat" cmpd="sng">
            <a:solidFill>
              <a:srgbClr val="86D1D8">
                <a:alpha val="40000"/>
              </a:srgbClr>
            </a:solidFill>
            <a:prstDash val="solid"/>
            <a:round/>
            <a:headEnd type="none" w="sm" len="sm"/>
            <a:tailEnd type="none" w="sm" len="sm"/>
          </a:ln>
        </p:spPr>
      </p:cxnSp>
      <p:sp>
        <p:nvSpPr>
          <p:cNvPr id="128" name="Google Shape;128;p124"/>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9" name="Google Shape;129;p124"/>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0" name="Google Shape;130;p124"/>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31"/>
        <p:cNvGrpSpPr/>
        <p:nvPr/>
      </p:nvGrpSpPr>
      <p:grpSpPr>
        <a:xfrm>
          <a:off x="0" y="0"/>
          <a:ext cx="0" cy="0"/>
          <a:chOff x="0" y="0"/>
          <a:chExt cx="0" cy="0"/>
        </a:xfrm>
      </p:grpSpPr>
      <p:sp>
        <p:nvSpPr>
          <p:cNvPr id="132" name="Google Shape;132;p125"/>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3" name="Google Shape;133;p125"/>
          <p:cNvSpPr txBox="1">
            <a:spLocks noGrp="1"/>
          </p:cNvSpPr>
          <p:nvPr>
            <p:ph type="body" idx="1"/>
          </p:nvPr>
        </p:nvSpPr>
        <p:spPr>
          <a:xfrm rot="5400000">
            <a:off x="3478842" y="-322612"/>
            <a:ext cx="4195481" cy="8946541"/>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34" name="Google Shape;134;p125"/>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5" name="Google Shape;135;p125"/>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6" name="Google Shape;136;p125"/>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37"/>
        <p:cNvGrpSpPr/>
        <p:nvPr/>
      </p:nvGrpSpPr>
      <p:grpSpPr>
        <a:xfrm>
          <a:off x="0" y="0"/>
          <a:ext cx="0" cy="0"/>
          <a:chOff x="0" y="0"/>
          <a:chExt cx="0" cy="0"/>
        </a:xfrm>
      </p:grpSpPr>
      <p:sp>
        <p:nvSpPr>
          <p:cNvPr id="138" name="Google Shape;138;p126"/>
          <p:cNvSpPr txBox="1">
            <a:spLocks noGrp="1"/>
          </p:cNvSpPr>
          <p:nvPr>
            <p:ph type="title"/>
          </p:nvPr>
        </p:nvSpPr>
        <p:spPr>
          <a:xfrm rot="5400000">
            <a:off x="6267450" y="2466975"/>
            <a:ext cx="5826125" cy="17526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9" name="Google Shape;139;p126"/>
          <p:cNvSpPr txBox="1">
            <a:spLocks noGrp="1"/>
          </p:cNvSpPr>
          <p:nvPr>
            <p:ph type="body" idx="1"/>
          </p:nvPr>
        </p:nvSpPr>
        <p:spPr>
          <a:xfrm rot="5400000">
            <a:off x="1679576" y="-139699"/>
            <a:ext cx="5368924" cy="7423149"/>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40" name="Google Shape;140;p126"/>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1" name="Google Shape;141;p126"/>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2" name="Google Shape;142;p126"/>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5.png"/><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9">
            <a:alphaModFix/>
          </a:blip>
          <a:stretch>
            <a:fillRect/>
          </a:stretch>
        </a:blipFill>
        <a:effectLst/>
      </p:bgPr>
    </p:bg>
    <p:spTree>
      <p:nvGrpSpPr>
        <p:cNvPr id="1" name="Shape 5"/>
        <p:cNvGrpSpPr/>
        <p:nvPr/>
      </p:nvGrpSpPr>
      <p:grpSpPr>
        <a:xfrm>
          <a:off x="0" y="0"/>
          <a:ext cx="0" cy="0"/>
          <a:chOff x="0" y="0"/>
          <a:chExt cx="0" cy="0"/>
        </a:xfrm>
      </p:grpSpPr>
      <p:pic>
        <p:nvPicPr>
          <p:cNvPr id="6" name="Google Shape;6;p109"/>
          <p:cNvPicPr preferRelativeResize="0"/>
          <p:nvPr/>
        </p:nvPicPr>
        <p:blipFill rotWithShape="1">
          <a:blip r:embed="rId20">
            <a:alphaModFix/>
          </a:blip>
          <a:srcRect l="3613"/>
          <a:stretch/>
        </p:blipFill>
        <p:spPr>
          <a:xfrm>
            <a:off x="0" y="2669685"/>
            <a:ext cx="4037012" cy="4188315"/>
          </a:xfrm>
          <a:prstGeom prst="rect">
            <a:avLst/>
          </a:prstGeom>
          <a:noFill/>
          <a:ln>
            <a:noFill/>
          </a:ln>
        </p:spPr>
      </p:pic>
      <p:pic>
        <p:nvPicPr>
          <p:cNvPr id="7" name="Google Shape;7;p109"/>
          <p:cNvPicPr preferRelativeResize="0"/>
          <p:nvPr/>
        </p:nvPicPr>
        <p:blipFill rotWithShape="1">
          <a:blip r:embed="rId21">
            <a:alphaModFix/>
          </a:blip>
          <a:srcRect l="35640"/>
          <a:stretch/>
        </p:blipFill>
        <p:spPr>
          <a:xfrm>
            <a:off x="0" y="2892347"/>
            <a:ext cx="1522412" cy="2365453"/>
          </a:xfrm>
          <a:prstGeom prst="rect">
            <a:avLst/>
          </a:prstGeom>
          <a:noFill/>
          <a:ln>
            <a:noFill/>
          </a:ln>
        </p:spPr>
      </p:pic>
      <p:sp>
        <p:nvSpPr>
          <p:cNvPr id="8" name="Google Shape;8;p109"/>
          <p:cNvSpPr/>
          <p:nvPr/>
        </p:nvSpPr>
        <p:spPr>
          <a:xfrm>
            <a:off x="8609012" y="1676400"/>
            <a:ext cx="2819400" cy="2819400"/>
          </a:xfrm>
          <a:prstGeom prst="ellipse">
            <a:avLst/>
          </a:prstGeom>
          <a:gradFill>
            <a:gsLst>
              <a:gs pos="0">
                <a:srgbClr val="4CB9C3">
                  <a:alpha val="6666"/>
                </a:srgbClr>
              </a:gs>
              <a:gs pos="36000">
                <a:srgbClr val="4CB9C3">
                  <a:alpha val="5882"/>
                </a:srgbClr>
              </a:gs>
              <a:gs pos="69000">
                <a:srgbClr val="4CB9C3">
                  <a:alpha val="0"/>
                </a:srgbClr>
              </a:gs>
              <a:gs pos="100000">
                <a:srgbClr val="4CB9C3">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 name="Google Shape;9;p109"/>
          <p:cNvPicPr preferRelativeResize="0"/>
          <p:nvPr/>
        </p:nvPicPr>
        <p:blipFill rotWithShape="1">
          <a:blip r:embed="rId22">
            <a:alphaModFix/>
          </a:blip>
          <a:srcRect t="28812"/>
          <a:stretch/>
        </p:blipFill>
        <p:spPr>
          <a:xfrm>
            <a:off x="7999412" y="0"/>
            <a:ext cx="1603387" cy="1141407"/>
          </a:xfrm>
          <a:prstGeom prst="rect">
            <a:avLst/>
          </a:prstGeom>
          <a:noFill/>
          <a:ln>
            <a:noFill/>
          </a:ln>
        </p:spPr>
      </p:pic>
      <p:pic>
        <p:nvPicPr>
          <p:cNvPr id="10" name="Google Shape;10;p109"/>
          <p:cNvPicPr preferRelativeResize="0"/>
          <p:nvPr/>
        </p:nvPicPr>
        <p:blipFill rotWithShape="1">
          <a:blip r:embed="rId23">
            <a:alphaModFix/>
          </a:blip>
          <a:srcRect b="23320"/>
          <a:stretch/>
        </p:blipFill>
        <p:spPr>
          <a:xfrm>
            <a:off x="8605878" y="6096000"/>
            <a:ext cx="993734" cy="762000"/>
          </a:xfrm>
          <a:prstGeom prst="rect">
            <a:avLst/>
          </a:prstGeom>
          <a:noFill/>
          <a:ln>
            <a:noFill/>
          </a:ln>
        </p:spPr>
      </p:pic>
      <p:sp>
        <p:nvSpPr>
          <p:cNvPr id="11" name="Google Shape;11;p109"/>
          <p:cNvSpPr/>
          <p:nvPr/>
        </p:nvSpPr>
        <p:spPr>
          <a:xfrm>
            <a:off x="10437812" y="0"/>
            <a:ext cx="685800" cy="1143000"/>
          </a:xfrm>
          <a:prstGeom prst="rect">
            <a:avLst/>
          </a:prstGeom>
          <a:solidFill>
            <a:schemeClr val="accent1"/>
          </a:solidFill>
          <a:ln>
            <a:noFill/>
          </a:ln>
          <a:effectLst>
            <a:outerShdw blurRad="38100" dist="25400" dir="5400000" rotWithShape="0">
              <a:srgbClr val="000000">
                <a:alpha val="4470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109"/>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lt2"/>
              </a:buClr>
              <a:buSzPts val="4200"/>
              <a:buFont typeface="Century Gothic"/>
              <a:buNone/>
              <a:defRPr sz="4200" b="0" i="0" u="none" strike="noStrike" cap="none">
                <a:solidFill>
                  <a:schemeClr val="lt2"/>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lt2"/>
                </a:solidFill>
              </a:defRPr>
            </a:lvl2pPr>
            <a:lvl3pPr marR="0" lvl="2" algn="l" rtl="0">
              <a:spcBef>
                <a:spcPts val="0"/>
              </a:spcBef>
              <a:spcAft>
                <a:spcPts val="0"/>
              </a:spcAft>
              <a:buSzPts val="1400"/>
              <a:buNone/>
              <a:defRPr sz="1800" b="0" i="0" u="none" strike="noStrike" cap="none">
                <a:solidFill>
                  <a:schemeClr val="lt2"/>
                </a:solidFill>
              </a:defRPr>
            </a:lvl3pPr>
            <a:lvl4pPr marR="0" lvl="3" algn="l" rtl="0">
              <a:spcBef>
                <a:spcPts val="0"/>
              </a:spcBef>
              <a:spcAft>
                <a:spcPts val="0"/>
              </a:spcAft>
              <a:buSzPts val="1400"/>
              <a:buNone/>
              <a:defRPr sz="1800" b="0" i="0" u="none" strike="noStrike" cap="none">
                <a:solidFill>
                  <a:schemeClr val="lt2"/>
                </a:solidFill>
              </a:defRPr>
            </a:lvl4pPr>
            <a:lvl5pPr marR="0" lvl="4" algn="l" rtl="0">
              <a:spcBef>
                <a:spcPts val="0"/>
              </a:spcBef>
              <a:spcAft>
                <a:spcPts val="0"/>
              </a:spcAft>
              <a:buSzPts val="1400"/>
              <a:buNone/>
              <a:defRPr sz="1800" b="0" i="0" u="none" strike="noStrike" cap="none">
                <a:solidFill>
                  <a:schemeClr val="lt2"/>
                </a:solidFill>
              </a:defRPr>
            </a:lvl5pPr>
            <a:lvl6pPr marR="0" lvl="5" algn="l" rtl="0">
              <a:spcBef>
                <a:spcPts val="0"/>
              </a:spcBef>
              <a:spcAft>
                <a:spcPts val="0"/>
              </a:spcAft>
              <a:buSzPts val="1400"/>
              <a:buNone/>
              <a:defRPr sz="1800" b="0" i="0" u="none" strike="noStrike" cap="none">
                <a:solidFill>
                  <a:schemeClr val="lt2"/>
                </a:solidFill>
              </a:defRPr>
            </a:lvl6pPr>
            <a:lvl7pPr marR="0" lvl="6" algn="l" rtl="0">
              <a:spcBef>
                <a:spcPts val="0"/>
              </a:spcBef>
              <a:spcAft>
                <a:spcPts val="0"/>
              </a:spcAft>
              <a:buSzPts val="1400"/>
              <a:buNone/>
              <a:defRPr sz="1800" b="0" i="0" u="none" strike="noStrike" cap="none">
                <a:solidFill>
                  <a:schemeClr val="lt2"/>
                </a:solidFill>
              </a:defRPr>
            </a:lvl7pPr>
            <a:lvl8pPr marR="0" lvl="7" algn="l" rtl="0">
              <a:spcBef>
                <a:spcPts val="0"/>
              </a:spcBef>
              <a:spcAft>
                <a:spcPts val="0"/>
              </a:spcAft>
              <a:buSzPts val="1400"/>
              <a:buNone/>
              <a:defRPr sz="1800" b="0" i="0" u="none" strike="noStrike" cap="none">
                <a:solidFill>
                  <a:schemeClr val="lt2"/>
                </a:solidFill>
              </a:defRPr>
            </a:lvl8pPr>
            <a:lvl9pPr marR="0" lvl="8" algn="l" rtl="0">
              <a:spcBef>
                <a:spcPts val="0"/>
              </a:spcBef>
              <a:spcAft>
                <a:spcPts val="0"/>
              </a:spcAft>
              <a:buSzPts val="1400"/>
              <a:buNone/>
              <a:defRPr sz="1800" b="0" i="0" u="none" strike="noStrike" cap="none">
                <a:solidFill>
                  <a:schemeClr val="lt2"/>
                </a:solidFill>
              </a:defRPr>
            </a:lvl9pPr>
          </a:lstStyle>
          <a:p>
            <a:endParaRPr/>
          </a:p>
        </p:txBody>
      </p:sp>
      <p:sp>
        <p:nvSpPr>
          <p:cNvPr id="13" name="Google Shape;13;p109"/>
          <p:cNvSpPr txBox="1">
            <a:spLocks noGrp="1"/>
          </p:cNvSpPr>
          <p:nvPr>
            <p:ph type="body" idx="1"/>
          </p:nvPr>
        </p:nvSpPr>
        <p:spPr>
          <a:xfrm>
            <a:off x="1103312" y="2052918"/>
            <a:ext cx="8946541" cy="4195481"/>
          </a:xfrm>
          <a:prstGeom prst="rect">
            <a:avLst/>
          </a:prstGeom>
          <a:noFill/>
          <a:ln>
            <a:noFill/>
          </a:ln>
        </p:spPr>
        <p:txBody>
          <a:bodyPr spcFirstLastPara="1" wrap="square" lIns="91425" tIns="45700" rIns="91425" bIns="45700" anchor="t" anchorCtr="0">
            <a:normAutofit/>
          </a:bodyPr>
          <a:lstStyle>
            <a:lvl1pPr marL="457200" marR="0" lvl="0" indent="-330200" algn="l" rtl="0">
              <a:spcBef>
                <a:spcPts val="1000"/>
              </a:spcBef>
              <a:spcAft>
                <a:spcPts val="0"/>
              </a:spcAft>
              <a:buClr>
                <a:srgbClr val="86D1D8"/>
              </a:buClr>
              <a:buSzPts val="1600"/>
              <a:buFont typeface="Noto Sans Symbols"/>
              <a:buChar char="►"/>
              <a:defRPr sz="2000" b="0" i="0" u="none" strike="noStrike" cap="none">
                <a:solidFill>
                  <a:schemeClr val="lt1"/>
                </a:solidFill>
                <a:latin typeface="Century Gothic"/>
                <a:ea typeface="Century Gothic"/>
                <a:cs typeface="Century Gothic"/>
                <a:sym typeface="Century Gothic"/>
              </a:defRPr>
            </a:lvl1pPr>
            <a:lvl2pPr marL="914400" marR="0" lvl="1" indent="-320040" algn="l" rtl="0">
              <a:spcBef>
                <a:spcPts val="1000"/>
              </a:spcBef>
              <a:spcAft>
                <a:spcPts val="0"/>
              </a:spcAft>
              <a:buClr>
                <a:srgbClr val="86D1D8"/>
              </a:buClr>
              <a:buSzPts val="1440"/>
              <a:buFont typeface="Noto Sans Symbols"/>
              <a:buChar char="►"/>
              <a:defRPr sz="1800" b="0" i="0" u="none" strike="noStrike" cap="none">
                <a:solidFill>
                  <a:schemeClr val="lt1"/>
                </a:solidFill>
                <a:latin typeface="Century Gothic"/>
                <a:ea typeface="Century Gothic"/>
                <a:cs typeface="Century Gothic"/>
                <a:sym typeface="Century Gothic"/>
              </a:defRPr>
            </a:lvl2pPr>
            <a:lvl3pPr marL="1371600" marR="0" lvl="2" indent="-309880" algn="l" rtl="0">
              <a:spcBef>
                <a:spcPts val="1000"/>
              </a:spcBef>
              <a:spcAft>
                <a:spcPts val="0"/>
              </a:spcAft>
              <a:buClr>
                <a:srgbClr val="86D1D8"/>
              </a:buClr>
              <a:buSzPts val="1280"/>
              <a:buFont typeface="Noto Sans Symbols"/>
              <a:buChar char="►"/>
              <a:defRPr sz="1600" b="0" i="0" u="none" strike="noStrike" cap="none">
                <a:solidFill>
                  <a:schemeClr val="lt1"/>
                </a:solidFill>
                <a:latin typeface="Century Gothic"/>
                <a:ea typeface="Century Gothic"/>
                <a:cs typeface="Century Gothic"/>
                <a:sym typeface="Century Gothic"/>
              </a:defRPr>
            </a:lvl3pPr>
            <a:lvl4pPr marL="1828800" marR="0" lvl="3" indent="-299719" algn="l" rtl="0">
              <a:spcBef>
                <a:spcPts val="1000"/>
              </a:spcBef>
              <a:spcAft>
                <a:spcPts val="0"/>
              </a:spcAft>
              <a:buClr>
                <a:srgbClr val="86D1D8"/>
              </a:buClr>
              <a:buSzPts val="1120"/>
              <a:buFont typeface="Noto Sans Symbols"/>
              <a:buChar char="►"/>
              <a:defRPr sz="1400" b="0" i="0" u="none" strike="noStrike" cap="none">
                <a:solidFill>
                  <a:schemeClr val="lt1"/>
                </a:solidFill>
                <a:latin typeface="Century Gothic"/>
                <a:ea typeface="Century Gothic"/>
                <a:cs typeface="Century Gothic"/>
                <a:sym typeface="Century Gothic"/>
              </a:defRPr>
            </a:lvl4pPr>
            <a:lvl5pPr marL="2286000" marR="0" lvl="4" indent="-299720" algn="l" rtl="0">
              <a:spcBef>
                <a:spcPts val="1000"/>
              </a:spcBef>
              <a:spcAft>
                <a:spcPts val="0"/>
              </a:spcAft>
              <a:buClr>
                <a:srgbClr val="86D1D8"/>
              </a:buClr>
              <a:buSzPts val="1120"/>
              <a:buFont typeface="Noto Sans Symbols"/>
              <a:buChar char="►"/>
              <a:defRPr sz="1400" b="0" i="0" u="none" strike="noStrike" cap="none">
                <a:solidFill>
                  <a:schemeClr val="lt1"/>
                </a:solidFill>
                <a:latin typeface="Century Gothic"/>
                <a:ea typeface="Century Gothic"/>
                <a:cs typeface="Century Gothic"/>
                <a:sym typeface="Century Gothic"/>
              </a:defRPr>
            </a:lvl5pPr>
            <a:lvl6pPr marL="2743200" marR="0" lvl="5" indent="-299720" algn="l" rtl="0">
              <a:spcBef>
                <a:spcPts val="1000"/>
              </a:spcBef>
              <a:spcAft>
                <a:spcPts val="0"/>
              </a:spcAft>
              <a:buClr>
                <a:srgbClr val="86D1D8"/>
              </a:buClr>
              <a:buSzPts val="1120"/>
              <a:buFont typeface="Noto Sans Symbols"/>
              <a:buChar char="►"/>
              <a:defRPr sz="1400" b="0" i="0" u="none" strike="noStrike" cap="none">
                <a:solidFill>
                  <a:schemeClr val="lt1"/>
                </a:solidFill>
                <a:latin typeface="Century Gothic"/>
                <a:ea typeface="Century Gothic"/>
                <a:cs typeface="Century Gothic"/>
                <a:sym typeface="Century Gothic"/>
              </a:defRPr>
            </a:lvl6pPr>
            <a:lvl7pPr marL="3200400" marR="0" lvl="6" indent="-299720" algn="l" rtl="0">
              <a:spcBef>
                <a:spcPts val="1000"/>
              </a:spcBef>
              <a:spcAft>
                <a:spcPts val="0"/>
              </a:spcAft>
              <a:buClr>
                <a:srgbClr val="86D1D8"/>
              </a:buClr>
              <a:buSzPts val="1120"/>
              <a:buFont typeface="Noto Sans Symbols"/>
              <a:buChar char="►"/>
              <a:defRPr sz="1400" b="0" i="0" u="none" strike="noStrike" cap="none">
                <a:solidFill>
                  <a:schemeClr val="lt1"/>
                </a:solidFill>
                <a:latin typeface="Century Gothic"/>
                <a:ea typeface="Century Gothic"/>
                <a:cs typeface="Century Gothic"/>
                <a:sym typeface="Century Gothic"/>
              </a:defRPr>
            </a:lvl7pPr>
            <a:lvl8pPr marL="3657600" marR="0" lvl="7" indent="-299720" algn="l" rtl="0">
              <a:spcBef>
                <a:spcPts val="1000"/>
              </a:spcBef>
              <a:spcAft>
                <a:spcPts val="0"/>
              </a:spcAft>
              <a:buClr>
                <a:srgbClr val="86D1D8"/>
              </a:buClr>
              <a:buSzPts val="1120"/>
              <a:buFont typeface="Noto Sans Symbols"/>
              <a:buChar char="►"/>
              <a:defRPr sz="1400" b="0" i="0" u="none" strike="noStrike" cap="none">
                <a:solidFill>
                  <a:schemeClr val="lt1"/>
                </a:solidFill>
                <a:latin typeface="Century Gothic"/>
                <a:ea typeface="Century Gothic"/>
                <a:cs typeface="Century Gothic"/>
                <a:sym typeface="Century Gothic"/>
              </a:defRPr>
            </a:lvl8pPr>
            <a:lvl9pPr marL="4114800" marR="0" lvl="8" indent="-299720" algn="l" rtl="0">
              <a:spcBef>
                <a:spcPts val="1000"/>
              </a:spcBef>
              <a:spcAft>
                <a:spcPts val="0"/>
              </a:spcAft>
              <a:buClr>
                <a:srgbClr val="86D1D8"/>
              </a:buClr>
              <a:buSzPts val="1120"/>
              <a:buFont typeface="Noto Sans Symbols"/>
              <a:buChar char="►"/>
              <a:defRPr sz="1400" b="0" i="0" u="none" strike="noStrike" cap="none">
                <a:solidFill>
                  <a:schemeClr val="lt1"/>
                </a:solidFill>
                <a:latin typeface="Century Gothic"/>
                <a:ea typeface="Century Gothic"/>
                <a:cs typeface="Century Gothic"/>
                <a:sym typeface="Century Gothic"/>
              </a:defRPr>
            </a:lvl9pPr>
          </a:lstStyle>
          <a:p>
            <a:endParaRPr/>
          </a:p>
        </p:txBody>
      </p:sp>
      <p:sp>
        <p:nvSpPr>
          <p:cNvPr id="14" name="Google Shape;14;p109"/>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100" b="0" i="0" u="none" strike="noStrike" cap="none">
                <a:solidFill>
                  <a:schemeClr val="lt1"/>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2pPr>
            <a:lvl3pPr marR="0" lvl="2"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3pPr>
            <a:lvl4pPr marR="0" lvl="3"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4pPr>
            <a:lvl5pPr marR="0" lvl="4"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5pPr>
            <a:lvl6pPr marR="0" lvl="5"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6pPr>
            <a:lvl7pPr marR="0" lvl="6"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7pPr>
            <a:lvl8pPr marR="0" lvl="7"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8pPr>
            <a:lvl9pPr marR="0" lvl="8"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5" name="Google Shape;15;p109"/>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100" b="0" i="0" u="none" strike="noStrike" cap="none">
                <a:solidFill>
                  <a:schemeClr val="lt1"/>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2pPr>
            <a:lvl3pPr marR="0" lvl="2"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3pPr>
            <a:lvl4pPr marR="0" lvl="3"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4pPr>
            <a:lvl5pPr marR="0" lvl="4"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5pPr>
            <a:lvl6pPr marR="0" lvl="5"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6pPr>
            <a:lvl7pPr marR="0" lvl="6"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7pPr>
            <a:lvl8pPr marR="0" lvl="7"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8pPr>
            <a:lvl9pPr marR="0" lvl="8"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6" name="Google Shape;16;p109"/>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marR="0" lvl="0" indent="0" algn="ctr" rtl="0">
              <a:spcBef>
                <a:spcPts val="0"/>
              </a:spcBef>
              <a:buNone/>
              <a:defRPr sz="2800" b="0" i="0" u="none" strike="noStrike" cap="none">
                <a:solidFill>
                  <a:schemeClr val="lt1"/>
                </a:solidFill>
                <a:latin typeface="Century Gothic"/>
                <a:ea typeface="Century Gothic"/>
                <a:cs typeface="Century Gothic"/>
                <a:sym typeface="Century Gothic"/>
              </a:defRPr>
            </a:lvl1pPr>
            <a:lvl2pPr marL="0" marR="0" lvl="1" indent="0" algn="ctr" rtl="0">
              <a:spcBef>
                <a:spcPts val="0"/>
              </a:spcBef>
              <a:buNone/>
              <a:defRPr sz="2800" b="0" i="0" u="none" strike="noStrike" cap="none">
                <a:solidFill>
                  <a:schemeClr val="lt1"/>
                </a:solidFill>
                <a:latin typeface="Century Gothic"/>
                <a:ea typeface="Century Gothic"/>
                <a:cs typeface="Century Gothic"/>
                <a:sym typeface="Century Gothic"/>
              </a:defRPr>
            </a:lvl2pPr>
            <a:lvl3pPr marL="0" marR="0" lvl="2" indent="0" algn="ctr" rtl="0">
              <a:spcBef>
                <a:spcPts val="0"/>
              </a:spcBef>
              <a:buNone/>
              <a:defRPr sz="2800" b="0" i="0" u="none" strike="noStrike" cap="none">
                <a:solidFill>
                  <a:schemeClr val="lt1"/>
                </a:solidFill>
                <a:latin typeface="Century Gothic"/>
                <a:ea typeface="Century Gothic"/>
                <a:cs typeface="Century Gothic"/>
                <a:sym typeface="Century Gothic"/>
              </a:defRPr>
            </a:lvl3pPr>
            <a:lvl4pPr marL="0" marR="0" lvl="3" indent="0" algn="ctr" rtl="0">
              <a:spcBef>
                <a:spcPts val="0"/>
              </a:spcBef>
              <a:buNone/>
              <a:defRPr sz="2800" b="0" i="0" u="none" strike="noStrike" cap="none">
                <a:solidFill>
                  <a:schemeClr val="lt1"/>
                </a:solidFill>
                <a:latin typeface="Century Gothic"/>
                <a:ea typeface="Century Gothic"/>
                <a:cs typeface="Century Gothic"/>
                <a:sym typeface="Century Gothic"/>
              </a:defRPr>
            </a:lvl4pPr>
            <a:lvl5pPr marL="0" marR="0" lvl="4" indent="0" algn="ctr" rtl="0">
              <a:spcBef>
                <a:spcPts val="0"/>
              </a:spcBef>
              <a:buNone/>
              <a:defRPr sz="2800" b="0" i="0" u="none" strike="noStrike" cap="none">
                <a:solidFill>
                  <a:schemeClr val="lt1"/>
                </a:solidFill>
                <a:latin typeface="Century Gothic"/>
                <a:ea typeface="Century Gothic"/>
                <a:cs typeface="Century Gothic"/>
                <a:sym typeface="Century Gothic"/>
              </a:defRPr>
            </a:lvl5pPr>
            <a:lvl6pPr marL="0" marR="0" lvl="5" indent="0" algn="ctr" rtl="0">
              <a:spcBef>
                <a:spcPts val="0"/>
              </a:spcBef>
              <a:buNone/>
              <a:defRPr sz="2800" b="0" i="0" u="none" strike="noStrike" cap="none">
                <a:solidFill>
                  <a:schemeClr val="lt1"/>
                </a:solidFill>
                <a:latin typeface="Century Gothic"/>
                <a:ea typeface="Century Gothic"/>
                <a:cs typeface="Century Gothic"/>
                <a:sym typeface="Century Gothic"/>
              </a:defRPr>
            </a:lvl6pPr>
            <a:lvl7pPr marL="0" marR="0" lvl="6" indent="0" algn="ctr" rtl="0">
              <a:spcBef>
                <a:spcPts val="0"/>
              </a:spcBef>
              <a:buNone/>
              <a:defRPr sz="2800" b="0" i="0" u="none" strike="noStrike" cap="none">
                <a:solidFill>
                  <a:schemeClr val="lt1"/>
                </a:solidFill>
                <a:latin typeface="Century Gothic"/>
                <a:ea typeface="Century Gothic"/>
                <a:cs typeface="Century Gothic"/>
                <a:sym typeface="Century Gothic"/>
              </a:defRPr>
            </a:lvl7pPr>
            <a:lvl8pPr marL="0" marR="0" lvl="7" indent="0" algn="ctr" rtl="0">
              <a:spcBef>
                <a:spcPts val="0"/>
              </a:spcBef>
              <a:buNone/>
              <a:defRPr sz="2800" b="0" i="0" u="none" strike="noStrike" cap="none">
                <a:solidFill>
                  <a:schemeClr val="lt1"/>
                </a:solidFill>
                <a:latin typeface="Century Gothic"/>
                <a:ea typeface="Century Gothic"/>
                <a:cs typeface="Century Gothic"/>
                <a:sym typeface="Century Gothic"/>
              </a:defRPr>
            </a:lvl8pPr>
            <a:lvl9pPr marL="0" marR="0" lvl="8" indent="0" algn="ctr" rtl="0">
              <a:spcBef>
                <a:spcPts val="0"/>
              </a:spcBef>
              <a:buNone/>
              <a:defRPr sz="2800" b="0" i="0" u="none" strike="noStrike" cap="none">
                <a:solidFill>
                  <a:schemeClr val="lt1"/>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cran.r-project.org/"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hyperlink" Target="https://posit.co/download/rstudio-desktop/"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33.xml.rels><?xml version="1.0" encoding="UTF-8" standalone="yes"?>
<Relationships xmlns="http://schemas.openxmlformats.org/package/2006/relationships"><Relationship Id="rId8" Type="http://schemas.openxmlformats.org/officeDocument/2006/relationships/hyperlink" Target="https://www.zevross.com/blog/2019/05/01/unscientific-list-of-popular-r-packages-for-spatial-analysis/" TargetMode="External"/><Relationship Id="rId3" Type="http://schemas.openxmlformats.org/officeDocument/2006/relationships/image" Target="../media/image24.png"/><Relationship Id="rId7" Type="http://schemas.openxmlformats.org/officeDocument/2006/relationships/hyperlink" Target="https://cran.r-project.org/web/views/Spatial.html" TargetMode="External"/><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hyperlink" Target="https://www.computerworld.com/article/2921176/great-r-packages-for-data-import-wrangling-visualization.html" TargetMode="External"/><Relationship Id="rId5" Type="http://schemas.openxmlformats.org/officeDocument/2006/relationships/hyperlink" Target="https://support.rstudio.com/hc/en-us/articles/201057987-Quick-list-of-useful-R-packages" TargetMode="External"/><Relationship Id="rId4" Type="http://schemas.openxmlformats.org/officeDocument/2006/relationships/image" Target="../media/image25.png"/><Relationship Id="rId9" Type="http://schemas.openxmlformats.org/officeDocument/2006/relationships/hyperlink" Target="https://urbandemographics.blogspot.com/2018/08/assorted-r-packages-for-spatial-analysis.html" TargetMode="External"/></Relationships>
</file>

<file path=ppt/slides/_rels/slide3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78.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7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83.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87.xml"/><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8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88.xml"/><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90.xml.rels><?xml version="1.0" encoding="UTF-8" standalone="yes"?>
<Relationships xmlns="http://schemas.openxmlformats.org/package/2006/relationships"><Relationship Id="rId3" Type="http://schemas.openxmlformats.org/officeDocument/2006/relationships/hyperlink" Target="https://en.wikipedia.org/wiki/R_(programming_language)" TargetMode="External"/><Relationship Id="rId2" Type="http://schemas.openxmlformats.org/officeDocument/2006/relationships/notesSlide" Target="../notesSlides/notesSlide89.xml"/><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9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93.xml"/><Relationship Id="rId1" Type="http://schemas.openxmlformats.org/officeDocument/2006/relationships/slideLayout" Target="../slideLayouts/slideLayout2.xml"/><Relationship Id="rId5" Type="http://schemas.openxmlformats.org/officeDocument/2006/relationships/image" Target="../media/image61.png"/><Relationship Id="rId4" Type="http://schemas.openxmlformats.org/officeDocument/2006/relationships/image" Target="../media/image60.png"/></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hyperlink" Target="https://www.guru99.com/r-apply-sapply-tapply.html" TargetMode="External"/><Relationship Id="rId2" Type="http://schemas.openxmlformats.org/officeDocument/2006/relationships/notesSlide" Target="../notesSlides/notesSlide112.xml"/><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1"/>
          <p:cNvSpPr txBox="1">
            <a:spLocks noGrp="1"/>
          </p:cNvSpPr>
          <p:nvPr>
            <p:ph type="ctrTitle"/>
          </p:nvPr>
        </p:nvSpPr>
        <p:spPr>
          <a:xfrm>
            <a:off x="884026" y="946075"/>
            <a:ext cx="11068500" cy="17571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lt2"/>
              </a:buClr>
              <a:buSzPts val="5400"/>
              <a:buFont typeface="Century Gothic"/>
              <a:buNone/>
            </a:pPr>
            <a:r>
              <a:rPr lang="en-US" sz="5400"/>
              <a:t>R Programming Training (Basic)</a:t>
            </a:r>
            <a:endParaRPr/>
          </a:p>
        </p:txBody>
      </p:sp>
      <p:sp>
        <p:nvSpPr>
          <p:cNvPr id="148" name="Google Shape;148;p1"/>
          <p:cNvSpPr txBox="1"/>
          <p:nvPr/>
        </p:nvSpPr>
        <p:spPr>
          <a:xfrm>
            <a:off x="1035567" y="2898948"/>
            <a:ext cx="82464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0" i="0" u="none" strike="noStrike" cap="none">
                <a:solidFill>
                  <a:srgbClr val="EC5453"/>
                </a:solidFill>
                <a:latin typeface="Century Gothic"/>
                <a:ea typeface="Century Gothic"/>
                <a:cs typeface="Century Gothic"/>
                <a:sym typeface="Century Gothic"/>
              </a:rPr>
              <a:t>Introduction to R</a:t>
            </a:r>
            <a:endParaRPr sz="26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4"/>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a:t>What is R Programming Language?</a:t>
            </a:r>
            <a:br>
              <a:rPr lang="en-US"/>
            </a:br>
            <a:endParaRPr/>
          </a:p>
        </p:txBody>
      </p:sp>
      <p:sp>
        <p:nvSpPr>
          <p:cNvPr id="160" name="Google Shape;160;p4"/>
          <p:cNvSpPr txBox="1">
            <a:spLocks noGrp="1"/>
          </p:cNvSpPr>
          <p:nvPr>
            <p:ph type="body" idx="1"/>
          </p:nvPr>
        </p:nvSpPr>
        <p:spPr>
          <a:xfrm>
            <a:off x="846676" y="1320800"/>
            <a:ext cx="10353000" cy="5342400"/>
          </a:xfrm>
          <a:prstGeom prst="rect">
            <a:avLst/>
          </a:prstGeom>
          <a:noFill/>
          <a:ln>
            <a:noFill/>
          </a:ln>
        </p:spPr>
        <p:txBody>
          <a:bodyPr spcFirstLastPara="1" wrap="square" lIns="91425" tIns="45700" rIns="91425" bIns="45700" anchor="t" anchorCtr="0">
            <a:normAutofit lnSpcReduction="10000"/>
          </a:bodyPr>
          <a:lstStyle/>
          <a:p>
            <a:pPr marL="342900" lvl="0" indent="-342900" algn="l" rtl="0">
              <a:spcBef>
                <a:spcPts val="0"/>
              </a:spcBef>
              <a:spcAft>
                <a:spcPts val="0"/>
              </a:spcAft>
              <a:buSzPts val="1600"/>
              <a:buChar char="►"/>
            </a:pPr>
            <a:r>
              <a:rPr lang="en-US"/>
              <a:t>R is an </a:t>
            </a:r>
            <a:r>
              <a:rPr lang="en-US">
                <a:solidFill>
                  <a:srgbClr val="FF9900"/>
                </a:solidFill>
              </a:rPr>
              <a:t>open-source programming</a:t>
            </a:r>
            <a:r>
              <a:rPr lang="en-US"/>
              <a:t> language that facilitates statistical computing and graphical libraries.</a:t>
            </a:r>
            <a:endParaRPr/>
          </a:p>
          <a:p>
            <a:pPr marL="342900" lvl="0" indent="-342900" algn="l" rtl="0">
              <a:spcBef>
                <a:spcPts val="1000"/>
              </a:spcBef>
              <a:spcAft>
                <a:spcPts val="0"/>
              </a:spcAft>
              <a:buSzPts val="1600"/>
              <a:buChar char="►"/>
            </a:pPr>
            <a:r>
              <a:rPr lang="en-US"/>
              <a:t>Being open-source, R enjoys community support of avid developers who work on releasing new packages, updating R and making it a steadfast programming package for Data Science.</a:t>
            </a:r>
            <a:endParaRPr/>
          </a:p>
          <a:p>
            <a:pPr marL="342900" lvl="0" indent="-342900" algn="l" rtl="0">
              <a:spcBef>
                <a:spcPts val="1000"/>
              </a:spcBef>
              <a:spcAft>
                <a:spcPts val="0"/>
              </a:spcAft>
              <a:buSzPts val="1600"/>
              <a:buChar char="►"/>
            </a:pPr>
            <a:r>
              <a:rPr lang="en-US"/>
              <a:t>With the help of R, one </a:t>
            </a:r>
            <a:r>
              <a:rPr lang="en-US">
                <a:solidFill>
                  <a:srgbClr val="FF9900"/>
                </a:solidFill>
              </a:rPr>
              <a:t>can perform various statistical operations that any other statistical program can handle</a:t>
            </a:r>
            <a:r>
              <a:rPr lang="en-US"/>
              <a:t>.</a:t>
            </a:r>
            <a:endParaRPr/>
          </a:p>
          <a:p>
            <a:pPr marL="342900" lvl="0" indent="-342900" algn="l" rtl="0">
              <a:spcBef>
                <a:spcPts val="1000"/>
              </a:spcBef>
              <a:spcAft>
                <a:spcPts val="0"/>
              </a:spcAft>
              <a:buSzPts val="1600"/>
              <a:buChar char="►"/>
            </a:pPr>
            <a:r>
              <a:rPr lang="en-US"/>
              <a:t>You can obtain it for free from the website www.r-project.org.</a:t>
            </a:r>
            <a:endParaRPr/>
          </a:p>
          <a:p>
            <a:pPr marL="342900" lvl="0" indent="-342900" algn="l" rtl="0">
              <a:spcBef>
                <a:spcPts val="1000"/>
              </a:spcBef>
              <a:spcAft>
                <a:spcPts val="0"/>
              </a:spcAft>
              <a:buSzPts val="1600"/>
              <a:buChar char="►"/>
            </a:pPr>
            <a:r>
              <a:rPr lang="en-US"/>
              <a:t>It is driven by command lines.</a:t>
            </a:r>
            <a:endParaRPr/>
          </a:p>
          <a:p>
            <a:pPr marL="342900" lvl="0" indent="-342900" algn="l" rtl="0">
              <a:spcBef>
                <a:spcPts val="1000"/>
              </a:spcBef>
              <a:spcAft>
                <a:spcPts val="0"/>
              </a:spcAft>
              <a:buSzPts val="1600"/>
              <a:buChar char="►"/>
            </a:pPr>
            <a:r>
              <a:rPr lang="en-US"/>
              <a:t>Each command is executed when the user enters them into the prompt.</a:t>
            </a:r>
            <a:endParaRPr/>
          </a:p>
          <a:p>
            <a:pPr marL="342900" lvl="0" indent="-342900" algn="l" rtl="0">
              <a:spcBef>
                <a:spcPts val="1000"/>
              </a:spcBef>
              <a:spcAft>
                <a:spcPts val="0"/>
              </a:spcAft>
              <a:buSzPts val="1440"/>
              <a:buChar char="►"/>
            </a:pPr>
            <a:r>
              <a:rPr lang="en-US"/>
              <a:t>The base installation provides hundred of data management, statistical and graphical functions but some of its most powerful features come from packages (extension)</a:t>
            </a:r>
            <a:endParaRPr/>
          </a:p>
          <a:p>
            <a:pPr marL="342900" lvl="0" indent="-342900" algn="l" rtl="0">
              <a:spcBef>
                <a:spcPts val="1000"/>
              </a:spcBef>
              <a:spcAft>
                <a:spcPts val="0"/>
              </a:spcAft>
              <a:buSzPts val="1600"/>
              <a:buChar char="►"/>
            </a:pPr>
            <a:r>
              <a:rPr lang="en-US"/>
              <a:t>All the packages are available for free at the R project website called CRAN. It contains over </a:t>
            </a:r>
            <a:r>
              <a:rPr lang="en-US">
                <a:solidFill>
                  <a:srgbClr val="FF9900"/>
                </a:solidFill>
              </a:rPr>
              <a:t>18,000 packages in R</a:t>
            </a:r>
            <a:endParaRPr>
              <a:solidFill>
                <a:srgbClr val="FF99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5"/>
          <p:cNvSpPr txBox="1">
            <a:spLocks noGrp="1"/>
          </p:cNvSpPr>
          <p:nvPr>
            <p:ph type="title"/>
          </p:nvPr>
        </p:nvSpPr>
        <p:spPr>
          <a:xfrm>
            <a:off x="130486" y="50518"/>
            <a:ext cx="9404700" cy="14004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a:t>History of R</a:t>
            </a:r>
            <a:br>
              <a:rPr lang="en-US"/>
            </a:br>
            <a:endParaRPr/>
          </a:p>
        </p:txBody>
      </p:sp>
      <p:sp>
        <p:nvSpPr>
          <p:cNvPr id="166" name="Google Shape;166;p5"/>
          <p:cNvSpPr txBox="1">
            <a:spLocks noGrp="1"/>
          </p:cNvSpPr>
          <p:nvPr>
            <p:ph type="body" idx="1"/>
          </p:nvPr>
        </p:nvSpPr>
        <p:spPr>
          <a:xfrm>
            <a:off x="227575" y="1079200"/>
            <a:ext cx="6599400" cy="4885200"/>
          </a:xfrm>
          <a:prstGeom prst="rect">
            <a:avLst/>
          </a:prstGeom>
          <a:noFill/>
          <a:ln>
            <a:noFill/>
          </a:ln>
        </p:spPr>
        <p:txBody>
          <a:bodyPr spcFirstLastPara="1" wrap="square" lIns="91425" tIns="45700" rIns="91425" bIns="45700" anchor="t" anchorCtr="0">
            <a:normAutofit fontScale="92500" lnSpcReduction="20000"/>
          </a:bodyPr>
          <a:lstStyle/>
          <a:p>
            <a:pPr marL="342900" lvl="0" indent="-335280" algn="l" rtl="0">
              <a:spcBef>
                <a:spcPts val="0"/>
              </a:spcBef>
              <a:spcAft>
                <a:spcPts val="0"/>
              </a:spcAft>
              <a:buSzPct val="80000"/>
              <a:buChar char="►"/>
            </a:pPr>
            <a:r>
              <a:rPr lang="en-US"/>
              <a:t>R was conceived at the Bell Laboratories (</a:t>
            </a:r>
            <a:r>
              <a:rPr lang="en-US">
                <a:solidFill>
                  <a:srgbClr val="FF9900"/>
                </a:solidFill>
              </a:rPr>
              <a:t>Bell Labs</a:t>
            </a:r>
            <a:r>
              <a:rPr lang="en-US"/>
              <a:t>) in New Jersey, US by </a:t>
            </a:r>
            <a:r>
              <a:rPr lang="en-US" i="1"/>
              <a:t>John Chambers, Doug Dunn, Jean McRae and Judy Schilling</a:t>
            </a:r>
            <a:r>
              <a:rPr lang="en-US"/>
              <a:t> in 1976.</a:t>
            </a:r>
            <a:endParaRPr/>
          </a:p>
          <a:p>
            <a:pPr marL="342900" lvl="0" indent="0" algn="l" rtl="0">
              <a:spcBef>
                <a:spcPts val="0"/>
              </a:spcBef>
              <a:spcAft>
                <a:spcPts val="0"/>
              </a:spcAft>
              <a:buNone/>
            </a:pPr>
            <a:endParaRPr/>
          </a:p>
          <a:p>
            <a:pPr marL="342900" lvl="0" indent="-335280" algn="l" rtl="0">
              <a:spcBef>
                <a:spcPts val="1000"/>
              </a:spcBef>
              <a:spcAft>
                <a:spcPts val="0"/>
              </a:spcAft>
              <a:buSzPct val="80000"/>
              <a:buChar char="►"/>
            </a:pPr>
            <a:r>
              <a:rPr lang="en-US"/>
              <a:t>R was developed as an extension as well as an implementation of S programming language.</a:t>
            </a:r>
            <a:endParaRPr/>
          </a:p>
          <a:p>
            <a:pPr marL="342900" lvl="0" indent="-335280" algn="l" rtl="0">
              <a:spcBef>
                <a:spcPts val="1000"/>
              </a:spcBef>
              <a:spcAft>
                <a:spcPts val="0"/>
              </a:spcAft>
              <a:buSzPct val="80000"/>
              <a:buChar char="►"/>
            </a:pPr>
            <a:r>
              <a:rPr lang="en-US"/>
              <a:t>The R project was developed by </a:t>
            </a:r>
            <a:r>
              <a:rPr lang="en-US">
                <a:solidFill>
                  <a:srgbClr val="FF9900"/>
                </a:solidFill>
              </a:rPr>
              <a:t>Ross Ihaka </a:t>
            </a:r>
            <a:r>
              <a:rPr lang="en-US"/>
              <a:t>and </a:t>
            </a:r>
            <a:r>
              <a:rPr lang="en-US">
                <a:solidFill>
                  <a:srgbClr val="FF9900"/>
                </a:solidFill>
              </a:rPr>
              <a:t>Robert Gentleman</a:t>
            </a:r>
            <a:r>
              <a:rPr lang="en-US"/>
              <a:t> and released in 1992, its first version in 1995 (</a:t>
            </a:r>
            <a:r>
              <a:rPr lang="en-US">
                <a:solidFill>
                  <a:srgbClr val="FF9900"/>
                </a:solidFill>
              </a:rPr>
              <a:t>Free and Open Source Software</a:t>
            </a:r>
            <a:r>
              <a:rPr lang="en-US"/>
              <a:t>) under </a:t>
            </a:r>
            <a:r>
              <a:rPr lang="en-US">
                <a:solidFill>
                  <a:srgbClr val="FF9900"/>
                </a:solidFill>
              </a:rPr>
              <a:t>GNU General Public License </a:t>
            </a:r>
            <a:r>
              <a:rPr lang="en-US"/>
              <a:t>and </a:t>
            </a:r>
            <a:endParaRPr/>
          </a:p>
          <a:p>
            <a:pPr marL="342900" lvl="0" indent="-325882" algn="l" rtl="0">
              <a:spcBef>
                <a:spcPts val="1000"/>
              </a:spcBef>
              <a:spcAft>
                <a:spcPts val="0"/>
              </a:spcAft>
              <a:buSzPct val="72000"/>
              <a:buChar char="►"/>
            </a:pPr>
            <a:r>
              <a:rPr lang="en-US"/>
              <a:t>The </a:t>
            </a:r>
            <a:r>
              <a:rPr lang="en-US">
                <a:solidFill>
                  <a:srgbClr val="FF9900"/>
                </a:solidFill>
              </a:rPr>
              <a:t>Comprehensive R Archive Network </a:t>
            </a:r>
            <a:r>
              <a:rPr lang="en-US"/>
              <a:t>(CRAN) was launched in 1997. CRANE stores R’s executable files, source code, documentation and packages contributed by users. It as </a:t>
            </a:r>
            <a:r>
              <a:rPr lang="en-US">
                <a:solidFill>
                  <a:srgbClr val="FF9900"/>
                </a:solidFill>
              </a:rPr>
              <a:t>more than 101 mirrors </a:t>
            </a:r>
            <a:endParaRPr>
              <a:solidFill>
                <a:srgbClr val="FF9900"/>
              </a:solidFill>
            </a:endParaRPr>
          </a:p>
          <a:p>
            <a:pPr marL="342900" lvl="0" indent="-335280" algn="l" rtl="0">
              <a:spcBef>
                <a:spcPts val="1000"/>
              </a:spcBef>
              <a:spcAft>
                <a:spcPts val="0"/>
              </a:spcAft>
              <a:buSzPct val="80000"/>
              <a:buChar char="►"/>
            </a:pPr>
            <a:r>
              <a:rPr lang="en-US"/>
              <a:t>First stable beta version released in 2000.</a:t>
            </a:r>
            <a:endParaRPr/>
          </a:p>
          <a:p>
            <a:pPr marL="342900" lvl="0" indent="-325882" algn="l" rtl="0">
              <a:spcBef>
                <a:spcPts val="1000"/>
              </a:spcBef>
              <a:spcAft>
                <a:spcPts val="0"/>
              </a:spcAft>
              <a:buSzPct val="72000"/>
              <a:buChar char="►"/>
            </a:pPr>
            <a:r>
              <a:rPr lang="en-US"/>
              <a:t>R Foundation was founded as a non-profit organization to support R project.</a:t>
            </a:r>
            <a:endParaRPr/>
          </a:p>
        </p:txBody>
      </p:sp>
      <p:pic>
        <p:nvPicPr>
          <p:cNvPr id="167" name="Google Shape;167;p5"/>
          <p:cNvPicPr preferRelativeResize="0"/>
          <p:nvPr/>
        </p:nvPicPr>
        <p:blipFill>
          <a:blip r:embed="rId3">
            <a:alphaModFix/>
          </a:blip>
          <a:stretch>
            <a:fillRect/>
          </a:stretch>
        </p:blipFill>
        <p:spPr>
          <a:xfrm>
            <a:off x="7074575" y="1079200"/>
            <a:ext cx="5023999" cy="33493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6"/>
          <p:cNvSpPr txBox="1">
            <a:spLocks noGrp="1"/>
          </p:cNvSpPr>
          <p:nvPr>
            <p:ph type="title"/>
          </p:nvPr>
        </p:nvSpPr>
        <p:spPr>
          <a:xfrm>
            <a:off x="696086" y="452718"/>
            <a:ext cx="9404700" cy="14004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000"/>
              <a:buFont typeface="Century Gothic"/>
              <a:buNone/>
            </a:pPr>
            <a:r>
              <a:rPr lang="en-US" sz="4000"/>
              <a:t>Why Learn R ?</a:t>
            </a:r>
            <a:br>
              <a:rPr lang="en-US"/>
            </a:br>
            <a:endParaRPr/>
          </a:p>
        </p:txBody>
      </p:sp>
      <p:sp>
        <p:nvSpPr>
          <p:cNvPr id="173" name="Google Shape;173;p6"/>
          <p:cNvSpPr txBox="1">
            <a:spLocks noGrp="1"/>
          </p:cNvSpPr>
          <p:nvPr>
            <p:ph type="body" idx="1"/>
          </p:nvPr>
        </p:nvSpPr>
        <p:spPr>
          <a:xfrm>
            <a:off x="546575" y="1405950"/>
            <a:ext cx="8765700" cy="5071500"/>
          </a:xfrm>
          <a:prstGeom prst="rect">
            <a:avLst/>
          </a:prstGeom>
          <a:noFill/>
          <a:ln>
            <a:noFill/>
          </a:ln>
        </p:spPr>
        <p:txBody>
          <a:bodyPr spcFirstLastPara="1" wrap="square" lIns="91425" tIns="45700" rIns="91425" bIns="45700" anchor="t" anchorCtr="0">
            <a:normAutofit fontScale="77500" lnSpcReduction="20000"/>
          </a:bodyPr>
          <a:lstStyle/>
          <a:p>
            <a:pPr marL="342900" lvl="0" indent="-320040" algn="l" rtl="0">
              <a:spcBef>
                <a:spcPts val="0"/>
              </a:spcBef>
              <a:spcAft>
                <a:spcPts val="0"/>
              </a:spcAft>
              <a:buSzPct val="80000"/>
              <a:buChar char="►"/>
            </a:pPr>
            <a:r>
              <a:rPr lang="en-US"/>
              <a:t>Most commercial</a:t>
            </a:r>
            <a:r>
              <a:rPr lang="en-US">
                <a:solidFill>
                  <a:srgbClr val="FF9900"/>
                </a:solidFill>
              </a:rPr>
              <a:t> statistical software costs $$ but R is free</a:t>
            </a:r>
            <a:r>
              <a:rPr lang="en-US"/>
              <a:t> owing to its open-source GNU licensing and can be installed by anyone.</a:t>
            </a:r>
            <a:endParaRPr/>
          </a:p>
          <a:p>
            <a:pPr marL="342900" lvl="0" indent="0" algn="l" rtl="0">
              <a:spcBef>
                <a:spcPts val="0"/>
              </a:spcBef>
              <a:spcAft>
                <a:spcPts val="0"/>
              </a:spcAft>
              <a:buNone/>
            </a:pPr>
            <a:endParaRPr/>
          </a:p>
          <a:p>
            <a:pPr marL="342900" lvl="0" indent="-312166" algn="l" rtl="0">
              <a:spcBef>
                <a:spcPts val="0"/>
              </a:spcBef>
              <a:spcAft>
                <a:spcPts val="0"/>
              </a:spcAft>
              <a:buSzPct val="72000"/>
              <a:buChar char="►"/>
            </a:pPr>
            <a:r>
              <a:rPr lang="en-US"/>
              <a:t>R runs on a wider array of platforms/operating systems (</a:t>
            </a:r>
            <a:r>
              <a:rPr lang="en-US">
                <a:solidFill>
                  <a:srgbClr val="FF9900"/>
                </a:solidFill>
              </a:rPr>
              <a:t>Windows, MacOS X and Unix</a:t>
            </a:r>
            <a:r>
              <a:rPr lang="en-US"/>
              <a:t>)</a:t>
            </a:r>
            <a:endParaRPr/>
          </a:p>
          <a:p>
            <a:pPr marL="342900" lvl="0" indent="0" algn="l" rtl="0">
              <a:spcBef>
                <a:spcPts val="0"/>
              </a:spcBef>
              <a:spcAft>
                <a:spcPts val="0"/>
              </a:spcAft>
              <a:buNone/>
            </a:pPr>
            <a:endParaRPr/>
          </a:p>
          <a:p>
            <a:pPr marL="342900" lvl="0" indent="-320040" algn="l" rtl="0">
              <a:spcBef>
                <a:spcPts val="0"/>
              </a:spcBef>
              <a:spcAft>
                <a:spcPts val="0"/>
              </a:spcAft>
              <a:buSzPct val="80000"/>
              <a:buChar char="►"/>
            </a:pPr>
            <a:r>
              <a:rPr lang="en-US"/>
              <a:t>R can perform statistical analysis, data management, exploration, analysis as well as machine learning. We can create objects, functions and packages in it. </a:t>
            </a:r>
            <a:endParaRPr/>
          </a:p>
          <a:p>
            <a:pPr marL="342900" lvl="0" indent="0" algn="l" rtl="0">
              <a:spcBef>
                <a:spcPts val="0"/>
              </a:spcBef>
              <a:spcAft>
                <a:spcPts val="0"/>
              </a:spcAft>
              <a:buNone/>
            </a:pPr>
            <a:endParaRPr/>
          </a:p>
          <a:p>
            <a:pPr marL="342900" lvl="0" indent="-312166" algn="l" rtl="0">
              <a:spcBef>
                <a:spcPts val="0"/>
              </a:spcBef>
              <a:spcAft>
                <a:spcPts val="0"/>
              </a:spcAft>
              <a:buSzPct val="72000"/>
              <a:buChar char="►"/>
            </a:pPr>
            <a:r>
              <a:rPr lang="en-US"/>
              <a:t>It contains advanced statistical routines not yet available in other statistical software.</a:t>
            </a:r>
            <a:endParaRPr/>
          </a:p>
          <a:p>
            <a:pPr marL="342900" lvl="0" indent="-320040" algn="l" rtl="0">
              <a:spcBef>
                <a:spcPts val="1000"/>
              </a:spcBef>
              <a:spcAft>
                <a:spcPts val="0"/>
              </a:spcAft>
              <a:buSzPct val="80000"/>
              <a:buChar char="►"/>
            </a:pPr>
            <a:r>
              <a:rPr lang="en-US"/>
              <a:t>R has </a:t>
            </a:r>
            <a:r>
              <a:rPr lang="en-US">
                <a:solidFill>
                  <a:srgbClr val="FF9900"/>
                </a:solidFill>
              </a:rPr>
              <a:t>state-of-the-art graphic capabilities </a:t>
            </a:r>
            <a:r>
              <a:rPr lang="en-US"/>
              <a:t>to visualize complex data. With the packages like ggplot2, plotly, users can make visually appealing and elegant visualizations. </a:t>
            </a:r>
            <a:endParaRPr/>
          </a:p>
          <a:p>
            <a:pPr marL="342900" lvl="0" indent="-320040" algn="l" rtl="0">
              <a:spcBef>
                <a:spcPts val="1000"/>
              </a:spcBef>
              <a:spcAft>
                <a:spcPts val="0"/>
              </a:spcAft>
              <a:buSzPct val="80000"/>
              <a:buChar char="►"/>
            </a:pPr>
            <a:r>
              <a:rPr lang="en-US"/>
              <a:t>R is most widely used by the</a:t>
            </a:r>
            <a:r>
              <a:rPr lang="en-US" u="sng"/>
              <a:t> various industries</a:t>
            </a:r>
            <a:r>
              <a:rPr lang="en-US"/>
              <a:t>. Only the academic avenues in the past made use of R but industries are now using R as their primary tool for statistical modeling. (health, finance, banking, manufacturing and many more.)</a:t>
            </a:r>
            <a:endParaRPr/>
          </a:p>
          <a:p>
            <a:pPr marL="342900" lvl="0" indent="-320040" algn="l" rtl="0">
              <a:spcBef>
                <a:spcPts val="1000"/>
              </a:spcBef>
              <a:spcAft>
                <a:spcPts val="0"/>
              </a:spcAft>
              <a:buSzPct val="80000"/>
              <a:buChar char="►"/>
            </a:pPr>
            <a:r>
              <a:rPr lang="en-US"/>
              <a:t>R programmers for many roles like data analysts, business analysts, data visualization experts, and business intelligence experts.</a:t>
            </a:r>
            <a:endParaRPr/>
          </a:p>
          <a:p>
            <a:pPr marL="342900" lvl="0" indent="-312166" algn="l" rtl="0">
              <a:spcBef>
                <a:spcPts val="1000"/>
              </a:spcBef>
              <a:spcAft>
                <a:spcPts val="0"/>
              </a:spcAft>
              <a:buClr>
                <a:srgbClr val="FF9900"/>
              </a:buClr>
              <a:buSzPct val="72000"/>
              <a:buChar char="►"/>
            </a:pPr>
            <a:r>
              <a:rPr lang="en-US">
                <a:solidFill>
                  <a:srgbClr val="FF9900"/>
                </a:solidFill>
              </a:rPr>
              <a:t>If you don’t want to learn a new language, a variety of graphic user interfaces (GUIs) are available !!!</a:t>
            </a:r>
            <a:endParaRPr>
              <a:solidFill>
                <a:srgbClr val="FF9900"/>
              </a:solidFill>
            </a:endParaRPr>
          </a:p>
          <a:p>
            <a:pPr marL="342900" lvl="0" indent="-241300" algn="l" rtl="0">
              <a:spcBef>
                <a:spcPts val="1000"/>
              </a:spcBef>
              <a:spcAft>
                <a:spcPts val="0"/>
              </a:spcAft>
              <a:buSzPct val="80000"/>
              <a:buNone/>
            </a:pPr>
            <a:endParaRPr/>
          </a:p>
        </p:txBody>
      </p:sp>
      <p:pic>
        <p:nvPicPr>
          <p:cNvPr id="174" name="Google Shape;174;p6"/>
          <p:cNvPicPr preferRelativeResize="0"/>
          <p:nvPr/>
        </p:nvPicPr>
        <p:blipFill>
          <a:blip r:embed="rId3">
            <a:alphaModFix/>
          </a:blip>
          <a:stretch>
            <a:fillRect/>
          </a:stretch>
        </p:blipFill>
        <p:spPr>
          <a:xfrm>
            <a:off x="9268950" y="1489893"/>
            <a:ext cx="2719075" cy="283871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8"/>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a:t>Features of R Programming</a:t>
            </a:r>
            <a:br>
              <a:rPr lang="en-US"/>
            </a:br>
            <a:endParaRPr/>
          </a:p>
        </p:txBody>
      </p:sp>
      <p:sp>
        <p:nvSpPr>
          <p:cNvPr id="180" name="Google Shape;180;p8"/>
          <p:cNvSpPr txBox="1">
            <a:spLocks noGrp="1"/>
          </p:cNvSpPr>
          <p:nvPr>
            <p:ph type="body" idx="1"/>
          </p:nvPr>
        </p:nvSpPr>
        <p:spPr>
          <a:xfrm>
            <a:off x="736600" y="1210725"/>
            <a:ext cx="10875600" cy="5460900"/>
          </a:xfrm>
          <a:prstGeom prst="rect">
            <a:avLst/>
          </a:prstGeom>
          <a:noFill/>
          <a:ln>
            <a:noFill/>
          </a:ln>
        </p:spPr>
        <p:txBody>
          <a:bodyPr spcFirstLastPara="1" wrap="square" lIns="91425" tIns="45700" rIns="91425" bIns="45700" anchor="t" anchorCtr="0">
            <a:normAutofit/>
          </a:bodyPr>
          <a:lstStyle/>
          <a:p>
            <a:pPr marL="342900" lvl="0" indent="-350520" algn="l" rtl="0">
              <a:spcBef>
                <a:spcPts val="0"/>
              </a:spcBef>
              <a:spcAft>
                <a:spcPts val="0"/>
              </a:spcAft>
              <a:buSzPts val="1600"/>
              <a:buChar char="►"/>
            </a:pPr>
            <a:r>
              <a:rPr lang="en-US"/>
              <a:t>R is a comprehensive programming language that provides support for procedural programming involving functions as well as object-oriented programming with generic functions.</a:t>
            </a:r>
            <a:endParaRPr/>
          </a:p>
          <a:p>
            <a:pPr marL="342900" lvl="0" indent="-350520" algn="l" rtl="0">
              <a:spcBef>
                <a:spcPts val="1000"/>
              </a:spcBef>
              <a:spcAft>
                <a:spcPts val="0"/>
              </a:spcAft>
              <a:buSzPts val="1600"/>
              <a:buChar char="►"/>
            </a:pPr>
            <a:r>
              <a:rPr lang="en-US"/>
              <a:t>There are </a:t>
            </a:r>
            <a:r>
              <a:rPr lang="en-US">
                <a:solidFill>
                  <a:srgbClr val="FF9900"/>
                </a:solidFill>
              </a:rPr>
              <a:t>more than 18,000 packages</a:t>
            </a:r>
            <a:r>
              <a:rPr lang="en-US"/>
              <a:t> in the repository of R programming. With these packages, one can make use of functions to facilitate easier programming.</a:t>
            </a:r>
            <a:endParaRPr/>
          </a:p>
          <a:p>
            <a:pPr marL="342900" lvl="0" indent="-350520" algn="l" rtl="0">
              <a:spcBef>
                <a:spcPts val="1000"/>
              </a:spcBef>
              <a:spcAft>
                <a:spcPts val="0"/>
              </a:spcAft>
              <a:buSzPts val="1600"/>
              <a:buChar char="►"/>
            </a:pPr>
            <a:r>
              <a:rPr lang="en-US"/>
              <a:t>R facilitates complex operations with</a:t>
            </a:r>
            <a:r>
              <a:rPr lang="en-US" i="1"/>
              <a:t> vectors, arrays, data frames as well as other data objects</a:t>
            </a:r>
            <a:r>
              <a:rPr lang="en-US"/>
              <a:t> that have varying sizes. </a:t>
            </a:r>
            <a:endParaRPr/>
          </a:p>
          <a:p>
            <a:pPr marL="342900" lvl="0" indent="-350520" algn="l" rtl="0">
              <a:spcBef>
                <a:spcPts val="1000"/>
              </a:spcBef>
              <a:spcAft>
                <a:spcPts val="0"/>
              </a:spcAft>
              <a:buSzPts val="1600"/>
              <a:buChar char="►"/>
            </a:pPr>
            <a:r>
              <a:rPr lang="en-US"/>
              <a:t>R can be easily integrated with many other technologies and frameworks like Hadoop and HDFS. C, C++, Python, Java, FORTRAN, and JavaScript.</a:t>
            </a:r>
            <a:endParaRPr/>
          </a:p>
          <a:p>
            <a:pPr marL="342900" lvl="0" indent="-350520" algn="l" rtl="0">
              <a:spcBef>
                <a:spcPts val="1000"/>
              </a:spcBef>
              <a:spcAft>
                <a:spcPts val="0"/>
              </a:spcAft>
              <a:buSzPts val="1600"/>
              <a:buChar char="►"/>
            </a:pPr>
            <a:r>
              <a:rPr lang="en-US"/>
              <a:t>As discussed in the above section, R has extensive community support that provides technical assistance, seminars and several boot camps to get you started with R.</a:t>
            </a:r>
            <a:endParaRPr/>
          </a:p>
          <a:p>
            <a:pPr marL="342900" lvl="0" indent="-340360" algn="l" rtl="0">
              <a:spcBef>
                <a:spcPts val="1000"/>
              </a:spcBef>
              <a:spcAft>
                <a:spcPts val="0"/>
              </a:spcAft>
              <a:buSzPts val="1440"/>
              <a:buChar char="►"/>
            </a:pPr>
            <a:r>
              <a:rPr lang="en-US"/>
              <a:t>Effective data handling and storage facility, powerful, extensible software</a:t>
            </a:r>
            <a:endParaRPr/>
          </a:p>
          <a:p>
            <a:pPr marL="342900" lvl="0" indent="-350520" algn="l" rtl="0">
              <a:spcBef>
                <a:spcPts val="1000"/>
              </a:spcBef>
              <a:spcAft>
                <a:spcPts val="0"/>
              </a:spcAft>
              <a:buSzPts val="1600"/>
              <a:buChar char="►"/>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10"/>
          <p:cNvSpPr txBox="1">
            <a:spLocks noGrp="1"/>
          </p:cNvSpPr>
          <p:nvPr>
            <p:ph type="title"/>
          </p:nvPr>
        </p:nvSpPr>
        <p:spPr>
          <a:xfrm>
            <a:off x="645124" y="122525"/>
            <a:ext cx="11547000" cy="14004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3600"/>
              <a:buFont typeface="Century Gothic"/>
              <a:buNone/>
            </a:pPr>
            <a:r>
              <a:rPr lang="en-US" sz="3600"/>
              <a:t>How R is better than other programs?</a:t>
            </a:r>
            <a:br>
              <a:rPr lang="en-US"/>
            </a:br>
            <a:endParaRPr/>
          </a:p>
        </p:txBody>
      </p:sp>
      <p:sp>
        <p:nvSpPr>
          <p:cNvPr id="186" name="Google Shape;186;p10"/>
          <p:cNvSpPr txBox="1">
            <a:spLocks noGrp="1"/>
          </p:cNvSpPr>
          <p:nvPr>
            <p:ph type="body" idx="1"/>
          </p:nvPr>
        </p:nvSpPr>
        <p:spPr>
          <a:xfrm>
            <a:off x="206250" y="914400"/>
            <a:ext cx="8188200" cy="57573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600"/>
              <a:buChar char="►"/>
            </a:pPr>
            <a:r>
              <a:rPr lang="en-US" b="1"/>
              <a:t>Graphical Libraries – </a:t>
            </a:r>
            <a:r>
              <a:rPr lang="en-US"/>
              <a:t>R stays ahead of the curve through its aesthetic graphical libraries. Libraries like ggplot2, plotly facilitate appealing libraries for making well-defined plots.</a:t>
            </a:r>
            <a:endParaRPr/>
          </a:p>
          <a:p>
            <a:pPr marL="342900" lvl="0" indent="-342900" algn="l" rtl="0">
              <a:spcBef>
                <a:spcPts val="1000"/>
              </a:spcBef>
              <a:spcAft>
                <a:spcPts val="0"/>
              </a:spcAft>
              <a:buSzPts val="1600"/>
              <a:buChar char="►"/>
            </a:pPr>
            <a:r>
              <a:rPr lang="en-US" b="1"/>
              <a:t>Availability / Cost</a:t>
            </a:r>
            <a:r>
              <a:rPr lang="en-US"/>
              <a:t> – R is completely free to use which means widespread availability.</a:t>
            </a:r>
            <a:endParaRPr/>
          </a:p>
          <a:p>
            <a:pPr marL="342900" lvl="0" indent="-342900" algn="l" rtl="0">
              <a:spcBef>
                <a:spcPts val="1000"/>
              </a:spcBef>
              <a:spcAft>
                <a:spcPts val="0"/>
              </a:spcAft>
              <a:buSzPts val="1600"/>
              <a:buChar char="►"/>
            </a:pPr>
            <a:r>
              <a:rPr lang="en-US" b="1"/>
              <a:t>Advancement in Tool</a:t>
            </a:r>
            <a:r>
              <a:rPr lang="en-US"/>
              <a:t> – R supports various advanced tools and features that allow you to build robust statistical models.</a:t>
            </a:r>
            <a:endParaRPr/>
          </a:p>
          <a:p>
            <a:pPr marL="342900" lvl="0" indent="-342900" algn="l" rtl="0">
              <a:spcBef>
                <a:spcPts val="1000"/>
              </a:spcBef>
              <a:spcAft>
                <a:spcPts val="0"/>
              </a:spcAft>
              <a:buSzPts val="1600"/>
              <a:buChar char="►"/>
            </a:pPr>
            <a:r>
              <a:rPr lang="en-US" b="1"/>
              <a:t>Job Scenario</a:t>
            </a:r>
            <a:r>
              <a:rPr lang="en-US"/>
              <a:t> – As stated above, R is the primary tool for Data Science. With the immense growth in Data Science and rise in demand, R has become the most in-demand programming language of the world today.</a:t>
            </a:r>
            <a:endParaRPr/>
          </a:p>
          <a:p>
            <a:pPr marL="342900" lvl="0" indent="-342900" algn="l" rtl="0">
              <a:spcBef>
                <a:spcPts val="1000"/>
              </a:spcBef>
              <a:spcAft>
                <a:spcPts val="0"/>
              </a:spcAft>
              <a:buSzPts val="1600"/>
              <a:buChar char="►"/>
            </a:pPr>
            <a:r>
              <a:rPr lang="en-US" b="1"/>
              <a:t>Customer Service Support and Community</a:t>
            </a:r>
            <a:r>
              <a:rPr lang="en-US"/>
              <a:t> – With R, you can enjoy strong community support.</a:t>
            </a:r>
            <a:endParaRPr/>
          </a:p>
          <a:p>
            <a:pPr marL="342900" lvl="0" indent="-342900" algn="l" rtl="0">
              <a:spcBef>
                <a:spcPts val="1000"/>
              </a:spcBef>
              <a:spcAft>
                <a:spcPts val="0"/>
              </a:spcAft>
              <a:buSzPts val="1600"/>
              <a:buChar char="►"/>
            </a:pPr>
            <a:r>
              <a:rPr lang="en-US" b="1"/>
              <a:t>Portability</a:t>
            </a:r>
            <a:r>
              <a:rPr lang="en-US"/>
              <a:t> – R is highly portable. Many different programming languages and software frameworks can easily combine with the R environment for the best results.</a:t>
            </a:r>
            <a:endParaRPr/>
          </a:p>
          <a:p>
            <a:pPr marL="342900" lvl="0" indent="-241300" algn="l" rtl="0">
              <a:spcBef>
                <a:spcPts val="1000"/>
              </a:spcBef>
              <a:spcAft>
                <a:spcPts val="0"/>
              </a:spcAft>
              <a:buSzPts val="1600"/>
              <a:buNone/>
            </a:pPr>
            <a:endParaRPr/>
          </a:p>
        </p:txBody>
      </p:sp>
      <p:pic>
        <p:nvPicPr>
          <p:cNvPr id="187" name="Google Shape;187;p10"/>
          <p:cNvPicPr preferRelativeResize="0">
            <a:picLocks noGrp="1"/>
          </p:cNvPicPr>
          <p:nvPr>
            <p:ph type="body" idx="1"/>
          </p:nvPr>
        </p:nvPicPr>
        <p:blipFill rotWithShape="1">
          <a:blip r:embed="rId3">
            <a:alphaModFix/>
          </a:blip>
          <a:srcRect/>
          <a:stretch/>
        </p:blipFill>
        <p:spPr>
          <a:xfrm>
            <a:off x="8208950" y="1145675"/>
            <a:ext cx="3921300" cy="20616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19"/>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a:t>Applications of R Programming</a:t>
            </a:r>
            <a:br>
              <a:rPr lang="en-US"/>
            </a:br>
            <a:endParaRPr/>
          </a:p>
        </p:txBody>
      </p:sp>
      <p:sp>
        <p:nvSpPr>
          <p:cNvPr id="193" name="Google Shape;193;p19"/>
          <p:cNvSpPr txBox="1">
            <a:spLocks noGrp="1"/>
          </p:cNvSpPr>
          <p:nvPr>
            <p:ph type="body" idx="1"/>
          </p:nvPr>
        </p:nvSpPr>
        <p:spPr>
          <a:xfrm>
            <a:off x="687598" y="1173175"/>
            <a:ext cx="11069100" cy="50547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600"/>
              <a:buChar char="►"/>
            </a:pPr>
            <a:r>
              <a:rPr lang="en-US"/>
              <a:t>R is used in f</a:t>
            </a:r>
            <a:r>
              <a:rPr lang="en-US">
                <a:solidFill>
                  <a:srgbClr val="FF9900"/>
                </a:solidFill>
              </a:rPr>
              <a:t>inance and banking sectors</a:t>
            </a:r>
            <a:r>
              <a:rPr lang="en-US"/>
              <a:t> for</a:t>
            </a:r>
            <a:r>
              <a:rPr lang="en-US" i="1"/>
              <a:t> detecting fraud, reducing customer churn rate and for making future decisions.</a:t>
            </a:r>
            <a:endParaRPr/>
          </a:p>
          <a:p>
            <a:pPr marL="342900" lvl="0" indent="-342900" algn="l" rtl="0">
              <a:spcBef>
                <a:spcPts val="1000"/>
              </a:spcBef>
              <a:spcAft>
                <a:spcPts val="0"/>
              </a:spcAft>
              <a:buSzPts val="1600"/>
              <a:buChar char="►"/>
            </a:pPr>
            <a:r>
              <a:rPr lang="en-US"/>
              <a:t>R is also used by bioinformatics to analyze strands of genetic sequences, for performing drug discovery and also in computational neuroscience.</a:t>
            </a:r>
            <a:endParaRPr/>
          </a:p>
          <a:p>
            <a:pPr marL="342900" lvl="0" indent="-342900" algn="l" rtl="0">
              <a:spcBef>
                <a:spcPts val="1000"/>
              </a:spcBef>
              <a:spcAft>
                <a:spcPts val="0"/>
              </a:spcAft>
              <a:buSzPts val="1600"/>
              <a:buChar char="►"/>
            </a:pPr>
            <a:r>
              <a:rPr lang="en-US"/>
              <a:t>R is used in social media analysis to discover potential customers in online advertising. Companies also use social media information to analyze customer sentiments for making their products better.</a:t>
            </a:r>
            <a:endParaRPr/>
          </a:p>
          <a:p>
            <a:pPr marL="342900" lvl="0" indent="-342900" algn="l" rtl="0">
              <a:spcBef>
                <a:spcPts val="1000"/>
              </a:spcBef>
              <a:spcAft>
                <a:spcPts val="0"/>
              </a:spcAft>
              <a:buSzPts val="1600"/>
              <a:buChar char="►"/>
            </a:pPr>
            <a:r>
              <a:rPr lang="en-US"/>
              <a:t>E-Commerce companies make use of R to analyze the purchases made by the customers as well as their feedbacks.</a:t>
            </a:r>
            <a:endParaRPr/>
          </a:p>
          <a:p>
            <a:pPr marL="342900" lvl="0" indent="-342900" algn="l" rtl="0">
              <a:spcBef>
                <a:spcPts val="1000"/>
              </a:spcBef>
              <a:spcAft>
                <a:spcPts val="0"/>
              </a:spcAft>
              <a:buSzPts val="1600"/>
              <a:buChar char="►"/>
            </a:pPr>
            <a:r>
              <a:rPr lang="en-US"/>
              <a:t>Manufacturing companies use R to analyze customer feedback. They also use it to predict future demand to adjust their manufacturing speeds and maximize profits.</a:t>
            </a:r>
            <a:endParaRPr/>
          </a:p>
          <a:p>
            <a:pPr marL="342900" lvl="0" indent="-332740" algn="l" rtl="0">
              <a:spcBef>
                <a:spcPts val="1000"/>
              </a:spcBef>
              <a:spcAft>
                <a:spcPts val="0"/>
              </a:spcAft>
              <a:buSzPts val="1440"/>
              <a:buChar char="►"/>
            </a:pPr>
            <a:r>
              <a:rPr lang="en-US"/>
              <a:t>It is widely used in academic community doing research.</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g145ea7f5fe7_1_18"/>
          <p:cNvSpPr txBox="1">
            <a:spLocks noGrp="1"/>
          </p:cNvSpPr>
          <p:nvPr>
            <p:ph type="title"/>
          </p:nvPr>
        </p:nvSpPr>
        <p:spPr>
          <a:xfrm>
            <a:off x="646111" y="452718"/>
            <a:ext cx="9404700" cy="14004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a:t>Applications of R </a:t>
            </a:r>
            <a:endParaRPr/>
          </a:p>
        </p:txBody>
      </p:sp>
      <p:sp>
        <p:nvSpPr>
          <p:cNvPr id="199" name="Google Shape;199;g145ea7f5fe7_1_18"/>
          <p:cNvSpPr txBox="1">
            <a:spLocks noGrp="1"/>
          </p:cNvSpPr>
          <p:nvPr>
            <p:ph type="body" idx="1"/>
          </p:nvPr>
        </p:nvSpPr>
        <p:spPr>
          <a:xfrm>
            <a:off x="752825" y="1308325"/>
            <a:ext cx="7786200" cy="5095800"/>
          </a:xfrm>
          <a:prstGeom prst="rect">
            <a:avLst/>
          </a:prstGeom>
          <a:noFill/>
          <a:ln>
            <a:noFill/>
          </a:ln>
        </p:spPr>
        <p:txBody>
          <a:bodyPr spcFirstLastPara="1" wrap="square" lIns="91425" tIns="45700" rIns="91425" bIns="45700" anchor="t" anchorCtr="0">
            <a:normAutofit fontScale="70000" lnSpcReduction="20000"/>
          </a:bodyPr>
          <a:lstStyle/>
          <a:p>
            <a:pPr marL="342900" lvl="0" indent="-327660" algn="l" rtl="0">
              <a:spcBef>
                <a:spcPts val="0"/>
              </a:spcBef>
              <a:spcAft>
                <a:spcPts val="0"/>
              </a:spcAft>
              <a:buSzPct val="80000"/>
              <a:buChar char="►"/>
            </a:pPr>
            <a:r>
              <a:rPr lang="en-US" b="1"/>
              <a:t>Academics:</a:t>
            </a:r>
            <a:r>
              <a:rPr lang="en-US"/>
              <a:t> R is a programming language created for </a:t>
            </a:r>
            <a:r>
              <a:rPr lang="en-US">
                <a:solidFill>
                  <a:srgbClr val="FF9900"/>
                </a:solidFill>
              </a:rPr>
              <a:t>statistical computing.</a:t>
            </a:r>
            <a:r>
              <a:rPr lang="en-US"/>
              <a:t> It is widely used by students, professors, and researchers for developing statistical models and also for analyzing large results from studies and surveys.</a:t>
            </a:r>
            <a:endParaRPr/>
          </a:p>
          <a:p>
            <a:pPr marL="342900" lvl="0" indent="-327660" algn="l" rtl="0">
              <a:spcBef>
                <a:spcPts val="1000"/>
              </a:spcBef>
              <a:spcAft>
                <a:spcPts val="0"/>
              </a:spcAft>
              <a:buSzPct val="80000"/>
              <a:buChar char="►"/>
            </a:pPr>
            <a:r>
              <a:rPr lang="en-US" b="1"/>
              <a:t>Healthcare:</a:t>
            </a:r>
            <a:r>
              <a:rPr lang="en-US"/>
              <a:t> R is the most popular analysis tool used for pre-clinical drug trials. New medicines and medical procedures are tested using R. It is also used to analyze genetic sequences to identify genetic anomalies and to analyze various chemical compositions to identify their uses and side-effects.</a:t>
            </a:r>
            <a:endParaRPr/>
          </a:p>
          <a:p>
            <a:pPr marL="342900" lvl="0" indent="-327660" algn="l" rtl="0">
              <a:spcBef>
                <a:spcPts val="1000"/>
              </a:spcBef>
              <a:spcAft>
                <a:spcPts val="0"/>
              </a:spcAft>
              <a:buSzPct val="80000"/>
              <a:buChar char="►"/>
            </a:pPr>
            <a:r>
              <a:rPr lang="en-US" b="1"/>
              <a:t>Finance:</a:t>
            </a:r>
            <a:r>
              <a:rPr lang="en-US"/>
              <a:t> The finance sector deals with a lot of statistics. R is the most preferred technology for this purpose among them. They use it to identify and predict market trends. They also use it to calculate statistics like annual profits or loss, recovery models, etc.</a:t>
            </a:r>
            <a:endParaRPr/>
          </a:p>
          <a:p>
            <a:pPr marL="342900" lvl="0" indent="-327660" algn="l" rtl="0">
              <a:spcBef>
                <a:spcPts val="1000"/>
              </a:spcBef>
              <a:spcAft>
                <a:spcPts val="0"/>
              </a:spcAft>
              <a:buSzPct val="80000"/>
              <a:buChar char="►"/>
            </a:pPr>
            <a:r>
              <a:rPr lang="en-US" b="1"/>
              <a:t>Banking:</a:t>
            </a:r>
            <a:r>
              <a:rPr lang="en-US"/>
              <a:t> Bank uses R for risk </a:t>
            </a:r>
            <a:r>
              <a:rPr lang="en-US">
                <a:solidFill>
                  <a:srgbClr val="FF9900"/>
                </a:solidFill>
              </a:rPr>
              <a:t>modeling and mortgage rate calculation</a:t>
            </a:r>
            <a:r>
              <a:rPr lang="en-US"/>
              <a:t>. They also use it for credit risk modeling.</a:t>
            </a:r>
            <a:endParaRPr/>
          </a:p>
          <a:p>
            <a:pPr marL="342900" lvl="0" indent="-327660" algn="l" rtl="0">
              <a:spcBef>
                <a:spcPts val="1000"/>
              </a:spcBef>
              <a:spcAft>
                <a:spcPts val="0"/>
              </a:spcAft>
              <a:buSzPct val="80000"/>
              <a:buChar char="►"/>
            </a:pPr>
            <a:r>
              <a:rPr lang="en-US" b="1"/>
              <a:t>IT Sector:</a:t>
            </a:r>
            <a:r>
              <a:rPr lang="en-US"/>
              <a:t> IT companies use R </a:t>
            </a:r>
            <a:r>
              <a:rPr lang="en-US">
                <a:solidFill>
                  <a:srgbClr val="FF9900"/>
                </a:solidFill>
              </a:rPr>
              <a:t>for business intelligence and to develop statistical computing software</a:t>
            </a:r>
            <a:r>
              <a:rPr lang="en-US"/>
              <a:t>. They also use R to devise their business strategy.</a:t>
            </a:r>
            <a:endParaRPr/>
          </a:p>
          <a:p>
            <a:pPr marL="342900" lvl="0" indent="-327660" algn="l" rtl="0">
              <a:spcBef>
                <a:spcPts val="1000"/>
              </a:spcBef>
              <a:spcAft>
                <a:spcPts val="0"/>
              </a:spcAft>
              <a:buSzPct val="80000"/>
              <a:buChar char="►"/>
            </a:pPr>
            <a:r>
              <a:rPr lang="en-US" b="1"/>
              <a:t>Manufacturing:</a:t>
            </a:r>
            <a:r>
              <a:rPr lang="en-US"/>
              <a:t> Manufacturing companies use </a:t>
            </a:r>
            <a:r>
              <a:rPr lang="en-US">
                <a:solidFill>
                  <a:srgbClr val="FF9900"/>
                </a:solidFill>
              </a:rPr>
              <a:t>R to predict market demand</a:t>
            </a:r>
            <a:r>
              <a:rPr lang="en-US"/>
              <a:t>. They alter their production according to the demand predictions. They also design their products according to sentiment analysis results of their customer reviews.</a:t>
            </a:r>
            <a:endParaRPr/>
          </a:p>
          <a:p>
            <a:pPr marL="342900" lvl="0" indent="-327660" algn="l" rtl="0">
              <a:spcBef>
                <a:spcPts val="1000"/>
              </a:spcBef>
              <a:spcAft>
                <a:spcPts val="0"/>
              </a:spcAft>
              <a:buSzPct val="80000"/>
              <a:buChar char="►"/>
            </a:pPr>
            <a:r>
              <a:rPr lang="en-US" b="1"/>
              <a:t>Social Media:</a:t>
            </a:r>
            <a:r>
              <a:rPr lang="en-US"/>
              <a:t> Social media companies use R for machine learning and </a:t>
            </a:r>
            <a:r>
              <a:rPr lang="en-US">
                <a:solidFill>
                  <a:srgbClr val="FF9900"/>
                </a:solidFill>
              </a:rPr>
              <a:t>sentiment analysis research</a:t>
            </a:r>
            <a:r>
              <a:rPr lang="en-US"/>
              <a:t>. They </a:t>
            </a:r>
            <a:r>
              <a:rPr lang="en-US">
                <a:solidFill>
                  <a:srgbClr val="FF9900"/>
                </a:solidFill>
              </a:rPr>
              <a:t>analyze their users’ posts and activities to draw insights from it and try to improve their user experience according to the results</a:t>
            </a:r>
            <a:r>
              <a:rPr lang="en-US"/>
              <a:t>.</a:t>
            </a:r>
            <a:endParaRPr/>
          </a:p>
        </p:txBody>
      </p:sp>
      <p:pic>
        <p:nvPicPr>
          <p:cNvPr id="200" name="Google Shape;200;g145ea7f5fe7_1_18"/>
          <p:cNvPicPr preferRelativeResize="0">
            <a:picLocks noGrp="1"/>
          </p:cNvPicPr>
          <p:nvPr>
            <p:ph type="body" idx="1"/>
          </p:nvPr>
        </p:nvPicPr>
        <p:blipFill rotWithShape="1">
          <a:blip r:embed="rId3">
            <a:alphaModFix/>
          </a:blip>
          <a:srcRect/>
          <a:stretch/>
        </p:blipFill>
        <p:spPr>
          <a:xfrm>
            <a:off x="8147100" y="1"/>
            <a:ext cx="4044900" cy="16737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g145ea7f5fe7_1_24"/>
          <p:cNvSpPr txBox="1">
            <a:spLocks noGrp="1"/>
          </p:cNvSpPr>
          <p:nvPr>
            <p:ph type="title"/>
          </p:nvPr>
        </p:nvSpPr>
        <p:spPr>
          <a:xfrm>
            <a:off x="646111" y="452718"/>
            <a:ext cx="9404700" cy="14004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3600"/>
              <a:buFont typeface="Century Gothic"/>
              <a:buNone/>
            </a:pPr>
            <a:r>
              <a:rPr lang="en-US" sz="3600"/>
              <a:t>Advantages of R Programming language</a:t>
            </a:r>
            <a:br>
              <a:rPr lang="en-US"/>
            </a:br>
            <a:endParaRPr/>
          </a:p>
        </p:txBody>
      </p:sp>
      <p:sp>
        <p:nvSpPr>
          <p:cNvPr id="212" name="Google Shape;212;g145ea7f5fe7_1_24"/>
          <p:cNvSpPr txBox="1">
            <a:spLocks noGrp="1"/>
          </p:cNvSpPr>
          <p:nvPr>
            <p:ph type="body" idx="1"/>
          </p:nvPr>
        </p:nvSpPr>
        <p:spPr>
          <a:xfrm>
            <a:off x="788374" y="1274475"/>
            <a:ext cx="10287600" cy="51309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600"/>
              <a:buChar char="►"/>
            </a:pPr>
            <a:r>
              <a:rPr lang="en-US" b="1"/>
              <a:t>Performance:</a:t>
            </a:r>
            <a:r>
              <a:rPr lang="en-US"/>
              <a:t> R is faster as compared with many proprietary packages</a:t>
            </a:r>
            <a:endParaRPr/>
          </a:p>
          <a:p>
            <a:pPr marL="342900" lvl="0" indent="-342900" algn="l" rtl="0">
              <a:spcBef>
                <a:spcPts val="1000"/>
              </a:spcBef>
              <a:spcAft>
                <a:spcPts val="0"/>
              </a:spcAft>
              <a:buSzPts val="1600"/>
              <a:buChar char="►"/>
            </a:pPr>
            <a:r>
              <a:rPr lang="en-US" b="1"/>
              <a:t>Cost:</a:t>
            </a:r>
            <a:r>
              <a:rPr lang="en-US"/>
              <a:t> The R programming language is </a:t>
            </a:r>
            <a:r>
              <a:rPr lang="en-US">
                <a:solidFill>
                  <a:srgbClr val="FF9900"/>
                </a:solidFill>
              </a:rPr>
              <a:t>open-source software</a:t>
            </a:r>
            <a:r>
              <a:rPr lang="en-US"/>
              <a:t>. Therefore, anyone can use and change it.</a:t>
            </a:r>
            <a:endParaRPr/>
          </a:p>
          <a:p>
            <a:pPr marL="342900" lvl="0" indent="-332740" algn="l" rtl="0">
              <a:spcBef>
                <a:spcPts val="1000"/>
              </a:spcBef>
              <a:spcAft>
                <a:spcPts val="0"/>
              </a:spcAft>
              <a:buSzPts val="1440"/>
              <a:buChar char="►"/>
            </a:pPr>
            <a:r>
              <a:rPr lang="en-US" b="1"/>
              <a:t>Community: </a:t>
            </a:r>
            <a:r>
              <a:rPr lang="en-US"/>
              <a:t>Vibrant and active community generating new content and answers to questions.Due to its open-source nature, anyone can fix the bugs, enhance the code and work on new packages.</a:t>
            </a:r>
            <a:endParaRPr b="1"/>
          </a:p>
          <a:p>
            <a:pPr marL="342900" lvl="0" indent="-332740" algn="l" rtl="0">
              <a:spcBef>
                <a:spcPts val="1000"/>
              </a:spcBef>
              <a:spcAft>
                <a:spcPts val="0"/>
              </a:spcAft>
              <a:buSzPts val="1440"/>
              <a:buChar char="►"/>
            </a:pPr>
            <a:r>
              <a:rPr lang="en-US" b="1"/>
              <a:t>Adaptability: </a:t>
            </a:r>
            <a:r>
              <a:rPr lang="en-US"/>
              <a:t>Thousands of packages available to handle specialized data analysis tasks, to customize graphical displays, to interface with other programs /software</a:t>
            </a:r>
            <a:endParaRPr/>
          </a:p>
          <a:p>
            <a:pPr marL="342900" lvl="0" indent="-332740" algn="l" rtl="0">
              <a:spcBef>
                <a:spcPts val="1000"/>
              </a:spcBef>
              <a:spcAft>
                <a:spcPts val="0"/>
              </a:spcAft>
              <a:buSzPts val="1440"/>
              <a:buChar char="►"/>
            </a:pPr>
            <a:r>
              <a:rPr lang="en-US" b="1"/>
              <a:t>Flexibility: </a:t>
            </a:r>
            <a:r>
              <a:rPr lang="en-US"/>
              <a:t>Code is often hidden in other proprietary language, in R it is much easier to make changes.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g145ea7f5fe7_1_34"/>
          <p:cNvSpPr txBox="1">
            <a:spLocks noGrp="1"/>
          </p:cNvSpPr>
          <p:nvPr>
            <p:ph type="title"/>
          </p:nvPr>
        </p:nvSpPr>
        <p:spPr>
          <a:xfrm>
            <a:off x="646111" y="452718"/>
            <a:ext cx="9404700" cy="14004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a:t>Pros of R</a:t>
            </a:r>
            <a:endParaRPr/>
          </a:p>
        </p:txBody>
      </p:sp>
      <p:sp>
        <p:nvSpPr>
          <p:cNvPr id="218" name="Google Shape;218;g145ea7f5fe7_1_34"/>
          <p:cNvSpPr txBox="1">
            <a:spLocks noGrp="1"/>
          </p:cNvSpPr>
          <p:nvPr>
            <p:ph type="body" idx="1"/>
          </p:nvPr>
        </p:nvSpPr>
        <p:spPr>
          <a:xfrm>
            <a:off x="770468" y="1126068"/>
            <a:ext cx="9279300" cy="5122200"/>
          </a:xfrm>
          <a:prstGeom prst="rect">
            <a:avLst/>
          </a:prstGeom>
          <a:noFill/>
          <a:ln>
            <a:noFill/>
          </a:ln>
        </p:spPr>
        <p:txBody>
          <a:bodyPr spcFirstLastPara="1" wrap="square" lIns="91425" tIns="45700" rIns="91425" bIns="45700" anchor="t" anchorCtr="0">
            <a:normAutofit/>
          </a:bodyPr>
          <a:lstStyle/>
          <a:p>
            <a:pPr marL="342900" lvl="0" indent="-335280" algn="l" rtl="0">
              <a:spcBef>
                <a:spcPts val="0"/>
              </a:spcBef>
              <a:spcAft>
                <a:spcPts val="0"/>
              </a:spcAft>
              <a:buSzPct val="80000"/>
              <a:buChar char="►"/>
            </a:pPr>
            <a:r>
              <a:rPr lang="en-US"/>
              <a:t>Open Source : R is an open-source programming language. This means that anyone can work with R without any need for a license or a fee. Furthermore, you can contribute towards the development of R by </a:t>
            </a:r>
            <a:r>
              <a:rPr lang="en-US" i="1"/>
              <a:t>customizing its packages, developing new ones and resolving issues.</a:t>
            </a:r>
            <a:endParaRPr/>
          </a:p>
          <a:p>
            <a:pPr marL="342900" lvl="0" indent="-335280" algn="l" rtl="0">
              <a:spcBef>
                <a:spcPts val="1000"/>
              </a:spcBef>
              <a:spcAft>
                <a:spcPts val="0"/>
              </a:spcAft>
              <a:buSzPct val="80000"/>
              <a:buChar char="►"/>
            </a:pPr>
            <a:r>
              <a:rPr lang="en-US"/>
              <a:t>Exemplary Support for Data Wrangling : R provides exemplary support for data wrangling. The packages like </a:t>
            </a:r>
            <a:r>
              <a:rPr lang="en-US" i="1"/>
              <a:t>dplyr, readr</a:t>
            </a:r>
            <a:r>
              <a:rPr lang="en-US"/>
              <a:t> are capable of transforming messy data into a structured form.</a:t>
            </a:r>
            <a:endParaRPr/>
          </a:p>
          <a:p>
            <a:pPr marL="342900" lvl="0" indent="-335280" algn="l" rtl="0">
              <a:spcBef>
                <a:spcPts val="1000"/>
              </a:spcBef>
              <a:spcAft>
                <a:spcPts val="0"/>
              </a:spcAft>
              <a:buSzPct val="80000"/>
              <a:buChar char="►"/>
            </a:pPr>
            <a:r>
              <a:rPr lang="en-US"/>
              <a:t>The Array of Packages : R has a vast array of packages. With over 10,000 packages in the </a:t>
            </a:r>
            <a:r>
              <a:rPr lang="en-US" u="sng">
                <a:solidFill>
                  <a:schemeClr val="hlink"/>
                </a:solidFill>
                <a:hlinkClick r:id="rId3"/>
              </a:rPr>
              <a:t>CRAN</a:t>
            </a:r>
            <a:r>
              <a:rPr lang="en-US"/>
              <a:t> repository, the number is constantly growing. These packages appeal to all the areas of industry.</a:t>
            </a:r>
            <a:endParaRPr/>
          </a:p>
          <a:p>
            <a:pPr marL="342900" lvl="0" indent="-335280" algn="l" rtl="0">
              <a:spcBef>
                <a:spcPts val="1000"/>
              </a:spcBef>
              <a:spcAft>
                <a:spcPts val="0"/>
              </a:spcAft>
              <a:buSzPct val="80000"/>
              <a:buChar char="►"/>
            </a:pPr>
            <a:r>
              <a:rPr lang="en-US"/>
              <a:t>Quality Plotting and Graphing : R facilitates quality plotting and graphing. The popular libraries like </a:t>
            </a:r>
            <a:r>
              <a:rPr lang="en-US" i="1"/>
              <a:t>ggplot2</a:t>
            </a:r>
            <a:r>
              <a:rPr lang="en-US"/>
              <a:t> and </a:t>
            </a:r>
            <a:r>
              <a:rPr lang="en-US" i="1"/>
              <a:t>plotly</a:t>
            </a:r>
            <a:r>
              <a:rPr lang="en-US"/>
              <a:t> advocate for aesthetic and visually appealing graphs that set R apart from other programming languages.</a:t>
            </a:r>
            <a:endParaRPr/>
          </a:p>
          <a:p>
            <a:pPr marL="342900" lvl="0" indent="-241300" algn="l" rtl="0">
              <a:spcBef>
                <a:spcPts val="1000"/>
              </a:spcBef>
              <a:spcAft>
                <a:spcPts val="0"/>
              </a:spcAft>
              <a:buSzPct val="80000"/>
              <a:buNone/>
            </a:pPr>
            <a:endParaRPr/>
          </a:p>
          <a:p>
            <a:pPr marL="342900" lvl="0" indent="-241300" algn="l" rtl="0">
              <a:spcBef>
                <a:spcPts val="1000"/>
              </a:spcBef>
              <a:spcAft>
                <a:spcPts val="0"/>
              </a:spcAft>
              <a:buSzPct val="80000"/>
              <a:buNone/>
            </a:pPr>
            <a:endParaRPr/>
          </a:p>
          <a:p>
            <a:pPr marL="342900" lvl="0" indent="-241300" algn="l" rtl="0">
              <a:spcBef>
                <a:spcPts val="1000"/>
              </a:spcBef>
              <a:spcAft>
                <a:spcPts val="0"/>
              </a:spcAft>
              <a:buSzPct val="80000"/>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g145ea7f5fe7_1_39"/>
          <p:cNvSpPr txBox="1">
            <a:spLocks noGrp="1"/>
          </p:cNvSpPr>
          <p:nvPr>
            <p:ph type="title"/>
          </p:nvPr>
        </p:nvSpPr>
        <p:spPr>
          <a:xfrm>
            <a:off x="646111" y="452718"/>
            <a:ext cx="9404700" cy="14004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3200"/>
              <a:buFont typeface="Century Gothic"/>
              <a:buNone/>
            </a:pPr>
            <a:r>
              <a:rPr lang="en-US" sz="3200"/>
              <a:t>Pros of R</a:t>
            </a:r>
            <a:endParaRPr/>
          </a:p>
        </p:txBody>
      </p:sp>
      <p:sp>
        <p:nvSpPr>
          <p:cNvPr id="224" name="Google Shape;224;g145ea7f5fe7_1_39"/>
          <p:cNvSpPr txBox="1">
            <a:spLocks noGrp="1"/>
          </p:cNvSpPr>
          <p:nvPr>
            <p:ph type="body" idx="1"/>
          </p:nvPr>
        </p:nvSpPr>
        <p:spPr>
          <a:xfrm>
            <a:off x="728133" y="922867"/>
            <a:ext cx="10363200" cy="5875800"/>
          </a:xfrm>
          <a:prstGeom prst="rect">
            <a:avLst/>
          </a:prstGeom>
          <a:noFill/>
          <a:ln>
            <a:noFill/>
          </a:ln>
        </p:spPr>
        <p:txBody>
          <a:bodyPr spcFirstLastPara="1" wrap="square" lIns="91425" tIns="45700" rIns="91425" bIns="45700" anchor="t" anchorCtr="0">
            <a:normAutofit fontScale="92500" lnSpcReduction="10000"/>
          </a:bodyPr>
          <a:lstStyle/>
          <a:p>
            <a:pPr marL="342900" lvl="0" indent="-335280" algn="l" rtl="0">
              <a:spcBef>
                <a:spcPts val="0"/>
              </a:spcBef>
              <a:spcAft>
                <a:spcPts val="0"/>
              </a:spcAft>
              <a:buSzPct val="80000"/>
              <a:buChar char="►"/>
            </a:pPr>
            <a:r>
              <a:rPr lang="en-US"/>
              <a:t>Highly Compatible : R is highly compatible and can be paired with many other programming languages like C, C++, Java, and Python. It can also be integrated with technologies like Hadoop and various other database management systems as well.</a:t>
            </a:r>
            <a:endParaRPr/>
          </a:p>
          <a:p>
            <a:pPr marL="342900" lvl="0" indent="-335280" algn="l" rtl="0">
              <a:spcBef>
                <a:spcPts val="1000"/>
              </a:spcBef>
              <a:spcAft>
                <a:spcPts val="0"/>
              </a:spcAft>
              <a:buSzPct val="80000"/>
              <a:buChar char="►"/>
            </a:pPr>
            <a:r>
              <a:rPr lang="en-US"/>
              <a:t>Platform Independent : R is a platform-independent language. It is a cross-platform programming language, meaning that it can be run quite easily on Windows, Linux, and Mac.</a:t>
            </a:r>
            <a:endParaRPr/>
          </a:p>
          <a:p>
            <a:pPr marL="342900" lvl="0" indent="-335280" algn="l" rtl="0">
              <a:spcBef>
                <a:spcPts val="1000"/>
              </a:spcBef>
              <a:spcAft>
                <a:spcPts val="0"/>
              </a:spcAft>
              <a:buSzPct val="80000"/>
              <a:buChar char="►"/>
            </a:pPr>
            <a:r>
              <a:rPr lang="en-US"/>
              <a:t>Eye-Catching Reports : With packages like Shiny and Markdown, reporting the results of an analysis is extremely easy with R. You can make reports with the data, plots and R scripts embedded in them. You can even make interactive web apps that allow the user to play with the results and the data.</a:t>
            </a:r>
            <a:endParaRPr/>
          </a:p>
          <a:p>
            <a:pPr marL="342900" lvl="0" indent="-335280" algn="l" rtl="0">
              <a:spcBef>
                <a:spcPts val="1000"/>
              </a:spcBef>
              <a:spcAft>
                <a:spcPts val="0"/>
              </a:spcAft>
              <a:buSzPct val="80000"/>
              <a:buChar char="►"/>
            </a:pPr>
            <a:r>
              <a:rPr lang="en-US"/>
              <a:t>Machine Learning Operations : R provides various facilities for carrying out machine learning operations like </a:t>
            </a:r>
            <a:r>
              <a:rPr lang="en-US" i="1"/>
              <a:t>classification, regression and also provides features for developing artificial neural networks.</a:t>
            </a:r>
            <a:endParaRPr/>
          </a:p>
          <a:p>
            <a:pPr marL="342900" lvl="0" indent="-335280" algn="l" rtl="0">
              <a:spcBef>
                <a:spcPts val="1000"/>
              </a:spcBef>
              <a:spcAft>
                <a:spcPts val="0"/>
              </a:spcAft>
              <a:buSzPct val="80000"/>
              <a:buChar char="►"/>
            </a:pPr>
            <a:r>
              <a:rPr lang="en-US"/>
              <a:t>Statistics : R is prominently known as the lingua franca of statistics. This is the main reason as to why R is dominant among other programming languages for developing statistical tools.</a:t>
            </a:r>
            <a:endParaRPr/>
          </a:p>
          <a:p>
            <a:pPr marL="342900" lvl="0" indent="-335280" algn="l" rtl="0">
              <a:spcBef>
                <a:spcPts val="1000"/>
              </a:spcBef>
              <a:spcAft>
                <a:spcPts val="0"/>
              </a:spcAft>
              <a:buSzPct val="80000"/>
              <a:buChar char="►"/>
            </a:pPr>
            <a:r>
              <a:rPr lang="en-US"/>
              <a:t>Continuously Growing……</a:t>
            </a:r>
            <a:endParaRPr/>
          </a:p>
          <a:p>
            <a:pPr marL="342900" lvl="0" indent="-241300" algn="l" rtl="0">
              <a:spcBef>
                <a:spcPts val="1000"/>
              </a:spcBef>
              <a:spcAft>
                <a:spcPts val="0"/>
              </a:spcAft>
              <a:buSzPct val="80000"/>
              <a:buNone/>
            </a:pPr>
            <a:endParaRPr/>
          </a:p>
          <a:p>
            <a:pPr marL="342900" lvl="0" indent="-241300" algn="l" rtl="0">
              <a:spcBef>
                <a:spcPts val="1000"/>
              </a:spcBef>
              <a:spcAft>
                <a:spcPts val="0"/>
              </a:spcAft>
              <a:buSzPct val="80000"/>
              <a:buNone/>
            </a:pPr>
            <a:endParaRPr/>
          </a:p>
          <a:p>
            <a:pPr marL="342900" lvl="0" indent="-241300" algn="l" rtl="0">
              <a:spcBef>
                <a:spcPts val="1000"/>
              </a:spcBef>
              <a:spcAft>
                <a:spcPts val="0"/>
              </a:spcAft>
              <a:buSzPct val="80000"/>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g145ea7f5fe7_1_44"/>
          <p:cNvSpPr txBox="1">
            <a:spLocks noGrp="1"/>
          </p:cNvSpPr>
          <p:nvPr>
            <p:ph type="title"/>
          </p:nvPr>
        </p:nvSpPr>
        <p:spPr>
          <a:xfrm>
            <a:off x="646111" y="452718"/>
            <a:ext cx="9404700" cy="14004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a:t>Cons of R </a:t>
            </a:r>
            <a:endParaRPr/>
          </a:p>
        </p:txBody>
      </p:sp>
      <p:sp>
        <p:nvSpPr>
          <p:cNvPr id="230" name="Google Shape;230;g145ea7f5fe7_1_44"/>
          <p:cNvSpPr txBox="1">
            <a:spLocks noGrp="1"/>
          </p:cNvSpPr>
          <p:nvPr>
            <p:ph type="body" idx="1"/>
          </p:nvPr>
        </p:nvSpPr>
        <p:spPr>
          <a:xfrm>
            <a:off x="770468" y="1151468"/>
            <a:ext cx="9279300" cy="50970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600"/>
              <a:buChar char="►"/>
            </a:pPr>
            <a:r>
              <a:rPr lang="en-US"/>
              <a:t>Weak Origin : R shares its origin with </a:t>
            </a:r>
            <a:r>
              <a:rPr lang="en-US">
                <a:solidFill>
                  <a:srgbClr val="FF9900"/>
                </a:solidFill>
              </a:rPr>
              <a:t>a much older programming language “</a:t>
            </a:r>
            <a:r>
              <a:rPr lang="en-US" b="1">
                <a:solidFill>
                  <a:srgbClr val="FF9900"/>
                </a:solidFill>
              </a:rPr>
              <a:t>S</a:t>
            </a:r>
            <a:r>
              <a:rPr lang="en-US">
                <a:solidFill>
                  <a:srgbClr val="FF9900"/>
                </a:solidFill>
              </a:rPr>
              <a:t>”. This means that it’s base package does not have support for dynamic or 3D graphics</a:t>
            </a:r>
            <a:r>
              <a:rPr lang="en-US"/>
              <a:t>. With common packages of R like ggplot2 and Plotly, it is possible to create dynamic, 3D as well as animated graphics.</a:t>
            </a:r>
            <a:endParaRPr/>
          </a:p>
          <a:p>
            <a:pPr marL="342900" lvl="0" indent="-342900" algn="l" rtl="0">
              <a:spcBef>
                <a:spcPts val="1000"/>
              </a:spcBef>
              <a:spcAft>
                <a:spcPts val="0"/>
              </a:spcAft>
              <a:buSzPts val="1600"/>
              <a:buChar char="►"/>
            </a:pPr>
            <a:r>
              <a:rPr lang="en-US"/>
              <a:t>Complicated Language : </a:t>
            </a:r>
            <a:r>
              <a:rPr lang="en-US">
                <a:solidFill>
                  <a:srgbClr val="FF9900"/>
                </a:solidFill>
              </a:rPr>
              <a:t>R is not an easy language to learn</a:t>
            </a:r>
            <a:r>
              <a:rPr lang="en-US"/>
              <a:t>. It has a </a:t>
            </a:r>
            <a:r>
              <a:rPr lang="en-US">
                <a:solidFill>
                  <a:srgbClr val="FF9900"/>
                </a:solidFill>
              </a:rPr>
              <a:t>steep learning curve</a:t>
            </a:r>
            <a:r>
              <a:rPr lang="en-US"/>
              <a:t>. Due to this, people who do not have prior programming experience may find it difficult to learn R.</a:t>
            </a:r>
            <a:endParaRPr/>
          </a:p>
          <a:p>
            <a:pPr marL="342900" lvl="0" indent="-342900" algn="l" rtl="0">
              <a:spcBef>
                <a:spcPts val="1000"/>
              </a:spcBef>
              <a:spcAft>
                <a:spcPts val="0"/>
              </a:spcAft>
              <a:buSzPts val="1600"/>
              <a:buChar char="►"/>
            </a:pPr>
            <a:r>
              <a:rPr lang="en-US"/>
              <a:t>Lesser Speed : R packages and the R programming language is much slower than other </a:t>
            </a:r>
            <a:r>
              <a:rPr lang="en-US">
                <a:solidFill>
                  <a:srgbClr val="FF9900"/>
                </a:solidFill>
              </a:rPr>
              <a:t>languages like </a:t>
            </a:r>
            <a:r>
              <a:rPr lang="en-US" i="1">
                <a:solidFill>
                  <a:srgbClr val="FF9900"/>
                </a:solidFill>
              </a:rPr>
              <a:t>MATLAB</a:t>
            </a:r>
            <a:r>
              <a:rPr lang="en-US">
                <a:solidFill>
                  <a:srgbClr val="FF9900"/>
                </a:solidFill>
              </a:rPr>
              <a:t> and </a:t>
            </a:r>
            <a:r>
              <a:rPr lang="en-US" i="1">
                <a:solidFill>
                  <a:srgbClr val="FF9900"/>
                </a:solidFill>
              </a:rPr>
              <a:t>Python</a:t>
            </a:r>
            <a:r>
              <a:rPr lang="en-US"/>
              <a:t>.</a:t>
            </a:r>
            <a:endParaRPr/>
          </a:p>
          <a:p>
            <a:pPr marL="342900" lvl="0" indent="-342900" algn="l" rtl="0">
              <a:spcBef>
                <a:spcPts val="1000"/>
              </a:spcBef>
              <a:spcAft>
                <a:spcPts val="0"/>
              </a:spcAft>
              <a:buSzPts val="1600"/>
              <a:buChar char="►"/>
            </a:pPr>
            <a:r>
              <a:rPr lang="en-US"/>
              <a:t>Spread Across various Packages : The algorithms in R are spread across different packages. Programmers without prior knowledge of packages may find it difficult to implement algorithms.</a:t>
            </a:r>
            <a:endParaRPr/>
          </a:p>
          <a:p>
            <a:pPr marL="342900" lvl="0" indent="-241300" algn="l" rtl="0">
              <a:spcBef>
                <a:spcPts val="1000"/>
              </a:spcBef>
              <a:spcAft>
                <a:spcPts val="0"/>
              </a:spcAft>
              <a:buSzPts val="1600"/>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12"/>
          <p:cNvSpPr txBox="1">
            <a:spLocks noGrp="1"/>
          </p:cNvSpPr>
          <p:nvPr>
            <p:ph type="title"/>
          </p:nvPr>
        </p:nvSpPr>
        <p:spPr>
          <a:xfrm>
            <a:off x="646100" y="452722"/>
            <a:ext cx="9404700" cy="846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000"/>
              <a:buFont typeface="Century Gothic"/>
              <a:buNone/>
            </a:pPr>
            <a:r>
              <a:rPr lang="en-US" sz="4000"/>
              <a:t>Getting R</a:t>
            </a:r>
            <a:endParaRPr/>
          </a:p>
        </p:txBody>
      </p:sp>
      <p:sp>
        <p:nvSpPr>
          <p:cNvPr id="240" name="Google Shape;240;p12"/>
          <p:cNvSpPr txBox="1">
            <a:spLocks noGrp="1"/>
          </p:cNvSpPr>
          <p:nvPr>
            <p:ph type="body" idx="1"/>
          </p:nvPr>
        </p:nvSpPr>
        <p:spPr>
          <a:xfrm>
            <a:off x="721900" y="2897900"/>
            <a:ext cx="5145900" cy="2339700"/>
          </a:xfrm>
          <a:prstGeom prst="rect">
            <a:avLst/>
          </a:prstGeom>
          <a:noFill/>
          <a:ln>
            <a:noFill/>
          </a:ln>
        </p:spPr>
        <p:txBody>
          <a:bodyPr spcFirstLastPara="1" wrap="square" lIns="91425" tIns="45700" rIns="91425" bIns="45700" anchor="t" anchorCtr="0">
            <a:normAutofit fontScale="92500" lnSpcReduction="10000"/>
          </a:bodyPr>
          <a:lstStyle/>
          <a:p>
            <a:pPr marL="342900" lvl="0" indent="-320040" algn="l" rtl="0">
              <a:spcBef>
                <a:spcPts val="0"/>
              </a:spcBef>
              <a:spcAft>
                <a:spcPts val="0"/>
              </a:spcAft>
              <a:buSzPct val="80000"/>
              <a:buChar char="►"/>
            </a:pPr>
            <a:r>
              <a:rPr lang="en-US"/>
              <a:t>R GUI is the standard GUI platform for working in R. </a:t>
            </a:r>
            <a:endParaRPr/>
          </a:p>
          <a:p>
            <a:pPr marL="342900" lvl="0" indent="0" algn="l" rtl="0">
              <a:spcBef>
                <a:spcPts val="0"/>
              </a:spcBef>
              <a:spcAft>
                <a:spcPts val="0"/>
              </a:spcAft>
              <a:buNone/>
            </a:pPr>
            <a:endParaRPr/>
          </a:p>
          <a:p>
            <a:pPr marL="342900" lvl="0" indent="-320040" algn="l" rtl="0">
              <a:spcBef>
                <a:spcPts val="1000"/>
              </a:spcBef>
              <a:spcAft>
                <a:spcPts val="0"/>
              </a:spcAft>
              <a:buSzPct val="80000"/>
              <a:buChar char="►"/>
            </a:pPr>
            <a:r>
              <a:rPr lang="en-US"/>
              <a:t>The R Console Window forms an essential part of the R GUI. In this window, we input </a:t>
            </a:r>
            <a:r>
              <a:rPr lang="en-US" i="1"/>
              <a:t>various instructions, scripts and several other important operations</a:t>
            </a:r>
            <a:endParaRPr/>
          </a:p>
          <a:p>
            <a:pPr marL="0" lvl="0" indent="0" algn="l" rtl="0">
              <a:spcBef>
                <a:spcPts val="1000"/>
              </a:spcBef>
              <a:spcAft>
                <a:spcPts val="0"/>
              </a:spcAft>
              <a:buSzPct val="80000"/>
              <a:buNone/>
            </a:pPr>
            <a:endParaRPr i="1"/>
          </a:p>
          <a:p>
            <a:pPr marL="0" lvl="0" indent="0" algn="l" rtl="0">
              <a:spcBef>
                <a:spcPts val="1000"/>
              </a:spcBef>
              <a:spcAft>
                <a:spcPts val="0"/>
              </a:spcAft>
              <a:buSzPct val="80000"/>
              <a:buNone/>
            </a:pPr>
            <a:endParaRPr/>
          </a:p>
        </p:txBody>
      </p:sp>
      <p:pic>
        <p:nvPicPr>
          <p:cNvPr id="241" name="Google Shape;241;p12"/>
          <p:cNvPicPr preferRelativeResize="0"/>
          <p:nvPr/>
        </p:nvPicPr>
        <p:blipFill rotWithShape="1">
          <a:blip r:embed="rId3">
            <a:alphaModFix/>
          </a:blip>
          <a:srcRect/>
          <a:stretch/>
        </p:blipFill>
        <p:spPr>
          <a:xfrm>
            <a:off x="8792575" y="3391375"/>
            <a:ext cx="3105849" cy="2320334"/>
          </a:xfrm>
          <a:prstGeom prst="rect">
            <a:avLst/>
          </a:prstGeom>
          <a:noFill/>
          <a:ln>
            <a:noFill/>
          </a:ln>
        </p:spPr>
      </p:pic>
      <p:sp>
        <p:nvSpPr>
          <p:cNvPr id="242" name="Google Shape;242;p12"/>
          <p:cNvSpPr txBox="1"/>
          <p:nvPr/>
        </p:nvSpPr>
        <p:spPr>
          <a:xfrm>
            <a:off x="7832850" y="6515650"/>
            <a:ext cx="4063200" cy="184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
                <a:solidFill>
                  <a:schemeClr val="lt1"/>
                </a:solidFill>
                <a:latin typeface="Century Gothic"/>
                <a:ea typeface="Century Gothic"/>
                <a:cs typeface="Century Gothic"/>
                <a:sym typeface="Century Gothic"/>
              </a:rPr>
              <a:t>Source :https://www.oreilly.com/library/view/r-in-a/9781449358204/ch02s01.html</a:t>
            </a:r>
            <a:endParaRPr sz="600"/>
          </a:p>
        </p:txBody>
      </p:sp>
      <p:sp>
        <p:nvSpPr>
          <p:cNvPr id="243" name="Google Shape;243;p12"/>
          <p:cNvSpPr txBox="1"/>
          <p:nvPr/>
        </p:nvSpPr>
        <p:spPr>
          <a:xfrm>
            <a:off x="598150" y="1464425"/>
            <a:ext cx="8786400" cy="1108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000">
                <a:solidFill>
                  <a:schemeClr val="lt1"/>
                </a:solidFill>
                <a:latin typeface="Century Gothic"/>
                <a:ea typeface="Century Gothic"/>
                <a:cs typeface="Century Gothic"/>
                <a:sym typeface="Century Gothic"/>
              </a:rPr>
              <a:t>Downloading and installation of R</a:t>
            </a:r>
            <a:endParaRPr sz="2000">
              <a:solidFill>
                <a:schemeClr val="lt1"/>
              </a:solidFill>
              <a:latin typeface="Century Gothic"/>
              <a:ea typeface="Century Gothic"/>
              <a:cs typeface="Century Gothic"/>
              <a:sym typeface="Century Gothic"/>
            </a:endParaRPr>
          </a:p>
          <a:p>
            <a:pPr marL="0" lvl="0" indent="0" algn="l" rtl="0">
              <a:spcBef>
                <a:spcPts val="0"/>
              </a:spcBef>
              <a:spcAft>
                <a:spcPts val="0"/>
              </a:spcAft>
              <a:buNone/>
            </a:pPr>
            <a:r>
              <a:rPr lang="en-US" sz="2000">
                <a:solidFill>
                  <a:schemeClr val="lt1"/>
                </a:solidFill>
                <a:latin typeface="Century Gothic"/>
                <a:ea typeface="Century Gothic"/>
                <a:cs typeface="Century Gothic"/>
                <a:sym typeface="Century Gothic"/>
              </a:rPr>
              <a:t>Download binary files for major operating systems https://cloud.r-project.org/</a:t>
            </a:r>
            <a:endParaRPr>
              <a:latin typeface="Century Gothic"/>
              <a:ea typeface="Century Gothic"/>
              <a:cs typeface="Century Gothic"/>
              <a:sym typeface="Century Gothic"/>
            </a:endParaRPr>
          </a:p>
        </p:txBody>
      </p:sp>
      <p:pic>
        <p:nvPicPr>
          <p:cNvPr id="244" name="Google Shape;244;p12"/>
          <p:cNvPicPr preferRelativeResize="0"/>
          <p:nvPr/>
        </p:nvPicPr>
        <p:blipFill rotWithShape="1">
          <a:blip r:embed="rId4">
            <a:alphaModFix/>
          </a:blip>
          <a:srcRect/>
          <a:stretch/>
        </p:blipFill>
        <p:spPr>
          <a:xfrm>
            <a:off x="7112676" y="193025"/>
            <a:ext cx="4892123" cy="233970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13"/>
          <p:cNvSpPr txBox="1">
            <a:spLocks noGrp="1"/>
          </p:cNvSpPr>
          <p:nvPr>
            <p:ph type="title"/>
          </p:nvPr>
        </p:nvSpPr>
        <p:spPr>
          <a:xfrm>
            <a:off x="677036" y="91768"/>
            <a:ext cx="9404700" cy="14004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a:t>RStudio</a:t>
            </a:r>
            <a:br>
              <a:rPr lang="en-US"/>
            </a:br>
            <a:endParaRPr/>
          </a:p>
        </p:txBody>
      </p:sp>
      <p:sp>
        <p:nvSpPr>
          <p:cNvPr id="250" name="Google Shape;250;p13"/>
          <p:cNvSpPr txBox="1">
            <a:spLocks noGrp="1"/>
          </p:cNvSpPr>
          <p:nvPr>
            <p:ph type="body" idx="1"/>
          </p:nvPr>
        </p:nvSpPr>
        <p:spPr>
          <a:xfrm>
            <a:off x="753527" y="1278475"/>
            <a:ext cx="7022400" cy="5511900"/>
          </a:xfrm>
          <a:prstGeom prst="rect">
            <a:avLst/>
          </a:prstGeom>
          <a:noFill/>
          <a:ln>
            <a:noFill/>
          </a:ln>
        </p:spPr>
        <p:txBody>
          <a:bodyPr spcFirstLastPara="1" wrap="square" lIns="91425" tIns="45700" rIns="91425" bIns="45700" anchor="t" anchorCtr="0">
            <a:normAutofit lnSpcReduction="10000"/>
          </a:bodyPr>
          <a:lstStyle/>
          <a:p>
            <a:pPr marL="342900" lvl="0" indent="-342900" algn="l" rtl="0">
              <a:spcBef>
                <a:spcPts val="0"/>
              </a:spcBef>
              <a:spcAft>
                <a:spcPts val="0"/>
              </a:spcAft>
              <a:buSzPts val="1600"/>
              <a:buChar char="►"/>
            </a:pPr>
            <a:r>
              <a:rPr lang="en-US"/>
              <a:t>RStudio is an integrated </a:t>
            </a:r>
            <a:r>
              <a:rPr lang="en-US" b="1"/>
              <a:t>Development Environment (IDE)</a:t>
            </a:r>
            <a:r>
              <a:rPr lang="en-US"/>
              <a:t> which allows us to interact with R.</a:t>
            </a:r>
            <a:endParaRPr/>
          </a:p>
          <a:p>
            <a:pPr marL="342900" lvl="0" indent="-342900" algn="l" rtl="0">
              <a:spcBef>
                <a:spcPts val="1000"/>
              </a:spcBef>
              <a:spcAft>
                <a:spcPts val="0"/>
              </a:spcAft>
              <a:buSzPts val="1600"/>
              <a:buChar char="►"/>
            </a:pPr>
            <a:r>
              <a:rPr lang="en-US"/>
              <a:t>Can facilitate extensive code editing, code completion, syntax highlighting and development.</a:t>
            </a:r>
            <a:endParaRPr/>
          </a:p>
          <a:p>
            <a:pPr marL="342900" lvl="0" indent="-342900" algn="l" rtl="0">
              <a:spcBef>
                <a:spcPts val="1000"/>
              </a:spcBef>
              <a:spcAft>
                <a:spcPts val="0"/>
              </a:spcAft>
              <a:buSzPts val="1600"/>
              <a:buChar char="►"/>
            </a:pPr>
            <a:r>
              <a:rPr lang="en-US"/>
              <a:t>Easy to manage multiple working directories using projects</a:t>
            </a:r>
            <a:endParaRPr/>
          </a:p>
          <a:p>
            <a:pPr marL="342900" lvl="0" indent="-332740" algn="l" rtl="0">
              <a:spcBef>
                <a:spcPts val="1000"/>
              </a:spcBef>
              <a:spcAft>
                <a:spcPts val="0"/>
              </a:spcAft>
              <a:buSzPts val="1440"/>
              <a:buChar char="►"/>
            </a:pPr>
            <a:r>
              <a:rPr lang="en-US"/>
              <a:t>Integrated R help and documentation, jump to function definitions</a:t>
            </a:r>
            <a:endParaRPr/>
          </a:p>
          <a:p>
            <a:pPr marL="342900" lvl="0" indent="-342900" algn="l" rtl="0">
              <a:spcBef>
                <a:spcPts val="1000"/>
              </a:spcBef>
              <a:spcAft>
                <a:spcPts val="0"/>
              </a:spcAft>
              <a:buSzPts val="1600"/>
              <a:buChar char="►"/>
            </a:pPr>
            <a:r>
              <a:rPr lang="en-US"/>
              <a:t>It can also be accessed over the web and is cross-platform in nature.</a:t>
            </a:r>
            <a:endParaRPr/>
          </a:p>
          <a:p>
            <a:pPr marL="342900" lvl="0" indent="-342900" algn="l" rtl="0">
              <a:spcBef>
                <a:spcPts val="1000"/>
              </a:spcBef>
              <a:spcAft>
                <a:spcPts val="0"/>
              </a:spcAft>
              <a:buSzPts val="1600"/>
              <a:buChar char="►"/>
            </a:pPr>
            <a:r>
              <a:rPr lang="en-US"/>
              <a:t>It facilitates automatic checking of updates so that you don’t have to check for them manually.</a:t>
            </a:r>
            <a:endParaRPr/>
          </a:p>
          <a:p>
            <a:pPr marL="342900" lvl="0" indent="-342900" algn="l" rtl="0">
              <a:spcBef>
                <a:spcPts val="1000"/>
              </a:spcBef>
              <a:spcAft>
                <a:spcPts val="0"/>
              </a:spcAft>
              <a:buSzPts val="1600"/>
              <a:buChar char="►"/>
            </a:pPr>
            <a:r>
              <a:rPr lang="en-US"/>
              <a:t>It provides support for recovery in case of file loss.</a:t>
            </a:r>
            <a:endParaRPr/>
          </a:p>
          <a:p>
            <a:pPr marL="342900" lvl="0" indent="-342900" algn="l" rtl="0">
              <a:spcBef>
                <a:spcPts val="1000"/>
              </a:spcBef>
              <a:spcAft>
                <a:spcPts val="0"/>
              </a:spcAft>
              <a:buSzPts val="1600"/>
              <a:buChar char="►"/>
            </a:pPr>
            <a:r>
              <a:rPr lang="en-US"/>
              <a:t>With RStudio, you can manage the data more efficiently.</a:t>
            </a:r>
            <a:endParaRPr/>
          </a:p>
          <a:p>
            <a:pPr marL="342900" lvl="0" indent="-332740" algn="l" rtl="0">
              <a:spcBef>
                <a:spcPts val="1000"/>
              </a:spcBef>
              <a:spcAft>
                <a:spcPts val="0"/>
              </a:spcAft>
              <a:buSzPts val="1440"/>
              <a:buChar char="►"/>
            </a:pPr>
            <a:r>
              <a:rPr lang="en-US"/>
              <a:t>Rstudio is highly customizable </a:t>
            </a:r>
            <a:endParaRPr/>
          </a:p>
        </p:txBody>
      </p:sp>
      <p:sp>
        <p:nvSpPr>
          <p:cNvPr id="251" name="Google Shape;251;p13"/>
          <p:cNvSpPr txBox="1"/>
          <p:nvPr/>
        </p:nvSpPr>
        <p:spPr>
          <a:xfrm>
            <a:off x="7895450" y="4140125"/>
            <a:ext cx="4111200" cy="110796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000" dirty="0">
                <a:solidFill>
                  <a:schemeClr val="lt1"/>
                </a:solidFill>
                <a:latin typeface="Century Gothic"/>
                <a:ea typeface="Century Gothic"/>
                <a:cs typeface="Century Gothic"/>
                <a:sym typeface="Century Gothic"/>
              </a:rPr>
              <a:t>Downloading and installation of RStudio </a:t>
            </a:r>
            <a:endParaRPr sz="2000" dirty="0">
              <a:solidFill>
                <a:schemeClr val="lt1"/>
              </a:solidFill>
              <a:latin typeface="Century Gothic"/>
              <a:ea typeface="Century Gothic"/>
              <a:cs typeface="Century Gothic"/>
              <a:sym typeface="Century Gothic"/>
            </a:endParaRPr>
          </a:p>
          <a:p>
            <a:pPr lvl="0"/>
            <a:r>
              <a:rPr lang="en-US" sz="2000" dirty="0">
                <a:hlinkClick r:id="rId3"/>
              </a:rPr>
              <a:t>RStudio Desktop - Posit</a:t>
            </a:r>
            <a:endParaRPr dirty="0">
              <a:latin typeface="Century Gothic"/>
              <a:ea typeface="Century Gothic"/>
              <a:cs typeface="Century Gothic"/>
              <a:sym typeface="Century Gothic"/>
            </a:endParaRPr>
          </a:p>
        </p:txBody>
      </p:sp>
      <p:pic>
        <p:nvPicPr>
          <p:cNvPr id="252" name="Google Shape;252;p13"/>
          <p:cNvPicPr preferRelativeResize="0"/>
          <p:nvPr/>
        </p:nvPicPr>
        <p:blipFill>
          <a:blip r:embed="rId4">
            <a:alphaModFix/>
          </a:blip>
          <a:stretch>
            <a:fillRect/>
          </a:stretch>
        </p:blipFill>
        <p:spPr>
          <a:xfrm>
            <a:off x="7895440" y="1355923"/>
            <a:ext cx="4111272" cy="2491003"/>
          </a:xfrm>
          <a:prstGeom prst="rect">
            <a:avLst/>
          </a:prstGeom>
          <a:noFill/>
          <a:ln>
            <a:noFill/>
          </a:ln>
        </p:spPr>
      </p:pic>
      <p:sp>
        <p:nvSpPr>
          <p:cNvPr id="253" name="Google Shape;253;p13"/>
          <p:cNvSpPr txBox="1"/>
          <p:nvPr/>
        </p:nvSpPr>
        <p:spPr>
          <a:xfrm>
            <a:off x="7730450" y="5849325"/>
            <a:ext cx="41808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800" b="1">
                <a:solidFill>
                  <a:srgbClr val="EC5453"/>
                </a:solidFill>
                <a:latin typeface="Century Gothic"/>
                <a:ea typeface="Century Gothic"/>
                <a:cs typeface="Century Gothic"/>
                <a:sym typeface="Century Gothic"/>
              </a:rPr>
              <a:t>We will use Rstudio for this training</a:t>
            </a:r>
            <a:endParaRPr sz="1800" b="1">
              <a:solidFill>
                <a:srgbClr val="EC5453"/>
              </a:solidFill>
              <a:latin typeface="Century Gothic"/>
              <a:ea typeface="Century Gothic"/>
              <a:cs typeface="Century Gothic"/>
              <a:sym typeface="Century Gothic"/>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15"/>
          <p:cNvSpPr txBox="1">
            <a:spLocks noGrp="1"/>
          </p:cNvSpPr>
          <p:nvPr>
            <p:ph type="title"/>
          </p:nvPr>
        </p:nvSpPr>
        <p:spPr>
          <a:xfrm>
            <a:off x="0" y="0"/>
            <a:ext cx="9404723" cy="140053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3200"/>
              <a:buFont typeface="Century Gothic"/>
              <a:buNone/>
            </a:pPr>
            <a:r>
              <a:rPr lang="en-US" sz="3200"/>
              <a:t>Components of RStudio </a:t>
            </a:r>
            <a:endParaRPr/>
          </a:p>
        </p:txBody>
      </p:sp>
      <p:pic>
        <p:nvPicPr>
          <p:cNvPr id="259" name="Google Shape;259;p15"/>
          <p:cNvPicPr preferRelativeResize="0">
            <a:picLocks noGrp="1"/>
          </p:cNvPicPr>
          <p:nvPr>
            <p:ph type="body" idx="1"/>
          </p:nvPr>
        </p:nvPicPr>
        <p:blipFill rotWithShape="1">
          <a:blip r:embed="rId3">
            <a:alphaModFix/>
          </a:blip>
          <a:srcRect/>
          <a:stretch/>
        </p:blipFill>
        <p:spPr>
          <a:xfrm>
            <a:off x="59267" y="515902"/>
            <a:ext cx="11891400" cy="6342000"/>
          </a:xfrm>
          <a:prstGeom prst="rect">
            <a:avLst/>
          </a:prstGeom>
          <a:noFill/>
          <a:ln>
            <a:noFill/>
          </a:ln>
        </p:spPr>
      </p:pic>
      <p:grpSp>
        <p:nvGrpSpPr>
          <p:cNvPr id="260" name="Google Shape;260;p15"/>
          <p:cNvGrpSpPr/>
          <p:nvPr/>
        </p:nvGrpSpPr>
        <p:grpSpPr>
          <a:xfrm>
            <a:off x="397700" y="1251768"/>
            <a:ext cx="10500708" cy="5088941"/>
            <a:chOff x="397700" y="1251825"/>
            <a:chExt cx="10500708" cy="3400562"/>
          </a:xfrm>
        </p:grpSpPr>
        <p:sp>
          <p:nvSpPr>
            <p:cNvPr id="261" name="Google Shape;261;p15"/>
            <p:cNvSpPr txBox="1"/>
            <p:nvPr/>
          </p:nvSpPr>
          <p:spPr>
            <a:xfrm>
              <a:off x="397700" y="1251825"/>
              <a:ext cx="2232000" cy="390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a:solidFill>
                    <a:schemeClr val="dk1"/>
                  </a:solidFill>
                  <a:latin typeface="Century Gothic"/>
                  <a:ea typeface="Century Gothic"/>
                  <a:cs typeface="Century Gothic"/>
                  <a:sym typeface="Century Gothic"/>
                </a:rPr>
                <a:t>SOURCE</a:t>
              </a:r>
              <a:endParaRPr/>
            </a:p>
          </p:txBody>
        </p:sp>
        <p:sp>
          <p:nvSpPr>
            <p:cNvPr id="262" name="Google Shape;262;p15"/>
            <p:cNvSpPr txBox="1"/>
            <p:nvPr/>
          </p:nvSpPr>
          <p:spPr>
            <a:xfrm>
              <a:off x="6063908" y="1387315"/>
              <a:ext cx="4834500" cy="390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a:solidFill>
                    <a:schemeClr val="dk1"/>
                  </a:solidFill>
                  <a:latin typeface="Century Gothic"/>
                  <a:ea typeface="Century Gothic"/>
                  <a:cs typeface="Century Gothic"/>
                  <a:sym typeface="Century Gothic"/>
                </a:rPr>
                <a:t>HISTORY/ENVIRONMENT</a:t>
              </a:r>
              <a:endParaRPr/>
            </a:p>
          </p:txBody>
        </p:sp>
        <p:sp>
          <p:nvSpPr>
            <p:cNvPr id="263" name="Google Shape;263;p15"/>
            <p:cNvSpPr txBox="1"/>
            <p:nvPr/>
          </p:nvSpPr>
          <p:spPr>
            <a:xfrm>
              <a:off x="1016475" y="4261487"/>
              <a:ext cx="3192000" cy="390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a:solidFill>
                    <a:schemeClr val="dk1"/>
                  </a:solidFill>
                  <a:latin typeface="Century Gothic"/>
                  <a:ea typeface="Century Gothic"/>
                  <a:cs typeface="Century Gothic"/>
                  <a:sym typeface="Century Gothic"/>
                </a:rPr>
                <a:t>CONSOLE</a:t>
              </a:r>
              <a:endParaRPr/>
            </a:p>
          </p:txBody>
        </p:sp>
        <p:sp>
          <p:nvSpPr>
            <p:cNvPr id="264" name="Google Shape;264;p15"/>
            <p:cNvSpPr txBox="1"/>
            <p:nvPr/>
          </p:nvSpPr>
          <p:spPr>
            <a:xfrm>
              <a:off x="6011358" y="3339161"/>
              <a:ext cx="4605900" cy="390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1"/>
                  </a:solidFill>
                  <a:latin typeface="Century Gothic"/>
                  <a:ea typeface="Century Gothic"/>
                  <a:cs typeface="Century Gothic"/>
                  <a:sym typeface="Century Gothic"/>
                </a:rPr>
                <a:t>FIGURES/FILES/</a:t>
              </a:r>
              <a:r>
                <a:rPr lang="en-US" sz="3200">
                  <a:solidFill>
                    <a:schemeClr val="dk1"/>
                  </a:solidFill>
                  <a:latin typeface="Century Gothic"/>
                  <a:ea typeface="Century Gothic"/>
                  <a:cs typeface="Century Gothic"/>
                  <a:sym typeface="Century Gothic"/>
                </a:rPr>
                <a:t>HELP</a:t>
              </a:r>
              <a:endParaRPr/>
            </a:p>
          </p:txBody>
        </p:sp>
      </p:grpSp>
      <p:sp>
        <p:nvSpPr>
          <p:cNvPr id="265" name="Google Shape;265;p15"/>
          <p:cNvSpPr txBox="1"/>
          <p:nvPr/>
        </p:nvSpPr>
        <p:spPr>
          <a:xfrm>
            <a:off x="397700" y="1815050"/>
            <a:ext cx="5542500" cy="2031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000">
                <a:solidFill>
                  <a:schemeClr val="dk1"/>
                </a:solidFill>
                <a:latin typeface="Century Gothic"/>
                <a:ea typeface="Century Gothic"/>
                <a:cs typeface="Century Gothic"/>
                <a:sym typeface="Century Gothic"/>
              </a:rPr>
              <a:t>In the top left corner of the screen is the </a:t>
            </a:r>
            <a:r>
              <a:rPr lang="en-US" sz="2000">
                <a:solidFill>
                  <a:srgbClr val="EC5453"/>
                </a:solidFill>
                <a:latin typeface="Century Gothic"/>
                <a:ea typeface="Century Gothic"/>
                <a:cs typeface="Century Gothic"/>
                <a:sym typeface="Century Gothic"/>
              </a:rPr>
              <a:t>text editor</a:t>
            </a:r>
            <a:r>
              <a:rPr lang="en-US" sz="2000">
                <a:solidFill>
                  <a:schemeClr val="dk1"/>
                </a:solidFill>
                <a:latin typeface="Century Gothic"/>
                <a:ea typeface="Century Gothic"/>
                <a:cs typeface="Century Gothic"/>
                <a:sym typeface="Century Gothic"/>
              </a:rPr>
              <a:t> that allows you to work within source scripting. You can enter multiple lines in this source. Furthermore, users can save the R scripts to files that are stored in local memory.</a:t>
            </a:r>
            <a:endParaRPr>
              <a:solidFill>
                <a:schemeClr val="dk1"/>
              </a:solidFill>
            </a:endParaRPr>
          </a:p>
        </p:txBody>
      </p:sp>
      <p:sp>
        <p:nvSpPr>
          <p:cNvPr id="266" name="Google Shape;266;p15"/>
          <p:cNvSpPr txBox="1"/>
          <p:nvPr/>
        </p:nvSpPr>
        <p:spPr>
          <a:xfrm>
            <a:off x="3001025" y="4434475"/>
            <a:ext cx="3000000" cy="2339700"/>
          </a:xfrm>
          <a:prstGeom prst="rect">
            <a:avLst/>
          </a:prstGeom>
          <a:noFill/>
          <a:ln>
            <a:noFill/>
          </a:ln>
        </p:spPr>
        <p:txBody>
          <a:bodyPr spcFirstLastPara="1" wrap="square" lIns="91425" tIns="91425" rIns="91425" bIns="91425" anchor="t" anchorCtr="0">
            <a:spAutoFit/>
          </a:bodyPr>
          <a:lstStyle/>
          <a:p>
            <a:pPr marL="0" lvl="0" indent="0" algn="l" rtl="0">
              <a:spcBef>
                <a:spcPts val="1000"/>
              </a:spcBef>
              <a:spcAft>
                <a:spcPts val="0"/>
              </a:spcAft>
              <a:buNone/>
            </a:pPr>
            <a:r>
              <a:rPr lang="en-US" sz="2000">
                <a:solidFill>
                  <a:schemeClr val="dk1"/>
                </a:solidFill>
                <a:latin typeface="Century Gothic"/>
                <a:ea typeface="Century Gothic"/>
                <a:cs typeface="Century Gothic"/>
                <a:sym typeface="Century Gothic"/>
              </a:rPr>
              <a:t>This is present on the bottom left corner of the main window of R Studio. It facilitates interactive scripting in R. Just like </a:t>
            </a:r>
            <a:r>
              <a:rPr lang="en-US" sz="2000">
                <a:solidFill>
                  <a:srgbClr val="EC5453"/>
                </a:solidFill>
                <a:latin typeface="Century Gothic"/>
                <a:ea typeface="Century Gothic"/>
                <a:cs typeface="Century Gothic"/>
                <a:sym typeface="Century Gothic"/>
              </a:rPr>
              <a:t>Standard R console</a:t>
            </a:r>
            <a:endParaRPr sz="2000">
              <a:solidFill>
                <a:srgbClr val="EC5453"/>
              </a:solidFill>
              <a:latin typeface="Century Gothic"/>
              <a:ea typeface="Century Gothic"/>
              <a:cs typeface="Century Gothic"/>
              <a:sym typeface="Century Gothic"/>
            </a:endParaRPr>
          </a:p>
        </p:txBody>
      </p:sp>
      <p:sp>
        <p:nvSpPr>
          <p:cNvPr id="267" name="Google Shape;267;p15"/>
          <p:cNvSpPr txBox="1"/>
          <p:nvPr/>
        </p:nvSpPr>
        <p:spPr>
          <a:xfrm>
            <a:off x="6063900" y="2093500"/>
            <a:ext cx="5806200" cy="1416000"/>
          </a:xfrm>
          <a:prstGeom prst="rect">
            <a:avLst/>
          </a:prstGeom>
          <a:noFill/>
          <a:ln>
            <a:noFill/>
          </a:ln>
        </p:spPr>
        <p:txBody>
          <a:bodyPr spcFirstLastPara="1" wrap="square" lIns="91425" tIns="91425" rIns="91425" bIns="91425" anchor="t" anchorCtr="0">
            <a:spAutoFit/>
          </a:bodyPr>
          <a:lstStyle/>
          <a:p>
            <a:pPr marL="0" lvl="0" indent="0" algn="l" rtl="0">
              <a:spcBef>
                <a:spcPts val="1000"/>
              </a:spcBef>
              <a:spcAft>
                <a:spcPts val="0"/>
              </a:spcAft>
              <a:buNone/>
            </a:pPr>
            <a:r>
              <a:rPr lang="en-US" sz="2000">
                <a:solidFill>
                  <a:schemeClr val="dk1"/>
                </a:solidFill>
                <a:latin typeface="Century Gothic"/>
                <a:ea typeface="Century Gothic"/>
                <a:cs typeface="Century Gothic"/>
                <a:sym typeface="Century Gothic"/>
              </a:rPr>
              <a:t>In the top right corner, you will find the R workspace and the history window. Holds information about the workspace, command history, files in the current folder.</a:t>
            </a:r>
            <a:endParaRPr>
              <a:solidFill>
                <a:schemeClr val="dk1"/>
              </a:solidFill>
            </a:endParaRPr>
          </a:p>
        </p:txBody>
      </p:sp>
      <p:sp>
        <p:nvSpPr>
          <p:cNvPr id="268" name="Google Shape;268;p15"/>
          <p:cNvSpPr txBox="1"/>
          <p:nvPr/>
        </p:nvSpPr>
        <p:spPr>
          <a:xfrm>
            <a:off x="6063900" y="5040675"/>
            <a:ext cx="5806200" cy="800400"/>
          </a:xfrm>
          <a:prstGeom prst="rect">
            <a:avLst/>
          </a:prstGeom>
          <a:noFill/>
          <a:ln>
            <a:noFill/>
          </a:ln>
        </p:spPr>
        <p:txBody>
          <a:bodyPr spcFirstLastPara="1" wrap="square" lIns="91425" tIns="91425" rIns="91425" bIns="91425" anchor="t" anchorCtr="0">
            <a:spAutoFit/>
          </a:bodyPr>
          <a:lstStyle/>
          <a:p>
            <a:pPr marL="0" lvl="0" indent="0" algn="l" rtl="0">
              <a:spcBef>
                <a:spcPts val="1000"/>
              </a:spcBef>
              <a:spcAft>
                <a:spcPts val="0"/>
              </a:spcAft>
              <a:buNone/>
            </a:pPr>
            <a:r>
              <a:rPr lang="en-US" sz="2000">
                <a:solidFill>
                  <a:schemeClr val="dk1"/>
                </a:solidFill>
                <a:latin typeface="Century Gothic"/>
                <a:ea typeface="Century Gothic"/>
                <a:cs typeface="Century Gothic"/>
                <a:sym typeface="Century Gothic"/>
              </a:rPr>
              <a:t>In the lower right corner, it displays plots, package information, help files </a:t>
            </a:r>
            <a:endParaRPr>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17"/>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a:t>Scripting in R</a:t>
            </a:r>
            <a:br>
              <a:rPr lang="en-US"/>
            </a:br>
            <a:endParaRPr/>
          </a:p>
        </p:txBody>
      </p:sp>
      <p:sp>
        <p:nvSpPr>
          <p:cNvPr id="274" name="Google Shape;274;p17"/>
          <p:cNvSpPr txBox="1">
            <a:spLocks noGrp="1"/>
          </p:cNvSpPr>
          <p:nvPr>
            <p:ph type="body" idx="1"/>
          </p:nvPr>
        </p:nvSpPr>
        <p:spPr>
          <a:xfrm>
            <a:off x="838200" y="1185334"/>
            <a:ext cx="9211653" cy="5063066"/>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600"/>
              <a:buChar char="►"/>
            </a:pPr>
            <a:r>
              <a:rPr lang="en-US"/>
              <a:t>We will create a script to print “</a:t>
            </a:r>
            <a:r>
              <a:rPr lang="en-US" b="1"/>
              <a:t>Hello world!</a:t>
            </a:r>
            <a:r>
              <a:rPr lang="en-US"/>
              <a:t>” in R.</a:t>
            </a:r>
            <a:endParaRPr/>
          </a:p>
          <a:p>
            <a:pPr marL="342900" lvl="0" indent="-342900" algn="l" rtl="0">
              <a:spcBef>
                <a:spcPts val="1000"/>
              </a:spcBef>
              <a:spcAft>
                <a:spcPts val="0"/>
              </a:spcAft>
              <a:buSzPts val="1600"/>
              <a:buChar char="►"/>
            </a:pPr>
            <a:r>
              <a:rPr lang="en-US"/>
              <a:t>To create scripts in R, you need to perform the following steps:</a:t>
            </a:r>
            <a:endParaRPr/>
          </a:p>
          <a:p>
            <a:pPr marL="342900" lvl="0" indent="-342900" algn="l" rtl="0">
              <a:spcBef>
                <a:spcPts val="1000"/>
              </a:spcBef>
              <a:spcAft>
                <a:spcPts val="0"/>
              </a:spcAft>
              <a:buSzPts val="1600"/>
              <a:buChar char="►"/>
            </a:pPr>
            <a:r>
              <a:rPr lang="en-US"/>
              <a:t>Here in R, you will have to enclose some commands in </a:t>
            </a:r>
            <a:r>
              <a:rPr lang="en-US" i="1"/>
              <a:t>print()</a:t>
            </a:r>
            <a:r>
              <a:rPr lang="en-US"/>
              <a:t> to get the same output as on the command line. So you need to type below command: This takes “Hello World” as input in R.</a:t>
            </a:r>
            <a:endParaRPr/>
          </a:p>
          <a:p>
            <a:pPr marL="342900" lvl="0" indent="-342900" algn="l" rtl="0">
              <a:spcBef>
                <a:spcPts val="1000"/>
              </a:spcBef>
              <a:spcAft>
                <a:spcPts val="0"/>
              </a:spcAft>
              <a:buSzPts val="1600"/>
              <a:buChar char="►"/>
            </a:pPr>
            <a:r>
              <a:rPr lang="en-US"/>
              <a:t>Print(“Hello World”) </a:t>
            </a:r>
            <a:endParaRPr/>
          </a:p>
          <a:p>
            <a:pPr marL="342900" lvl="0" indent="-342900" algn="l" rtl="0">
              <a:spcBef>
                <a:spcPts val="1000"/>
              </a:spcBef>
              <a:spcAft>
                <a:spcPts val="0"/>
              </a:spcAft>
              <a:buSzPts val="1600"/>
              <a:buChar char="►"/>
            </a:pPr>
            <a:r>
              <a:rPr lang="en-US"/>
              <a:t>Print(“Hello Birendranagar, Surkhet”)</a:t>
            </a:r>
            <a:endParaRPr/>
          </a:p>
          <a:p>
            <a:pPr marL="342900" lvl="0" indent="-342900" algn="l" rtl="0">
              <a:spcBef>
                <a:spcPts val="1000"/>
              </a:spcBef>
              <a:spcAft>
                <a:spcPts val="0"/>
              </a:spcAft>
              <a:buSzPts val="1600"/>
              <a:buChar char="►"/>
            </a:pPr>
            <a:r>
              <a:rPr lang="en-US"/>
              <a:t>In order to execute a selected line of code: Select the line(s) of code, then press </a:t>
            </a:r>
            <a:r>
              <a:rPr lang="en-US" b="1"/>
              <a:t>Ctrl + R</a:t>
            </a:r>
            <a:r>
              <a:rPr lang="en-US"/>
              <a:t> in R GUI and </a:t>
            </a:r>
            <a:r>
              <a:rPr lang="en-US" b="1"/>
              <a:t>Ctrl + Enter</a:t>
            </a:r>
            <a:r>
              <a:rPr lang="en-US"/>
              <a:t> in RStudio.</a:t>
            </a:r>
            <a:endParaRPr/>
          </a:p>
          <a:p>
            <a:pPr marL="342900" lvl="0" indent="-342900" algn="l" rtl="0">
              <a:spcBef>
                <a:spcPts val="1000"/>
              </a:spcBef>
              <a:spcAft>
                <a:spcPts val="0"/>
              </a:spcAft>
              <a:buSzPts val="1600"/>
              <a:buChar char="►"/>
            </a:pPr>
            <a:r>
              <a:rPr lang="en-US"/>
              <a:t>In order to execute the entire script: In the case of RStudio, Hold and press </a:t>
            </a:r>
            <a:r>
              <a:rPr lang="en-US" b="1"/>
              <a:t>Ctrl+Shift+ Enter</a:t>
            </a:r>
            <a:r>
              <a:rPr lang="en-US"/>
              <a:t>.</a:t>
            </a:r>
            <a:endParaRPr/>
          </a:p>
          <a:p>
            <a:pPr marL="342900" lvl="0" indent="-241300" algn="l" rtl="0">
              <a:spcBef>
                <a:spcPts val="1000"/>
              </a:spcBef>
              <a:spcAft>
                <a:spcPts val="0"/>
              </a:spcAft>
              <a:buSzPts val="1600"/>
              <a:buNone/>
            </a:pPr>
            <a:endParaRPr/>
          </a:p>
          <a:p>
            <a:pPr marL="342900" lvl="0" indent="-241300" algn="l" rtl="0">
              <a:spcBef>
                <a:spcPts val="1000"/>
              </a:spcBef>
              <a:spcAft>
                <a:spcPts val="0"/>
              </a:spcAft>
              <a:buSzPts val="1600"/>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41"/>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a:t>Basic Interaction with R Console</a:t>
            </a:r>
            <a:endParaRPr/>
          </a:p>
        </p:txBody>
      </p:sp>
      <p:sp>
        <p:nvSpPr>
          <p:cNvPr id="280" name="Google Shape;280;p41"/>
          <p:cNvSpPr txBox="1">
            <a:spLocks noGrp="1"/>
          </p:cNvSpPr>
          <p:nvPr>
            <p:ph type="body" idx="1"/>
          </p:nvPr>
        </p:nvSpPr>
        <p:spPr>
          <a:xfrm>
            <a:off x="753534" y="1176867"/>
            <a:ext cx="10498666" cy="5545665"/>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600"/>
              <a:buChar char="►"/>
            </a:pPr>
            <a:r>
              <a:rPr lang="en-US"/>
              <a:t>The most common form of interaction with R is through the command line in the console.</a:t>
            </a:r>
            <a:endParaRPr/>
          </a:p>
          <a:p>
            <a:pPr marL="342900" lvl="0" indent="-241300" algn="l" rtl="0">
              <a:spcBef>
                <a:spcPts val="1000"/>
              </a:spcBef>
              <a:spcAft>
                <a:spcPts val="0"/>
              </a:spcAft>
              <a:buSzPts val="1600"/>
              <a:buNone/>
            </a:pPr>
            <a:endParaRPr/>
          </a:p>
        </p:txBody>
      </p:sp>
      <p:pic>
        <p:nvPicPr>
          <p:cNvPr id="281" name="Google Shape;281;p41"/>
          <p:cNvPicPr preferRelativeResize="0"/>
          <p:nvPr/>
        </p:nvPicPr>
        <p:blipFill rotWithShape="1">
          <a:blip r:embed="rId3">
            <a:alphaModFix/>
          </a:blip>
          <a:srcRect/>
          <a:stretch/>
        </p:blipFill>
        <p:spPr>
          <a:xfrm>
            <a:off x="1176866" y="1799696"/>
            <a:ext cx="8695267" cy="505830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pic>
        <p:nvPicPr>
          <p:cNvPr id="286" name="Google Shape;286;p42"/>
          <p:cNvPicPr preferRelativeResize="0">
            <a:picLocks noGrp="1"/>
          </p:cNvPicPr>
          <p:nvPr>
            <p:ph type="body" idx="1"/>
          </p:nvPr>
        </p:nvPicPr>
        <p:blipFill rotWithShape="1">
          <a:blip r:embed="rId3">
            <a:alphaModFix/>
          </a:blip>
          <a:srcRect/>
          <a:stretch/>
        </p:blipFill>
        <p:spPr>
          <a:xfrm>
            <a:off x="797324" y="689492"/>
            <a:ext cx="10081200" cy="5892900"/>
          </a:xfrm>
          <a:prstGeom prst="rect">
            <a:avLst/>
          </a:prstGeom>
          <a:noFill/>
          <a:ln>
            <a:noFill/>
          </a:ln>
        </p:spPr>
      </p:pic>
      <p:sp>
        <p:nvSpPr>
          <p:cNvPr id="287" name="Google Shape;287;p42"/>
          <p:cNvSpPr txBox="1"/>
          <p:nvPr/>
        </p:nvSpPr>
        <p:spPr>
          <a:xfrm>
            <a:off x="194733" y="152400"/>
            <a:ext cx="446193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lt1"/>
                </a:solidFill>
                <a:latin typeface="Century Gothic"/>
                <a:ea typeface="Century Gothic"/>
                <a:cs typeface="Century Gothic"/>
                <a:sym typeface="Century Gothic"/>
              </a:rPr>
              <a:t>Output ::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g145ea7f5fe7_1_67"/>
          <p:cNvSpPr txBox="1">
            <a:spLocks noGrp="1"/>
          </p:cNvSpPr>
          <p:nvPr>
            <p:ph type="title"/>
          </p:nvPr>
        </p:nvSpPr>
        <p:spPr>
          <a:xfrm>
            <a:off x="646111" y="452718"/>
            <a:ext cx="9404700" cy="1400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The workspace</a:t>
            </a:r>
            <a:endParaRPr/>
          </a:p>
        </p:txBody>
      </p:sp>
      <p:sp>
        <p:nvSpPr>
          <p:cNvPr id="293" name="Google Shape;293;g145ea7f5fe7_1_67"/>
          <p:cNvSpPr txBox="1">
            <a:spLocks noGrp="1"/>
          </p:cNvSpPr>
          <p:nvPr>
            <p:ph type="body" idx="1"/>
          </p:nvPr>
        </p:nvSpPr>
        <p:spPr>
          <a:xfrm>
            <a:off x="587675" y="1331250"/>
            <a:ext cx="10952400" cy="4195500"/>
          </a:xfrm>
          <a:prstGeom prst="rect">
            <a:avLst/>
          </a:prstGeom>
        </p:spPr>
        <p:txBody>
          <a:bodyPr spcFirstLastPara="1" wrap="square" lIns="91425" tIns="45700" rIns="91425" bIns="45700" anchor="t" anchorCtr="0">
            <a:normAutofit/>
          </a:bodyPr>
          <a:lstStyle/>
          <a:p>
            <a:pPr marL="457200" lvl="0" indent="-320040" algn="l" rtl="0">
              <a:spcBef>
                <a:spcPts val="1000"/>
              </a:spcBef>
              <a:spcAft>
                <a:spcPts val="0"/>
              </a:spcAft>
              <a:buSzPts val="1440"/>
              <a:buChar char="❏"/>
            </a:pPr>
            <a:r>
              <a:rPr lang="en-US"/>
              <a:t>Current R working environment and includes any user-defined objects (vectors, matrices, functions, data frames, and lists).</a:t>
            </a:r>
            <a:endParaRPr/>
          </a:p>
          <a:p>
            <a:pPr marL="457200" lvl="0" indent="-320040" algn="l" rtl="0">
              <a:spcBef>
                <a:spcPts val="0"/>
              </a:spcBef>
              <a:spcAft>
                <a:spcPts val="0"/>
              </a:spcAft>
              <a:buSzPts val="1440"/>
              <a:buChar char="❏"/>
            </a:pPr>
            <a:r>
              <a:rPr lang="en-US"/>
              <a:t>At the end of an R session, you can </a:t>
            </a:r>
            <a:r>
              <a:rPr lang="en-US">
                <a:solidFill>
                  <a:srgbClr val="FF9900"/>
                </a:solidFill>
              </a:rPr>
              <a:t>save an image </a:t>
            </a:r>
            <a:r>
              <a:rPr lang="en-US"/>
              <a:t>of the current workspace that’s </a:t>
            </a:r>
            <a:r>
              <a:rPr lang="en-US">
                <a:solidFill>
                  <a:srgbClr val="FF9900"/>
                </a:solidFill>
              </a:rPr>
              <a:t>automatically reloaded</a:t>
            </a:r>
            <a:r>
              <a:rPr lang="en-US"/>
              <a:t> the next time R starts. Commands are entered interactively at the R user prompt.</a:t>
            </a:r>
            <a:endParaRPr/>
          </a:p>
          <a:p>
            <a:pPr marL="457200" lvl="0" indent="-320040" algn="l" rtl="0">
              <a:spcBef>
                <a:spcPts val="0"/>
              </a:spcBef>
              <a:spcAft>
                <a:spcPts val="0"/>
              </a:spcAft>
              <a:buSzPts val="1440"/>
              <a:buChar char="❏"/>
            </a:pPr>
            <a:r>
              <a:rPr lang="en-US"/>
              <a:t>The current working directory is the directory from which R will read files and to which it will save results by default. </a:t>
            </a:r>
            <a:endParaRPr/>
          </a:p>
          <a:p>
            <a:pPr marL="457200" lvl="0" indent="0" algn="l" rtl="0">
              <a:spcBef>
                <a:spcPts val="1000"/>
              </a:spcBef>
              <a:spcAft>
                <a:spcPts val="0"/>
              </a:spcAft>
              <a:buNone/>
            </a:pPr>
            <a:r>
              <a:rPr lang="en-US"/>
              <a:t>getwd () &gt;&gt; what the current working directory is </a:t>
            </a:r>
            <a:endParaRPr/>
          </a:p>
          <a:p>
            <a:pPr marL="457200" lvl="0" indent="0" algn="l" rtl="0">
              <a:spcBef>
                <a:spcPts val="1000"/>
              </a:spcBef>
              <a:spcAft>
                <a:spcPts val="0"/>
              </a:spcAft>
              <a:buNone/>
            </a:pPr>
            <a:r>
              <a:rPr lang="en-US"/>
              <a:t>setwd () &gt;&gt; set the current working directory</a:t>
            </a:r>
            <a:r>
              <a:rPr lang="en-US">
                <a:solidFill>
                  <a:srgbClr val="00FFFF"/>
                </a:solidFill>
              </a:rPr>
              <a:t> [If you need to input a file that isn’t in the current working directory, use the full pathname in the call]</a:t>
            </a:r>
            <a:endParaRPr>
              <a:solidFill>
                <a:srgbClr val="00FFFF"/>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g145ea7f5fe7_1_76"/>
          <p:cNvSpPr txBox="1">
            <a:spLocks noGrp="1"/>
          </p:cNvSpPr>
          <p:nvPr>
            <p:ph type="title"/>
          </p:nvPr>
        </p:nvSpPr>
        <p:spPr>
          <a:xfrm>
            <a:off x="646100" y="452722"/>
            <a:ext cx="9404700" cy="8262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US"/>
              <a:t>The workspace</a:t>
            </a:r>
            <a:endParaRPr/>
          </a:p>
        </p:txBody>
      </p:sp>
      <p:pic>
        <p:nvPicPr>
          <p:cNvPr id="299" name="Google Shape;299;g145ea7f5fe7_1_76"/>
          <p:cNvPicPr preferRelativeResize="0"/>
          <p:nvPr/>
        </p:nvPicPr>
        <p:blipFill>
          <a:blip r:embed="rId3">
            <a:alphaModFix/>
          </a:blip>
          <a:stretch>
            <a:fillRect/>
          </a:stretch>
        </p:blipFill>
        <p:spPr>
          <a:xfrm>
            <a:off x="2217250" y="1278925"/>
            <a:ext cx="7323000" cy="5316900"/>
          </a:xfrm>
          <a:prstGeom prst="rect">
            <a:avLst/>
          </a:prstGeom>
          <a:noFill/>
          <a:ln>
            <a:noFill/>
          </a:ln>
        </p:spPr>
      </p:pic>
      <p:sp>
        <p:nvSpPr>
          <p:cNvPr id="300" name="Google Shape;300;g145ea7f5fe7_1_76"/>
          <p:cNvSpPr txBox="1"/>
          <p:nvPr/>
        </p:nvSpPr>
        <p:spPr>
          <a:xfrm>
            <a:off x="5785475" y="6453750"/>
            <a:ext cx="4712700" cy="4002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US">
                <a:solidFill>
                  <a:schemeClr val="lt1"/>
                </a:solidFill>
                <a:latin typeface="Century Gothic"/>
                <a:ea typeface="Century Gothic"/>
                <a:cs typeface="Century Gothic"/>
                <a:sym typeface="Century Gothic"/>
              </a:rPr>
              <a:t>R in action second edition</a:t>
            </a:r>
            <a:endParaRPr>
              <a:solidFill>
                <a:schemeClr val="lt1"/>
              </a:solidFill>
              <a:latin typeface="Century Gothic"/>
              <a:ea typeface="Century Gothic"/>
              <a:cs typeface="Century Gothic"/>
              <a:sym typeface="Century Gothic"/>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g145ea7f5fe7_1_82"/>
          <p:cNvSpPr txBox="1">
            <a:spLocks noGrp="1"/>
          </p:cNvSpPr>
          <p:nvPr>
            <p:ph type="title"/>
          </p:nvPr>
        </p:nvSpPr>
        <p:spPr>
          <a:xfrm>
            <a:off x="646111" y="452718"/>
            <a:ext cx="9404700" cy="1400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The workspace</a:t>
            </a:r>
            <a:endParaRPr/>
          </a:p>
        </p:txBody>
      </p:sp>
      <p:sp>
        <p:nvSpPr>
          <p:cNvPr id="306" name="Google Shape;306;g145ea7f5fe7_1_82"/>
          <p:cNvSpPr txBox="1">
            <a:spLocks noGrp="1"/>
          </p:cNvSpPr>
          <p:nvPr>
            <p:ph type="body" idx="1"/>
          </p:nvPr>
        </p:nvSpPr>
        <p:spPr>
          <a:xfrm>
            <a:off x="646098" y="1702300"/>
            <a:ext cx="10693500" cy="41955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Clr>
                <a:schemeClr val="dk1"/>
              </a:buClr>
              <a:buSzPts val="1100"/>
              <a:buFont typeface="Arial"/>
              <a:buNone/>
            </a:pPr>
            <a:r>
              <a:rPr lang="en-US" dirty="0" err="1"/>
              <a:t>setwd</a:t>
            </a:r>
            <a:r>
              <a:rPr lang="en-US" dirty="0"/>
              <a:t>("C:/training/day1") &gt;&gt; </a:t>
            </a:r>
            <a:r>
              <a:rPr lang="en-US" dirty="0">
                <a:solidFill>
                  <a:srgbClr val="4CB9C3"/>
                </a:solidFill>
              </a:rPr>
              <a:t>Current working directory is set</a:t>
            </a:r>
            <a:endParaRPr dirty="0">
              <a:solidFill>
                <a:srgbClr val="4CB9C3"/>
              </a:solidFill>
            </a:endParaRPr>
          </a:p>
          <a:p>
            <a:pPr marL="0" lvl="0" indent="0" algn="l" rtl="0">
              <a:spcBef>
                <a:spcPts val="1000"/>
              </a:spcBef>
              <a:spcAft>
                <a:spcPts val="0"/>
              </a:spcAft>
              <a:buClr>
                <a:schemeClr val="dk1"/>
              </a:buClr>
              <a:buSzPts val="1100"/>
              <a:buFont typeface="Arial"/>
              <a:buNone/>
            </a:pPr>
            <a:r>
              <a:rPr lang="en-US" dirty="0"/>
              <a:t>options() &gt;&gt; </a:t>
            </a:r>
            <a:r>
              <a:rPr lang="en-US" dirty="0">
                <a:solidFill>
                  <a:srgbClr val="4CB9C3"/>
                </a:solidFill>
              </a:rPr>
              <a:t>Option settings are displayed</a:t>
            </a:r>
            <a:endParaRPr dirty="0">
              <a:solidFill>
                <a:srgbClr val="4CB9C3"/>
              </a:solidFill>
            </a:endParaRPr>
          </a:p>
          <a:p>
            <a:pPr marL="0" lvl="0" indent="0" algn="l" rtl="0">
              <a:spcBef>
                <a:spcPts val="1000"/>
              </a:spcBef>
              <a:spcAft>
                <a:spcPts val="0"/>
              </a:spcAft>
              <a:buClr>
                <a:schemeClr val="dk1"/>
              </a:buClr>
              <a:buSzPts val="1100"/>
              <a:buFont typeface="Arial"/>
              <a:buNone/>
            </a:pPr>
            <a:r>
              <a:rPr lang="en-US" dirty="0"/>
              <a:t>options(digits=3) &gt;&gt; </a:t>
            </a:r>
            <a:r>
              <a:rPr lang="en-US" dirty="0">
                <a:solidFill>
                  <a:srgbClr val="4CB9C3"/>
                </a:solidFill>
              </a:rPr>
              <a:t>number are formatted to print with 3 digits after decimal place</a:t>
            </a:r>
            <a:endParaRPr dirty="0">
              <a:solidFill>
                <a:srgbClr val="4CB9C3"/>
              </a:solidFill>
            </a:endParaRPr>
          </a:p>
          <a:p>
            <a:pPr marL="0" lvl="0" indent="0" algn="l" rtl="0">
              <a:spcBef>
                <a:spcPts val="1000"/>
              </a:spcBef>
              <a:spcAft>
                <a:spcPts val="0"/>
              </a:spcAft>
              <a:buClr>
                <a:schemeClr val="dk1"/>
              </a:buClr>
              <a:buSzPts val="1100"/>
              <a:buFont typeface="Arial"/>
              <a:buNone/>
            </a:pPr>
            <a:r>
              <a:rPr lang="en-US" dirty="0"/>
              <a:t>x &lt;- </a:t>
            </a:r>
            <a:r>
              <a:rPr lang="en-US" dirty="0" err="1"/>
              <a:t>runif</a:t>
            </a:r>
            <a:r>
              <a:rPr lang="en-US" dirty="0"/>
              <a:t>(20)  &gt;&gt; </a:t>
            </a:r>
            <a:r>
              <a:rPr lang="en-US" dirty="0">
                <a:solidFill>
                  <a:srgbClr val="4CB9C3"/>
                </a:solidFill>
              </a:rPr>
              <a:t>a vector with 20 uniform random variates is created</a:t>
            </a:r>
            <a:endParaRPr dirty="0">
              <a:solidFill>
                <a:srgbClr val="4CB9C3"/>
              </a:solidFill>
            </a:endParaRPr>
          </a:p>
          <a:p>
            <a:pPr marL="0" lvl="0" indent="0" algn="l" rtl="0">
              <a:spcBef>
                <a:spcPts val="1000"/>
              </a:spcBef>
              <a:spcAft>
                <a:spcPts val="0"/>
              </a:spcAft>
              <a:buClr>
                <a:schemeClr val="dk1"/>
              </a:buClr>
              <a:buSzPts val="1100"/>
              <a:buFont typeface="Arial"/>
              <a:buNone/>
            </a:pPr>
            <a:r>
              <a:rPr lang="en-US" dirty="0"/>
              <a:t>summary(x) &gt;&gt;</a:t>
            </a:r>
            <a:r>
              <a:rPr lang="en-US" dirty="0">
                <a:solidFill>
                  <a:srgbClr val="4CB9C3"/>
                </a:solidFill>
              </a:rPr>
              <a:t> summary statistics produced</a:t>
            </a:r>
            <a:endParaRPr dirty="0"/>
          </a:p>
          <a:p>
            <a:pPr marL="0" lvl="0" indent="0" algn="l" rtl="0">
              <a:spcBef>
                <a:spcPts val="1000"/>
              </a:spcBef>
              <a:spcAft>
                <a:spcPts val="0"/>
              </a:spcAft>
              <a:buClr>
                <a:schemeClr val="dk1"/>
              </a:buClr>
              <a:buSzPts val="1100"/>
              <a:buFont typeface="Arial"/>
              <a:buNone/>
            </a:pPr>
            <a:r>
              <a:rPr lang="en-US" dirty="0"/>
              <a:t>hist(x) &gt;&gt; </a:t>
            </a:r>
            <a:r>
              <a:rPr lang="en-US" dirty="0">
                <a:solidFill>
                  <a:srgbClr val="4CB9C3"/>
                </a:solidFill>
              </a:rPr>
              <a:t>a histogram based on this data is generated</a:t>
            </a:r>
            <a:endParaRPr dirty="0"/>
          </a:p>
          <a:p>
            <a:pPr marL="0" lvl="0" indent="0" algn="l" rtl="0">
              <a:spcBef>
                <a:spcPts val="1000"/>
              </a:spcBef>
              <a:spcAft>
                <a:spcPts val="0"/>
              </a:spcAft>
              <a:buNone/>
            </a:pPr>
            <a:r>
              <a:rPr lang="en-US" dirty="0"/>
              <a:t>q() &gt;&gt; </a:t>
            </a:r>
            <a:r>
              <a:rPr lang="en-US" dirty="0">
                <a:solidFill>
                  <a:srgbClr val="4CB9C3"/>
                </a:solidFill>
              </a:rPr>
              <a:t>users prompt to save their workspace</a:t>
            </a:r>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37"/>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a:t>R Packages (Libraries)</a:t>
            </a:r>
            <a:br>
              <a:rPr lang="en-US"/>
            </a:br>
            <a:endParaRPr/>
          </a:p>
        </p:txBody>
      </p:sp>
      <p:sp>
        <p:nvSpPr>
          <p:cNvPr id="312" name="Google Shape;312;p37"/>
          <p:cNvSpPr txBox="1">
            <a:spLocks noGrp="1"/>
          </p:cNvSpPr>
          <p:nvPr>
            <p:ph type="body" idx="1"/>
          </p:nvPr>
        </p:nvSpPr>
        <p:spPr>
          <a:xfrm>
            <a:off x="741375" y="1116050"/>
            <a:ext cx="11231700" cy="56286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600"/>
              <a:buChar char="►"/>
            </a:pPr>
            <a:r>
              <a:rPr lang="en-US" i="1"/>
              <a:t>Extensive capabilities are in R but exciting features are outside the box.</a:t>
            </a:r>
            <a:endParaRPr i="1"/>
          </a:p>
          <a:p>
            <a:pPr marL="342900" lvl="0" indent="-342900" algn="l" rtl="0">
              <a:spcBef>
                <a:spcPts val="0"/>
              </a:spcBef>
              <a:spcAft>
                <a:spcPts val="0"/>
              </a:spcAft>
              <a:buSzPts val="1600"/>
              <a:buChar char="►"/>
            </a:pPr>
            <a:r>
              <a:rPr lang="en-US" i="1"/>
              <a:t>Packages are user-contributed modules </a:t>
            </a:r>
            <a:endParaRPr i="1"/>
          </a:p>
          <a:p>
            <a:pPr marL="342900" lvl="0" indent="-342900" algn="l" rtl="0">
              <a:spcBef>
                <a:spcPts val="0"/>
              </a:spcBef>
              <a:spcAft>
                <a:spcPts val="0"/>
              </a:spcAft>
              <a:buClr>
                <a:srgbClr val="FF9900"/>
              </a:buClr>
              <a:buSzPts val="1600"/>
              <a:buChar char="►"/>
            </a:pPr>
            <a:r>
              <a:rPr lang="en-US" i="1">
                <a:solidFill>
                  <a:srgbClr val="FF9900"/>
                </a:solidFill>
              </a:rPr>
              <a:t>Packages comprise of R functions, data and compiled code that are present in a well-defined format. The location where the packages are installed is known as a library. </a:t>
            </a:r>
            <a:endParaRPr i="1">
              <a:solidFill>
                <a:srgbClr val="FF9900"/>
              </a:solidFill>
            </a:endParaRPr>
          </a:p>
          <a:p>
            <a:pPr marL="342900" lvl="0" indent="-342900" algn="l" rtl="0">
              <a:spcBef>
                <a:spcPts val="0"/>
              </a:spcBef>
              <a:spcAft>
                <a:spcPts val="0"/>
              </a:spcAft>
              <a:buClr>
                <a:schemeClr val="lt1"/>
              </a:buClr>
              <a:buSzPts val="1600"/>
              <a:buChar char="►"/>
            </a:pPr>
            <a:r>
              <a:rPr lang="en-US" i="1"/>
              <a:t>The function .libPaths()shows you where your library is located, and the function</a:t>
            </a:r>
            <a:endParaRPr i="1"/>
          </a:p>
          <a:p>
            <a:pPr marL="342900" marR="0" lvl="0" indent="0" algn="l" rtl="0">
              <a:lnSpc>
                <a:spcPct val="100000"/>
              </a:lnSpc>
              <a:spcBef>
                <a:spcPts val="0"/>
              </a:spcBef>
              <a:spcAft>
                <a:spcPts val="0"/>
              </a:spcAft>
              <a:buNone/>
            </a:pPr>
            <a:r>
              <a:rPr lang="en-US" i="1"/>
              <a:t>library() shows you what packages you’ve saved in your library.</a:t>
            </a:r>
            <a:endParaRPr i="1"/>
          </a:p>
          <a:p>
            <a:pPr marL="342900" lvl="0" indent="-342900" algn="l" rtl="0">
              <a:spcBef>
                <a:spcPts val="1000"/>
              </a:spcBef>
              <a:spcAft>
                <a:spcPts val="0"/>
              </a:spcAft>
              <a:buSzPts val="1600"/>
              <a:buChar char="►"/>
            </a:pPr>
            <a:r>
              <a:rPr lang="en-US"/>
              <a:t>R comes with a standard set of packages. Others are available for download and installation. </a:t>
            </a:r>
            <a:endParaRPr/>
          </a:p>
          <a:p>
            <a:pPr marL="342900" lvl="0" indent="-342900" algn="l" rtl="0">
              <a:spcBef>
                <a:spcPts val="1000"/>
              </a:spcBef>
              <a:spcAft>
                <a:spcPts val="0"/>
              </a:spcAft>
              <a:buSzPts val="1600"/>
              <a:buChar char="►"/>
            </a:pPr>
            <a:r>
              <a:rPr lang="en-US"/>
              <a:t>R comes with a standard set of packages (including base, datasets, utils,</a:t>
            </a:r>
            <a:endParaRPr/>
          </a:p>
          <a:p>
            <a:pPr marL="342900" lvl="0" indent="-342900" algn="l" rtl="0">
              <a:spcBef>
                <a:spcPts val="1000"/>
              </a:spcBef>
              <a:spcAft>
                <a:spcPts val="0"/>
              </a:spcAft>
              <a:buSzPts val="1600"/>
              <a:buChar char="►"/>
            </a:pPr>
            <a:r>
              <a:rPr lang="en-US"/>
              <a:t>grDevices, graphics, stats, and methods)</a:t>
            </a:r>
            <a:endParaRPr/>
          </a:p>
          <a:p>
            <a:pPr marL="342900" lvl="0" indent="-342900" algn="l" rtl="0">
              <a:spcBef>
                <a:spcPts val="1000"/>
              </a:spcBef>
              <a:spcAft>
                <a:spcPts val="0"/>
              </a:spcAft>
              <a:buSzPts val="1600"/>
              <a:buChar char="►"/>
            </a:pPr>
            <a:r>
              <a:rPr lang="en-US"/>
              <a:t>If we will install it once, we have to be load it into the session to be used.</a:t>
            </a:r>
            <a:endParaRPr/>
          </a:p>
          <a:p>
            <a:pPr marL="342900" lvl="0" indent="-342900" algn="l" rtl="0">
              <a:spcBef>
                <a:spcPts val="1000"/>
              </a:spcBef>
              <a:spcAft>
                <a:spcPts val="0"/>
              </a:spcAft>
              <a:buSzPts val="1600"/>
              <a:buChar char="►"/>
            </a:pPr>
            <a:r>
              <a:rPr lang="en-US"/>
              <a:t>Open an R session and type this in the command line to install an R package. </a:t>
            </a:r>
            <a:r>
              <a:rPr lang="en-US" i="1"/>
              <a:t>install.packages("&lt;the package's name&gt;"). </a:t>
            </a:r>
            <a:endParaRPr/>
          </a:p>
          <a:p>
            <a:pPr marL="342900" lvl="0" indent="-342900" algn="l" rtl="0">
              <a:spcBef>
                <a:spcPts val="1000"/>
              </a:spcBef>
              <a:spcAft>
                <a:spcPts val="0"/>
              </a:spcAft>
              <a:buSzPts val="1600"/>
              <a:buChar char="►"/>
            </a:pPr>
            <a:r>
              <a:rPr lang="en-US"/>
              <a:t>R package will be downloaded from CRAN.</a:t>
            </a:r>
            <a:r>
              <a:rPr lang="en-US" sz="1400">
                <a:solidFill>
                  <a:schemeClr val="dk1"/>
                </a:solidFill>
                <a:latin typeface="Arial"/>
                <a:ea typeface="Arial"/>
                <a:cs typeface="Arial"/>
                <a:sym typeface="Arial"/>
              </a:rPr>
              <a:t> </a:t>
            </a:r>
            <a:r>
              <a:rPr lang="en-US" sz="2400">
                <a:solidFill>
                  <a:srgbClr val="4CB9C3"/>
                </a:solidFill>
                <a:latin typeface="Arial"/>
                <a:ea typeface="Arial"/>
                <a:cs typeface="Arial"/>
                <a:sym typeface="Arial"/>
              </a:rPr>
              <a:t>http://cran.r-project.org/web/packages</a:t>
            </a:r>
            <a:endParaRPr sz="2400">
              <a:solidFill>
                <a:srgbClr val="4CB9C3"/>
              </a:solidFill>
              <a:latin typeface="Arial"/>
              <a:ea typeface="Arial"/>
              <a:cs typeface="Arial"/>
              <a:sym typeface="Arial"/>
            </a:endParaRPr>
          </a:p>
          <a:p>
            <a:pPr marL="0" lvl="0" indent="0" algn="l" rtl="0">
              <a:spcBef>
                <a:spcPts val="1000"/>
              </a:spcBef>
              <a:spcAft>
                <a:spcPts val="0"/>
              </a:spcAft>
              <a:buNone/>
            </a:pPr>
            <a:endParaRPr/>
          </a:p>
          <a:p>
            <a:pPr marL="342900" lvl="0" indent="-241300" algn="l" rtl="0">
              <a:spcBef>
                <a:spcPts val="1000"/>
              </a:spcBef>
              <a:spcAft>
                <a:spcPts val="0"/>
              </a:spcAft>
              <a:buSzPts val="1600"/>
              <a:buNone/>
            </a:pPr>
            <a:endParaRPr i="1"/>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38"/>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a:t>R Packages (Libraries)</a:t>
            </a:r>
            <a:br>
              <a:rPr lang="en-US"/>
            </a:br>
            <a:endParaRPr/>
          </a:p>
        </p:txBody>
      </p:sp>
      <p:sp>
        <p:nvSpPr>
          <p:cNvPr id="318" name="Google Shape;318;p38"/>
          <p:cNvSpPr txBox="1">
            <a:spLocks noGrp="1"/>
          </p:cNvSpPr>
          <p:nvPr>
            <p:ph type="body" idx="1"/>
          </p:nvPr>
        </p:nvSpPr>
        <p:spPr>
          <a:xfrm>
            <a:off x="787400" y="1168400"/>
            <a:ext cx="10498667" cy="5579533"/>
          </a:xfrm>
          <a:prstGeom prst="rect">
            <a:avLst/>
          </a:prstGeom>
          <a:noFill/>
          <a:ln>
            <a:noFill/>
          </a:ln>
        </p:spPr>
        <p:txBody>
          <a:bodyPr spcFirstLastPara="1" wrap="square" lIns="91425" tIns="45700" rIns="91425" bIns="45700" anchor="t" anchorCtr="0">
            <a:normAutofit lnSpcReduction="10000"/>
          </a:bodyPr>
          <a:lstStyle/>
          <a:p>
            <a:pPr marL="342900" lvl="0" indent="-342900" algn="l" rtl="0">
              <a:spcBef>
                <a:spcPts val="0"/>
              </a:spcBef>
              <a:spcAft>
                <a:spcPts val="0"/>
              </a:spcAft>
              <a:buSzPts val="1600"/>
              <a:buChar char="►"/>
            </a:pPr>
            <a:r>
              <a:rPr lang="en-US" dirty="0"/>
              <a:t>There are thousands of useful R packages for us, but navigating them all can be a challenge. Here are a few packages, we recommend to a beginner:</a:t>
            </a:r>
            <a:endParaRPr dirty="0"/>
          </a:p>
          <a:p>
            <a:pPr marL="342900" lvl="0" indent="-342900" algn="l" rtl="0">
              <a:spcBef>
                <a:spcPts val="1000"/>
              </a:spcBef>
              <a:spcAft>
                <a:spcPts val="0"/>
              </a:spcAft>
              <a:buSzPts val="1600"/>
              <a:buChar char="►"/>
            </a:pPr>
            <a:r>
              <a:rPr lang="en-US" b="1" dirty="0" err="1"/>
              <a:t>Tidyversre</a:t>
            </a:r>
            <a:r>
              <a:rPr lang="en-US" dirty="0"/>
              <a:t>: </a:t>
            </a:r>
            <a:r>
              <a:rPr lang="en-US" dirty="0" err="1"/>
              <a:t>tidyverse</a:t>
            </a:r>
            <a:r>
              <a:rPr lang="en-US" dirty="0"/>
              <a:t> is a collection of packages that are useful for many tasks like data management, data reshaping, data formatting, memory management, etc.</a:t>
            </a:r>
            <a:endParaRPr dirty="0"/>
          </a:p>
          <a:p>
            <a:pPr marL="342900" lvl="0" indent="-342900" algn="l" rtl="0">
              <a:spcBef>
                <a:spcPts val="1000"/>
              </a:spcBef>
              <a:spcAft>
                <a:spcPts val="0"/>
              </a:spcAft>
              <a:buSzPts val="1600"/>
              <a:buChar char="►"/>
            </a:pPr>
            <a:r>
              <a:rPr lang="en-US" b="1" dirty="0" err="1"/>
              <a:t>Dplyr</a:t>
            </a:r>
            <a:r>
              <a:rPr lang="en-US" dirty="0"/>
              <a:t> : </a:t>
            </a:r>
            <a:r>
              <a:rPr lang="en-US" dirty="0" err="1"/>
              <a:t>Dplyr</a:t>
            </a:r>
            <a:r>
              <a:rPr lang="en-US" dirty="0"/>
              <a:t> is used for editing, modification of huge datasets. </a:t>
            </a:r>
            <a:endParaRPr dirty="0"/>
          </a:p>
          <a:p>
            <a:pPr marL="342900" lvl="0" indent="-342900" algn="l" rtl="0">
              <a:spcBef>
                <a:spcPts val="1000"/>
              </a:spcBef>
              <a:spcAft>
                <a:spcPts val="0"/>
              </a:spcAft>
              <a:buSzPts val="1600"/>
              <a:buChar char="►"/>
            </a:pPr>
            <a:r>
              <a:rPr lang="en-US" b="1" dirty="0"/>
              <a:t>ggplot2</a:t>
            </a:r>
            <a:r>
              <a:rPr lang="en-US" dirty="0"/>
              <a:t>: the ggplot2 package is the most popular graphics package in R. It extends R’s graphical capabilities by a large margin able to make static, dynamic as well as animated graphics with simple commands.</a:t>
            </a:r>
            <a:endParaRPr dirty="0"/>
          </a:p>
          <a:p>
            <a:pPr marL="342900" lvl="0" indent="-342900" algn="l" rtl="0">
              <a:spcBef>
                <a:spcPts val="1000"/>
              </a:spcBef>
              <a:spcAft>
                <a:spcPts val="0"/>
              </a:spcAft>
              <a:buSzPts val="1600"/>
              <a:buChar char="►"/>
            </a:pPr>
            <a:r>
              <a:rPr lang="en-US" b="1" dirty="0" err="1"/>
              <a:t>Installr</a:t>
            </a:r>
            <a:r>
              <a:rPr lang="en-US" dirty="0"/>
              <a:t>: the </a:t>
            </a:r>
            <a:r>
              <a:rPr lang="en-US" dirty="0" err="1"/>
              <a:t>installr</a:t>
            </a:r>
            <a:r>
              <a:rPr lang="en-US" dirty="0"/>
              <a:t> package is highly useful for installing, updating and managing versions of R, RStudio, and R packages.</a:t>
            </a:r>
            <a:endParaRPr dirty="0"/>
          </a:p>
          <a:p>
            <a:pPr marL="342900" lvl="0" indent="-342900" algn="l" rtl="0">
              <a:spcBef>
                <a:spcPts val="1000"/>
              </a:spcBef>
              <a:spcAft>
                <a:spcPts val="0"/>
              </a:spcAft>
              <a:buSzPts val="1600"/>
              <a:buChar char="►"/>
            </a:pPr>
            <a:r>
              <a:rPr lang="en-US" b="1" dirty="0" err="1"/>
              <a:t>Stringr</a:t>
            </a:r>
            <a:r>
              <a:rPr lang="en-US" dirty="0"/>
              <a:t>: </a:t>
            </a:r>
            <a:r>
              <a:rPr lang="en-US" dirty="0" err="1"/>
              <a:t>Stringr</a:t>
            </a:r>
            <a:r>
              <a:rPr lang="en-US" dirty="0"/>
              <a:t> is a package very popular for its string manipulation functions. </a:t>
            </a:r>
            <a:r>
              <a:rPr lang="en-US" dirty="0" err="1"/>
              <a:t>Stringr</a:t>
            </a:r>
            <a:r>
              <a:rPr lang="en-US" dirty="0"/>
              <a:t> functions are much easier to use and more powerful than the base R functions.</a:t>
            </a:r>
            <a:endParaRPr dirty="0"/>
          </a:p>
          <a:p>
            <a:pPr marL="0" lvl="0" indent="0" algn="l" rtl="0">
              <a:spcBef>
                <a:spcPts val="1000"/>
              </a:spcBef>
              <a:spcAft>
                <a:spcPts val="0"/>
              </a:spcAft>
              <a:buSzPts val="1600"/>
              <a:buNone/>
            </a:pPr>
            <a:br>
              <a:rPr lang="en-US" dirty="0"/>
            </a:br>
            <a:endParaRP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39"/>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a:t>Installing R Packages</a:t>
            </a:r>
            <a:br>
              <a:rPr lang="en-US"/>
            </a:br>
            <a:endParaRPr/>
          </a:p>
        </p:txBody>
      </p:sp>
      <p:sp>
        <p:nvSpPr>
          <p:cNvPr id="324" name="Google Shape;324;p39"/>
          <p:cNvSpPr txBox="1">
            <a:spLocks noGrp="1"/>
          </p:cNvSpPr>
          <p:nvPr>
            <p:ph type="body" idx="1"/>
          </p:nvPr>
        </p:nvSpPr>
        <p:spPr>
          <a:xfrm>
            <a:off x="762981" y="1316816"/>
            <a:ext cx="9287853" cy="5088466"/>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600"/>
              <a:buChar char="►"/>
            </a:pPr>
            <a:r>
              <a:rPr lang="en-US"/>
              <a:t>In order to use RStudio, we require a particular package to be installed. Further, follow the instructions below:</a:t>
            </a:r>
            <a:endParaRPr/>
          </a:p>
          <a:p>
            <a:pPr marL="342900" lvl="0" indent="-342900" algn="l" rtl="0">
              <a:spcBef>
                <a:spcPts val="1000"/>
              </a:spcBef>
              <a:spcAft>
                <a:spcPts val="0"/>
              </a:spcAft>
              <a:buSzPts val="1600"/>
              <a:buChar char="►"/>
            </a:pPr>
            <a:r>
              <a:rPr lang="en-US"/>
              <a:t>Run RStudio</a:t>
            </a:r>
            <a:endParaRPr/>
          </a:p>
          <a:p>
            <a:pPr marL="342900" lvl="0" indent="-342900" algn="l" rtl="0">
              <a:spcBef>
                <a:spcPts val="1000"/>
              </a:spcBef>
              <a:spcAft>
                <a:spcPts val="0"/>
              </a:spcAft>
              <a:buSzPts val="1600"/>
              <a:buChar char="►"/>
            </a:pPr>
            <a:r>
              <a:rPr lang="en-US"/>
              <a:t>Afterwards, click on the packages tab in the bottom-right section. Once, you complete this, click install.</a:t>
            </a:r>
            <a:endParaRPr/>
          </a:p>
          <a:p>
            <a:pPr marL="342900" lvl="0" indent="-342900" algn="l" rtl="0">
              <a:spcBef>
                <a:spcPts val="1000"/>
              </a:spcBef>
              <a:spcAft>
                <a:spcPts val="0"/>
              </a:spcAft>
              <a:buSzPts val="1600"/>
              <a:buChar char="►"/>
            </a:pPr>
            <a:r>
              <a:rPr lang="en-US"/>
              <a:t>The dialog box will appear. In the install packages dialog, write the package name for which you want to install the Packages field. And then click install. This will install the package you searched for and give you a list of matching package based on your package text.</a:t>
            </a:r>
            <a:endParaRPr/>
          </a:p>
          <a:p>
            <a:pPr marL="342900" lvl="0" indent="-241300" algn="l" rtl="0">
              <a:spcBef>
                <a:spcPts val="1000"/>
              </a:spcBef>
              <a:spcAft>
                <a:spcPts val="0"/>
              </a:spcAft>
              <a:buSzPts val="1600"/>
              <a:buNone/>
            </a:pPr>
            <a:endParaRPr/>
          </a:p>
          <a:p>
            <a:pPr marL="342900" lvl="0" indent="-241300" algn="l" rtl="0">
              <a:spcBef>
                <a:spcPts val="1000"/>
              </a:spcBef>
              <a:spcAft>
                <a:spcPts val="0"/>
              </a:spcAft>
              <a:buSzPts val="1600"/>
              <a:buNone/>
            </a:pPr>
            <a:endParaRPr/>
          </a:p>
          <a:p>
            <a:pPr marL="342900" lvl="0" indent="-241300" algn="l" rtl="0">
              <a:spcBef>
                <a:spcPts val="1000"/>
              </a:spcBef>
              <a:spcAft>
                <a:spcPts val="0"/>
              </a:spcAft>
              <a:buSzPts val="1600"/>
              <a:buNone/>
            </a:pP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g145ea7f5fe7_1_161"/>
          <p:cNvSpPr txBox="1">
            <a:spLocks noGrp="1"/>
          </p:cNvSpPr>
          <p:nvPr>
            <p:ph type="title"/>
          </p:nvPr>
        </p:nvSpPr>
        <p:spPr>
          <a:xfrm>
            <a:off x="646111" y="452718"/>
            <a:ext cx="9404700" cy="14004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a:t>Package Documentation</a:t>
            </a:r>
            <a:endParaRPr/>
          </a:p>
        </p:txBody>
      </p:sp>
      <p:sp>
        <p:nvSpPr>
          <p:cNvPr id="330" name="Google Shape;330;g145ea7f5fe7_1_161"/>
          <p:cNvSpPr txBox="1">
            <a:spLocks noGrp="1"/>
          </p:cNvSpPr>
          <p:nvPr>
            <p:ph type="body" idx="1"/>
          </p:nvPr>
        </p:nvSpPr>
        <p:spPr>
          <a:xfrm>
            <a:off x="713845" y="1331259"/>
            <a:ext cx="8946600" cy="41955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600"/>
              <a:buChar char="►"/>
            </a:pPr>
            <a:r>
              <a:rPr lang="en-US"/>
              <a:t>Every good package consists of documentation. Users will not know how to make sense of the package. Documentation is also useful for future-</a:t>
            </a:r>
            <a:r>
              <a:rPr lang="en-US" b="1" i="1"/>
              <a:t>you</a:t>
            </a:r>
            <a:r>
              <a:rPr lang="en-US"/>
              <a:t>, and for developers extending your package.</a:t>
            </a:r>
            <a:endParaRPr/>
          </a:p>
          <a:p>
            <a:pPr marL="342900" lvl="0" indent="-342900" algn="l" rtl="0">
              <a:spcBef>
                <a:spcPts val="1000"/>
              </a:spcBef>
              <a:spcAft>
                <a:spcPts val="0"/>
              </a:spcAft>
              <a:buSzPts val="1600"/>
              <a:buChar char="►"/>
            </a:pPr>
            <a:r>
              <a:rPr lang="en-US"/>
              <a:t>Object documentation is a type of reference documentation. It works like a dictionary.</a:t>
            </a:r>
            <a:endParaRPr/>
          </a:p>
          <a:p>
            <a:pPr marL="342900" lvl="0" indent="-342900" algn="l" rtl="0">
              <a:spcBef>
                <a:spcPts val="1000"/>
              </a:spcBef>
              <a:spcAft>
                <a:spcPts val="0"/>
              </a:spcAft>
              <a:buSzPts val="1600"/>
              <a:buChar char="►"/>
            </a:pPr>
            <a:r>
              <a:rPr lang="en-US"/>
              <a:t>If you are acquainted with the name of the object, documentation is really helpful. </a:t>
            </a:r>
            <a:endParaRPr/>
          </a:p>
          <a:p>
            <a:pPr marL="342900" lvl="0" indent="-241300" algn="l" rtl="0">
              <a:spcBef>
                <a:spcPts val="1000"/>
              </a:spcBef>
              <a:spcAft>
                <a:spcPts val="0"/>
              </a:spcAft>
              <a:buSzPts val="1600"/>
              <a:buNone/>
            </a:pP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40"/>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a:t>Updating R Packages</a:t>
            </a:r>
            <a:br>
              <a:rPr lang="en-US"/>
            </a:br>
            <a:endParaRPr/>
          </a:p>
        </p:txBody>
      </p:sp>
      <p:sp>
        <p:nvSpPr>
          <p:cNvPr id="336" name="Google Shape;336;p40"/>
          <p:cNvSpPr txBox="1">
            <a:spLocks noGrp="1"/>
          </p:cNvSpPr>
          <p:nvPr>
            <p:ph type="body" idx="1"/>
          </p:nvPr>
        </p:nvSpPr>
        <p:spPr>
          <a:xfrm>
            <a:off x="778933" y="1219200"/>
            <a:ext cx="10439399" cy="550333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600"/>
              <a:buChar char="►"/>
            </a:pPr>
            <a:r>
              <a:rPr lang="en-US"/>
              <a:t>Install.packages() is used to install any package of CRAN. For example: Typing </a:t>
            </a:r>
            <a:r>
              <a:rPr lang="en-US" i="1"/>
              <a:t>Install.packages(“ggplot2”) </a:t>
            </a:r>
            <a:r>
              <a:rPr lang="en-US"/>
              <a:t>in the console will install the latest package of </a:t>
            </a:r>
            <a:r>
              <a:rPr lang="en-US" i="1"/>
              <a:t>ggplot2. </a:t>
            </a:r>
            <a:endParaRPr/>
          </a:p>
          <a:p>
            <a:pPr marL="342900" lvl="0" indent="-342900" algn="l" rtl="0">
              <a:spcBef>
                <a:spcPts val="1000"/>
              </a:spcBef>
              <a:spcAft>
                <a:spcPts val="0"/>
              </a:spcAft>
              <a:buSzPts val="1600"/>
              <a:buChar char="►"/>
            </a:pPr>
            <a:r>
              <a:rPr lang="en-US"/>
              <a:t>You can also update any out of date package with the help of the </a:t>
            </a:r>
            <a:r>
              <a:rPr lang="en-US" i="1"/>
              <a:t>update.packages()</a:t>
            </a:r>
            <a:r>
              <a:rPr lang="en-US"/>
              <a:t> function.  </a:t>
            </a:r>
            <a:endParaRPr/>
          </a:p>
        </p:txBody>
      </p:sp>
      <p:pic>
        <p:nvPicPr>
          <p:cNvPr id="337" name="Google Shape;337;p40"/>
          <p:cNvPicPr preferRelativeResize="0"/>
          <p:nvPr/>
        </p:nvPicPr>
        <p:blipFill rotWithShape="1">
          <a:blip r:embed="rId3">
            <a:alphaModFix/>
          </a:blip>
          <a:srcRect/>
          <a:stretch/>
        </p:blipFill>
        <p:spPr>
          <a:xfrm>
            <a:off x="1222272" y="3019368"/>
            <a:ext cx="1467055" cy="409632"/>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g145ea7f5fe7_1_92"/>
          <p:cNvSpPr txBox="1">
            <a:spLocks noGrp="1"/>
          </p:cNvSpPr>
          <p:nvPr>
            <p:ph type="title"/>
          </p:nvPr>
        </p:nvSpPr>
        <p:spPr>
          <a:xfrm>
            <a:off x="646111" y="452718"/>
            <a:ext cx="9404700" cy="1400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Loading a package</a:t>
            </a:r>
            <a:endParaRPr/>
          </a:p>
        </p:txBody>
      </p:sp>
      <p:sp>
        <p:nvSpPr>
          <p:cNvPr id="343" name="Google Shape;343;g145ea7f5fe7_1_92"/>
          <p:cNvSpPr txBox="1">
            <a:spLocks noGrp="1"/>
          </p:cNvSpPr>
          <p:nvPr>
            <p:ph type="body" idx="1"/>
          </p:nvPr>
        </p:nvSpPr>
        <p:spPr>
          <a:xfrm>
            <a:off x="646100" y="1485725"/>
            <a:ext cx="10863000" cy="41955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a:t>library (ggplot2) &gt;&gt; </a:t>
            </a:r>
            <a:r>
              <a:rPr lang="en-US">
                <a:solidFill>
                  <a:srgbClr val="4CB9C3"/>
                </a:solidFill>
              </a:rPr>
              <a:t>use ggplot2 package but you must have installed a package before you can load it</a:t>
            </a:r>
            <a:endParaRPr>
              <a:solidFill>
                <a:srgbClr val="4CB9C3"/>
              </a:solidFill>
            </a:endParaRPr>
          </a:p>
          <a:p>
            <a:pPr marL="0" lvl="0" indent="0" algn="l" rtl="0">
              <a:spcBef>
                <a:spcPts val="1000"/>
              </a:spcBef>
              <a:spcAft>
                <a:spcPts val="0"/>
              </a:spcAft>
              <a:buNone/>
            </a:pPr>
            <a:endParaRPr>
              <a:solidFill>
                <a:srgbClr val="4CB9C3"/>
              </a:solidFill>
            </a:endParaRPr>
          </a:p>
          <a:p>
            <a:pPr marL="0" lvl="0" indent="0" algn="l" rtl="0">
              <a:spcBef>
                <a:spcPts val="1000"/>
              </a:spcBef>
              <a:spcAft>
                <a:spcPts val="0"/>
              </a:spcAft>
              <a:buNone/>
            </a:pPr>
            <a:r>
              <a:rPr lang="en-US">
                <a:solidFill>
                  <a:srgbClr val="4CB9C3"/>
                </a:solidFill>
              </a:rPr>
              <a:t>You’ll only have to load the package once in a given session. If desired, you can customize your startup environment to automatically load the packages you use most often.</a:t>
            </a:r>
            <a:endParaRPr>
              <a:solidFill>
                <a:srgbClr val="4CB9C3"/>
              </a:solidFill>
            </a:endParaRPr>
          </a:p>
          <a:p>
            <a:pPr marL="0" lvl="0" indent="0" algn="l" rtl="0">
              <a:spcBef>
                <a:spcPts val="1000"/>
              </a:spcBef>
              <a:spcAft>
                <a:spcPts val="0"/>
              </a:spcAft>
              <a:buNone/>
            </a:pPr>
            <a:endParaRPr>
              <a:solidFill>
                <a:srgbClr val="4CB9C3"/>
              </a:solidFill>
            </a:endParaRPr>
          </a:p>
          <a:p>
            <a:pPr marL="0" lvl="0" indent="0" algn="l" rtl="0">
              <a:spcBef>
                <a:spcPts val="1000"/>
              </a:spcBef>
              <a:spcAft>
                <a:spcPts val="0"/>
              </a:spcAft>
              <a:buNone/>
            </a:pPr>
            <a:r>
              <a:rPr lang="en-US"/>
              <a:t>When you load a package, a new set of functions and datasets becomes available</a:t>
            </a:r>
            <a:endParaRPr/>
          </a:p>
          <a:p>
            <a:pPr marL="0" lvl="0" indent="0" algn="l" rtl="0">
              <a:spcBef>
                <a:spcPts val="1000"/>
              </a:spcBef>
              <a:spcAft>
                <a:spcPts val="0"/>
              </a:spcAft>
              <a:buNone/>
            </a:pPr>
            <a:r>
              <a:rPr lang="en-US">
                <a:solidFill>
                  <a:srgbClr val="4CB9C3"/>
                </a:solidFill>
              </a:rPr>
              <a:t>Entering </a:t>
            </a:r>
            <a:r>
              <a:rPr lang="en-US"/>
              <a:t>help(package="package_name") </a:t>
            </a:r>
            <a:r>
              <a:rPr lang="en-US">
                <a:solidFill>
                  <a:srgbClr val="4CB9C3"/>
                </a:solidFill>
              </a:rPr>
              <a:t>provides a brief description of the package and an index of the functions and datasets included</a:t>
            </a:r>
            <a:endParaRPr>
              <a:solidFill>
                <a:srgbClr val="4CB9C3"/>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g145ea7f5fe7_1_115"/>
          <p:cNvSpPr txBox="1">
            <a:spLocks noGrp="1"/>
          </p:cNvSpPr>
          <p:nvPr>
            <p:ph type="title"/>
          </p:nvPr>
        </p:nvSpPr>
        <p:spPr>
          <a:xfrm>
            <a:off x="646111" y="452718"/>
            <a:ext cx="9404700" cy="1400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Uninstalling Packages</a:t>
            </a:r>
            <a:endParaRPr/>
          </a:p>
        </p:txBody>
      </p:sp>
      <p:sp>
        <p:nvSpPr>
          <p:cNvPr id="349" name="Google Shape;349;g145ea7f5fe7_1_115"/>
          <p:cNvSpPr txBox="1">
            <a:spLocks noGrp="1"/>
          </p:cNvSpPr>
          <p:nvPr>
            <p:ph type="body" idx="1"/>
          </p:nvPr>
        </p:nvSpPr>
        <p:spPr>
          <a:xfrm>
            <a:off x="1103312" y="2052918"/>
            <a:ext cx="8946600" cy="41955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a:t>remove.packages ()</a:t>
            </a:r>
            <a:endParaRPr/>
          </a:p>
          <a:p>
            <a:pPr marL="0" lvl="0" indent="0" algn="l" rtl="0">
              <a:spcBef>
                <a:spcPts val="1000"/>
              </a:spcBef>
              <a:spcAft>
                <a:spcPts val="0"/>
              </a:spcAft>
              <a:buNone/>
            </a:pPr>
            <a:r>
              <a:rPr lang="en-US"/>
              <a:t>X inside a gray circle on the right of the package descriptions in RStudio’s Packages pane </a:t>
            </a:r>
            <a:endParaRPr/>
          </a:p>
        </p:txBody>
      </p:sp>
      <p:pic>
        <p:nvPicPr>
          <p:cNvPr id="350" name="Google Shape;350;g145ea7f5fe7_1_115"/>
          <p:cNvPicPr preferRelativeResize="0"/>
          <p:nvPr/>
        </p:nvPicPr>
        <p:blipFill rotWithShape="1">
          <a:blip r:embed="rId3">
            <a:alphaModFix/>
          </a:blip>
          <a:srcRect l="35527" t="46842" r="50599"/>
          <a:stretch/>
        </p:blipFill>
        <p:spPr>
          <a:xfrm>
            <a:off x="9251400" y="1853125"/>
            <a:ext cx="2940600" cy="31692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g145ea7f5fe7_1_123"/>
          <p:cNvSpPr txBox="1">
            <a:spLocks noGrp="1"/>
          </p:cNvSpPr>
          <p:nvPr>
            <p:ph type="title"/>
          </p:nvPr>
        </p:nvSpPr>
        <p:spPr>
          <a:xfrm>
            <a:off x="646111" y="452718"/>
            <a:ext cx="9404700" cy="1400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Building a package</a:t>
            </a:r>
            <a:endParaRPr/>
          </a:p>
        </p:txBody>
      </p:sp>
      <p:sp>
        <p:nvSpPr>
          <p:cNvPr id="356" name="Google Shape;356;g145ea7f5fe7_1_123"/>
          <p:cNvSpPr txBox="1">
            <a:spLocks noGrp="1"/>
          </p:cNvSpPr>
          <p:nvPr>
            <p:ph type="body" idx="1"/>
          </p:nvPr>
        </p:nvSpPr>
        <p:spPr>
          <a:xfrm>
            <a:off x="1103299" y="2052925"/>
            <a:ext cx="10003500" cy="41955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a:t>You can building a package and share with the community through CRAN.</a:t>
            </a:r>
            <a:endParaRPr/>
          </a:p>
          <a:p>
            <a:pPr marL="0" lvl="0" indent="0" algn="l" rtl="0">
              <a:spcBef>
                <a:spcPts val="1000"/>
              </a:spcBef>
              <a:spcAft>
                <a:spcPts val="0"/>
              </a:spcAft>
              <a:buNone/>
            </a:pPr>
            <a:r>
              <a:rPr lang="en-US"/>
              <a:t>All packages submitted to CRAN (or Bioconductor) must follow specific guidelines, including the folder structure of the package, inclusion of DESCRIPTION and NAMESPACE files and proper help files.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g145ea7f5fe7_1_129"/>
          <p:cNvSpPr txBox="1">
            <a:spLocks noGrp="1"/>
          </p:cNvSpPr>
          <p:nvPr>
            <p:ph type="title"/>
          </p:nvPr>
        </p:nvSpPr>
        <p:spPr>
          <a:xfrm>
            <a:off x="646111" y="452718"/>
            <a:ext cx="9404700" cy="1400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Conclusion</a:t>
            </a:r>
            <a:endParaRPr/>
          </a:p>
        </p:txBody>
      </p:sp>
      <p:sp>
        <p:nvSpPr>
          <p:cNvPr id="362" name="Google Shape;362;g145ea7f5fe7_1_129"/>
          <p:cNvSpPr txBox="1">
            <a:spLocks noGrp="1"/>
          </p:cNvSpPr>
          <p:nvPr>
            <p:ph type="body" idx="1"/>
          </p:nvPr>
        </p:nvSpPr>
        <p:spPr>
          <a:xfrm>
            <a:off x="804225" y="1331247"/>
            <a:ext cx="8946600" cy="26598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a:t>Packages make up the backbone of the R community and experience. </a:t>
            </a:r>
            <a:endParaRPr/>
          </a:p>
          <a:p>
            <a:pPr marL="0" lvl="0" indent="0" algn="l" rtl="0">
              <a:spcBef>
                <a:spcPts val="1000"/>
              </a:spcBef>
              <a:spcAft>
                <a:spcPts val="0"/>
              </a:spcAft>
              <a:buNone/>
            </a:pPr>
            <a:r>
              <a:rPr lang="en-US"/>
              <a:t>They are often considered what makes working with R so desirable. This is how the community makes its work and so many of the statistical techniques, available to the world. </a:t>
            </a:r>
            <a:endParaRPr/>
          </a:p>
          <a:p>
            <a:pPr marL="0" lvl="0" indent="0" algn="l" rtl="0">
              <a:spcBef>
                <a:spcPts val="1000"/>
              </a:spcBef>
              <a:spcAft>
                <a:spcPts val="0"/>
              </a:spcAft>
              <a:buNone/>
            </a:pPr>
            <a:r>
              <a:rPr lang="en-US"/>
              <a:t>With such a large number of packages (18000+), finding the right one can be overwhelming.</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g145ea7f5fe7_1_135"/>
          <p:cNvSpPr txBox="1">
            <a:spLocks noGrp="1"/>
          </p:cNvSpPr>
          <p:nvPr>
            <p:ph type="title"/>
          </p:nvPr>
        </p:nvSpPr>
        <p:spPr>
          <a:xfrm>
            <a:off x="646111" y="452718"/>
            <a:ext cx="9404700" cy="1400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Finding right packages </a:t>
            </a:r>
            <a:endParaRPr/>
          </a:p>
        </p:txBody>
      </p:sp>
      <p:pic>
        <p:nvPicPr>
          <p:cNvPr id="368" name="Google Shape;368;g145ea7f5fe7_1_135"/>
          <p:cNvPicPr preferRelativeResize="0"/>
          <p:nvPr/>
        </p:nvPicPr>
        <p:blipFill>
          <a:blip r:embed="rId3">
            <a:alphaModFix/>
          </a:blip>
          <a:stretch>
            <a:fillRect/>
          </a:stretch>
        </p:blipFill>
        <p:spPr>
          <a:xfrm>
            <a:off x="120509" y="1371054"/>
            <a:ext cx="4347274" cy="3584000"/>
          </a:xfrm>
          <a:prstGeom prst="rect">
            <a:avLst/>
          </a:prstGeom>
          <a:noFill/>
          <a:ln>
            <a:noFill/>
          </a:ln>
        </p:spPr>
      </p:pic>
      <p:pic>
        <p:nvPicPr>
          <p:cNvPr id="369" name="Google Shape;369;g145ea7f5fe7_1_135"/>
          <p:cNvPicPr preferRelativeResize="0"/>
          <p:nvPr/>
        </p:nvPicPr>
        <p:blipFill>
          <a:blip r:embed="rId4">
            <a:alphaModFix/>
          </a:blip>
          <a:stretch>
            <a:fillRect/>
          </a:stretch>
        </p:blipFill>
        <p:spPr>
          <a:xfrm>
            <a:off x="4703625" y="1324875"/>
            <a:ext cx="4465775" cy="2428975"/>
          </a:xfrm>
          <a:prstGeom prst="rect">
            <a:avLst/>
          </a:prstGeom>
          <a:noFill/>
          <a:ln>
            <a:noFill/>
          </a:ln>
        </p:spPr>
      </p:pic>
      <p:pic>
        <p:nvPicPr>
          <p:cNvPr id="370" name="Google Shape;370;g145ea7f5fe7_1_135"/>
          <p:cNvPicPr preferRelativeResize="0"/>
          <p:nvPr/>
        </p:nvPicPr>
        <p:blipFill>
          <a:blip r:embed="rId5">
            <a:alphaModFix/>
          </a:blip>
          <a:stretch>
            <a:fillRect/>
          </a:stretch>
        </p:blipFill>
        <p:spPr>
          <a:xfrm>
            <a:off x="4744874" y="3906250"/>
            <a:ext cx="3290557" cy="2799350"/>
          </a:xfrm>
          <a:prstGeom prst="rect">
            <a:avLst/>
          </a:prstGeom>
          <a:noFill/>
          <a:ln>
            <a:noFill/>
          </a:ln>
        </p:spPr>
      </p:pic>
      <p:pic>
        <p:nvPicPr>
          <p:cNvPr id="371" name="Google Shape;371;g145ea7f5fe7_1_135"/>
          <p:cNvPicPr preferRelativeResize="0"/>
          <p:nvPr/>
        </p:nvPicPr>
        <p:blipFill>
          <a:blip r:embed="rId6">
            <a:alphaModFix/>
          </a:blip>
          <a:stretch>
            <a:fillRect/>
          </a:stretch>
        </p:blipFill>
        <p:spPr>
          <a:xfrm>
            <a:off x="8187831" y="3906250"/>
            <a:ext cx="3659781" cy="2799350"/>
          </a:xfrm>
          <a:prstGeom prst="rect">
            <a:avLst/>
          </a:prstGeom>
          <a:noFill/>
          <a:ln>
            <a:noFill/>
          </a:ln>
        </p:spPr>
      </p:pic>
      <p:pic>
        <p:nvPicPr>
          <p:cNvPr id="372" name="Google Shape;372;g145ea7f5fe7_1_135"/>
          <p:cNvPicPr preferRelativeResize="0"/>
          <p:nvPr/>
        </p:nvPicPr>
        <p:blipFill>
          <a:blip r:embed="rId7">
            <a:alphaModFix/>
          </a:blip>
          <a:stretch>
            <a:fillRect/>
          </a:stretch>
        </p:blipFill>
        <p:spPr>
          <a:xfrm>
            <a:off x="245200" y="5061274"/>
            <a:ext cx="3138714" cy="1644326"/>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g145ea7f5fe7_1_147"/>
          <p:cNvSpPr txBox="1">
            <a:spLocks noGrp="1"/>
          </p:cNvSpPr>
          <p:nvPr>
            <p:ph type="title"/>
          </p:nvPr>
        </p:nvSpPr>
        <p:spPr>
          <a:xfrm>
            <a:off x="646111" y="452718"/>
            <a:ext cx="9404700" cy="1400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Finding right packages </a:t>
            </a:r>
            <a:endParaRPr/>
          </a:p>
          <a:p>
            <a:pPr marL="0" lvl="0" indent="0" algn="l" rtl="0">
              <a:spcBef>
                <a:spcPts val="0"/>
              </a:spcBef>
              <a:spcAft>
                <a:spcPts val="0"/>
              </a:spcAft>
              <a:buNone/>
            </a:pPr>
            <a:endParaRPr/>
          </a:p>
        </p:txBody>
      </p:sp>
      <p:pic>
        <p:nvPicPr>
          <p:cNvPr id="378" name="Google Shape;378;g145ea7f5fe7_1_147"/>
          <p:cNvPicPr preferRelativeResize="0"/>
          <p:nvPr/>
        </p:nvPicPr>
        <p:blipFill>
          <a:blip r:embed="rId3">
            <a:alphaModFix/>
          </a:blip>
          <a:stretch>
            <a:fillRect/>
          </a:stretch>
        </p:blipFill>
        <p:spPr>
          <a:xfrm>
            <a:off x="152400" y="2005518"/>
            <a:ext cx="5553075" cy="1809750"/>
          </a:xfrm>
          <a:prstGeom prst="rect">
            <a:avLst/>
          </a:prstGeom>
          <a:noFill/>
          <a:ln>
            <a:noFill/>
          </a:ln>
        </p:spPr>
      </p:pic>
      <p:pic>
        <p:nvPicPr>
          <p:cNvPr id="379" name="Google Shape;379;g145ea7f5fe7_1_147"/>
          <p:cNvPicPr preferRelativeResize="0"/>
          <p:nvPr/>
        </p:nvPicPr>
        <p:blipFill>
          <a:blip r:embed="rId4">
            <a:alphaModFix/>
          </a:blip>
          <a:stretch>
            <a:fillRect/>
          </a:stretch>
        </p:blipFill>
        <p:spPr>
          <a:xfrm>
            <a:off x="152400" y="3967675"/>
            <a:ext cx="5553075" cy="1633257"/>
          </a:xfrm>
          <a:prstGeom prst="rect">
            <a:avLst/>
          </a:prstGeom>
          <a:noFill/>
          <a:ln>
            <a:noFill/>
          </a:ln>
        </p:spPr>
      </p:pic>
      <p:sp>
        <p:nvSpPr>
          <p:cNvPr id="380" name="Google Shape;380;g145ea7f5fe7_1_147"/>
          <p:cNvSpPr txBox="1"/>
          <p:nvPr/>
        </p:nvSpPr>
        <p:spPr>
          <a:xfrm>
            <a:off x="5878300" y="1923025"/>
            <a:ext cx="5682300" cy="4802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000" u="sng" dirty="0">
                <a:solidFill>
                  <a:schemeClr val="hlink"/>
                </a:solidFill>
                <a:hlinkClick r:id="rId5"/>
              </a:rPr>
              <a:t>https://support.rstudio.com/hc/en-us/articles/201057987-Quick-list-of-useful-R-packages</a:t>
            </a:r>
            <a:endParaRPr sz="2000" dirty="0">
              <a:solidFill>
                <a:schemeClr val="dk1"/>
              </a:solidFill>
            </a:endParaRPr>
          </a:p>
          <a:p>
            <a:pPr marL="0" lvl="0" indent="0" algn="l" rtl="0">
              <a:spcBef>
                <a:spcPts val="0"/>
              </a:spcBef>
              <a:spcAft>
                <a:spcPts val="0"/>
              </a:spcAft>
              <a:buNone/>
            </a:pPr>
            <a:endParaRPr sz="2000" dirty="0">
              <a:solidFill>
                <a:schemeClr val="dk1"/>
              </a:solidFill>
            </a:endParaRPr>
          </a:p>
          <a:p>
            <a:pPr marL="0" lvl="0" indent="0" algn="l" rtl="0">
              <a:spcBef>
                <a:spcPts val="0"/>
              </a:spcBef>
              <a:spcAft>
                <a:spcPts val="0"/>
              </a:spcAft>
              <a:buNone/>
            </a:pPr>
            <a:r>
              <a:rPr lang="en-US" sz="2000" u="sng" dirty="0">
                <a:solidFill>
                  <a:schemeClr val="hlink"/>
                </a:solidFill>
                <a:hlinkClick r:id="rId6"/>
              </a:rPr>
              <a:t>https://www.computerworld.com/article/2921176/great-r-packages-for-data-import-wrangling-visualization.html</a:t>
            </a:r>
            <a:endParaRPr sz="2000" dirty="0">
              <a:solidFill>
                <a:schemeClr val="dk1"/>
              </a:solidFill>
            </a:endParaRPr>
          </a:p>
          <a:p>
            <a:pPr marL="0" lvl="0" indent="0" algn="l" rtl="0">
              <a:spcBef>
                <a:spcPts val="0"/>
              </a:spcBef>
              <a:spcAft>
                <a:spcPts val="0"/>
              </a:spcAft>
              <a:buNone/>
            </a:pPr>
            <a:endParaRPr sz="2000" dirty="0">
              <a:solidFill>
                <a:schemeClr val="dk1"/>
              </a:solidFill>
            </a:endParaRPr>
          </a:p>
          <a:p>
            <a:pPr marL="0" lvl="0" indent="0" algn="l" rtl="0">
              <a:spcBef>
                <a:spcPts val="0"/>
              </a:spcBef>
              <a:spcAft>
                <a:spcPts val="0"/>
              </a:spcAft>
              <a:buNone/>
            </a:pPr>
            <a:r>
              <a:rPr lang="en-US" sz="2000" u="sng" dirty="0">
                <a:solidFill>
                  <a:schemeClr val="hlink"/>
                </a:solidFill>
                <a:hlinkClick r:id="rId7"/>
              </a:rPr>
              <a:t>https://cran.r-project.org/web/views/Spatial.html</a:t>
            </a:r>
            <a:endParaRPr sz="2000" dirty="0">
              <a:solidFill>
                <a:schemeClr val="dk1"/>
              </a:solidFill>
            </a:endParaRPr>
          </a:p>
          <a:p>
            <a:pPr marL="0" lvl="0" indent="0" algn="l" rtl="0">
              <a:spcBef>
                <a:spcPts val="0"/>
              </a:spcBef>
              <a:spcAft>
                <a:spcPts val="0"/>
              </a:spcAft>
              <a:buNone/>
            </a:pPr>
            <a:endParaRPr sz="2000" dirty="0">
              <a:solidFill>
                <a:schemeClr val="dk1"/>
              </a:solidFill>
            </a:endParaRPr>
          </a:p>
          <a:p>
            <a:pPr marL="0" lvl="0" indent="0" algn="l" rtl="0">
              <a:spcBef>
                <a:spcPts val="0"/>
              </a:spcBef>
              <a:spcAft>
                <a:spcPts val="0"/>
              </a:spcAft>
              <a:buNone/>
            </a:pPr>
            <a:r>
              <a:rPr lang="en-US" sz="2000" u="sng" dirty="0">
                <a:solidFill>
                  <a:schemeClr val="hlink"/>
                </a:solidFill>
                <a:hlinkClick r:id="rId8"/>
              </a:rPr>
              <a:t>https://www.zevross.com/blog/2019/05/01/unscientific-list-of-popular-r-packages-for-spatial-analysis/</a:t>
            </a:r>
            <a:r>
              <a:rPr lang="en-US" sz="2000" dirty="0">
                <a:solidFill>
                  <a:schemeClr val="dk1"/>
                </a:solidFill>
              </a:rPr>
              <a:t>   </a:t>
            </a:r>
            <a:endParaRPr sz="2000" dirty="0">
              <a:solidFill>
                <a:schemeClr val="dk1"/>
              </a:solidFill>
            </a:endParaRPr>
          </a:p>
          <a:p>
            <a:pPr marL="0" lvl="0" indent="0" algn="l" rtl="0">
              <a:spcBef>
                <a:spcPts val="0"/>
              </a:spcBef>
              <a:spcAft>
                <a:spcPts val="0"/>
              </a:spcAft>
              <a:buNone/>
            </a:pPr>
            <a:endParaRPr sz="2000" dirty="0">
              <a:solidFill>
                <a:schemeClr val="dk1"/>
              </a:solidFill>
            </a:endParaRPr>
          </a:p>
          <a:p>
            <a:pPr marL="0" lvl="0" indent="0" algn="l" rtl="0">
              <a:spcBef>
                <a:spcPts val="0"/>
              </a:spcBef>
              <a:spcAft>
                <a:spcPts val="0"/>
              </a:spcAft>
              <a:buNone/>
            </a:pPr>
            <a:r>
              <a:rPr lang="en-US" sz="2000" u="sng" dirty="0">
                <a:solidFill>
                  <a:schemeClr val="hlink"/>
                </a:solidFill>
                <a:hlinkClick r:id="rId9"/>
              </a:rPr>
              <a:t>https://urbandemographics.blogspot.com/2018/08/assorted-r-packages-for-spatial-analysis.html</a:t>
            </a:r>
            <a:r>
              <a:rPr lang="en-US" sz="2000" dirty="0">
                <a:solidFill>
                  <a:schemeClr val="dk1"/>
                </a:solidFill>
              </a:rPr>
              <a:t> </a:t>
            </a:r>
            <a:endParaRPr sz="2000" dirty="0">
              <a:solidFill>
                <a:schemeClr val="dk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Google Shape;385;g145ea7f5fe7_1_101"/>
          <p:cNvSpPr txBox="1">
            <a:spLocks noGrp="1"/>
          </p:cNvSpPr>
          <p:nvPr>
            <p:ph type="title"/>
          </p:nvPr>
        </p:nvSpPr>
        <p:spPr>
          <a:xfrm>
            <a:off x="646100" y="452725"/>
            <a:ext cx="11615700" cy="836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Common mistakes in R programming</a:t>
            </a:r>
            <a:endParaRPr/>
          </a:p>
        </p:txBody>
      </p:sp>
      <p:grpSp>
        <p:nvGrpSpPr>
          <p:cNvPr id="386" name="Google Shape;386;g145ea7f5fe7_1_101"/>
          <p:cNvGrpSpPr/>
          <p:nvPr/>
        </p:nvGrpSpPr>
        <p:grpSpPr>
          <a:xfrm>
            <a:off x="2021325" y="1196300"/>
            <a:ext cx="8476850" cy="5657650"/>
            <a:chOff x="2021325" y="1196300"/>
            <a:chExt cx="8476850" cy="5657650"/>
          </a:xfrm>
        </p:grpSpPr>
        <p:pic>
          <p:nvPicPr>
            <p:cNvPr id="387" name="Google Shape;387;g145ea7f5fe7_1_101"/>
            <p:cNvPicPr preferRelativeResize="0"/>
            <p:nvPr/>
          </p:nvPicPr>
          <p:blipFill>
            <a:blip r:embed="rId3">
              <a:alphaModFix/>
            </a:blip>
            <a:stretch>
              <a:fillRect/>
            </a:stretch>
          </p:blipFill>
          <p:spPr>
            <a:xfrm>
              <a:off x="2021325" y="1196300"/>
              <a:ext cx="8476850" cy="5257450"/>
            </a:xfrm>
            <a:prstGeom prst="rect">
              <a:avLst/>
            </a:prstGeom>
            <a:noFill/>
            <a:ln>
              <a:noFill/>
            </a:ln>
          </p:spPr>
        </p:pic>
        <p:sp>
          <p:nvSpPr>
            <p:cNvPr id="388" name="Google Shape;388;g145ea7f5fe7_1_101"/>
            <p:cNvSpPr txBox="1"/>
            <p:nvPr/>
          </p:nvSpPr>
          <p:spPr>
            <a:xfrm>
              <a:off x="5785475" y="6453750"/>
              <a:ext cx="4712700" cy="4002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US">
                  <a:solidFill>
                    <a:schemeClr val="lt1"/>
                  </a:solidFill>
                  <a:latin typeface="Century Gothic"/>
                  <a:ea typeface="Century Gothic"/>
                  <a:cs typeface="Century Gothic"/>
                  <a:sym typeface="Century Gothic"/>
                </a:rPr>
                <a:t>R in action second edition</a:t>
              </a:r>
              <a:endParaRPr>
                <a:solidFill>
                  <a:schemeClr val="lt1"/>
                </a:solidFill>
                <a:latin typeface="Century Gothic"/>
                <a:ea typeface="Century Gothic"/>
                <a:cs typeface="Century Gothic"/>
                <a:sym typeface="Century Gothic"/>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g145ea7f5fe7_1_166"/>
          <p:cNvSpPr txBox="1">
            <a:spLocks noGrp="1"/>
          </p:cNvSpPr>
          <p:nvPr>
            <p:ph type="title"/>
          </p:nvPr>
        </p:nvSpPr>
        <p:spPr>
          <a:xfrm>
            <a:off x="646111" y="452718"/>
            <a:ext cx="9404700" cy="1400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Basics of R</a:t>
            </a:r>
            <a:endParaRPr/>
          </a:p>
        </p:txBody>
      </p:sp>
      <p:sp>
        <p:nvSpPr>
          <p:cNvPr id="398" name="Google Shape;398;g145ea7f5fe7_1_166"/>
          <p:cNvSpPr txBox="1">
            <a:spLocks noGrp="1"/>
          </p:cNvSpPr>
          <p:nvPr>
            <p:ph type="body" idx="1"/>
          </p:nvPr>
        </p:nvSpPr>
        <p:spPr>
          <a:xfrm>
            <a:off x="742362" y="1691968"/>
            <a:ext cx="8946600" cy="4195500"/>
          </a:xfrm>
          <a:prstGeom prst="rect">
            <a:avLst/>
          </a:prstGeom>
        </p:spPr>
        <p:txBody>
          <a:bodyPr spcFirstLastPara="1" wrap="square" lIns="91425" tIns="45700" rIns="91425" bIns="45700" anchor="t" anchorCtr="0">
            <a:normAutofit/>
          </a:bodyPr>
          <a:lstStyle/>
          <a:p>
            <a:pPr marL="457200" lvl="0" indent="-320040" algn="l" rtl="0">
              <a:spcBef>
                <a:spcPts val="1000"/>
              </a:spcBef>
              <a:spcAft>
                <a:spcPts val="0"/>
              </a:spcAft>
              <a:buSzPts val="1440"/>
              <a:buChar char="●"/>
            </a:pPr>
            <a:r>
              <a:rPr lang="en-US"/>
              <a:t>Basic Math</a:t>
            </a:r>
            <a:endParaRPr/>
          </a:p>
          <a:p>
            <a:pPr marL="457200" lvl="0" indent="-320040" algn="l" rtl="0">
              <a:spcBef>
                <a:spcPts val="0"/>
              </a:spcBef>
              <a:spcAft>
                <a:spcPts val="0"/>
              </a:spcAft>
              <a:buSzPts val="1440"/>
              <a:buChar char="●"/>
            </a:pPr>
            <a:r>
              <a:rPr lang="en-US"/>
              <a:t>Variables</a:t>
            </a:r>
            <a:endParaRPr/>
          </a:p>
          <a:p>
            <a:pPr marL="457200" lvl="0" indent="-320040" algn="l" rtl="0">
              <a:spcBef>
                <a:spcPts val="0"/>
              </a:spcBef>
              <a:spcAft>
                <a:spcPts val="0"/>
              </a:spcAft>
              <a:buSzPts val="1440"/>
              <a:buChar char="●"/>
            </a:pPr>
            <a:r>
              <a:rPr lang="en-US"/>
              <a:t>Data types</a:t>
            </a:r>
            <a:endParaRPr/>
          </a:p>
          <a:p>
            <a:pPr marL="457200" lvl="0" indent="-320040" algn="l" rtl="0">
              <a:spcBef>
                <a:spcPts val="0"/>
              </a:spcBef>
              <a:spcAft>
                <a:spcPts val="0"/>
              </a:spcAft>
              <a:buSzPts val="1440"/>
              <a:buChar char="●"/>
            </a:pPr>
            <a:r>
              <a:rPr lang="en-US"/>
              <a:t>Vectors</a:t>
            </a:r>
            <a:endParaRPr/>
          </a:p>
          <a:p>
            <a:pPr marL="457200" lvl="0" indent="-320040" algn="l" rtl="0">
              <a:spcBef>
                <a:spcPts val="0"/>
              </a:spcBef>
              <a:spcAft>
                <a:spcPts val="0"/>
              </a:spcAft>
              <a:buSzPts val="1440"/>
              <a:buChar char="●"/>
            </a:pPr>
            <a:r>
              <a:rPr lang="en-US"/>
              <a:t>Matrices</a:t>
            </a:r>
            <a:endParaRPr/>
          </a:p>
          <a:p>
            <a:pPr marL="457200" lvl="0" indent="-320040" algn="l" rtl="0">
              <a:spcBef>
                <a:spcPts val="0"/>
              </a:spcBef>
              <a:spcAft>
                <a:spcPts val="0"/>
              </a:spcAft>
              <a:buSzPts val="1440"/>
              <a:buChar char="●"/>
            </a:pPr>
            <a:r>
              <a:rPr lang="en-US"/>
              <a:t>Arrays</a:t>
            </a:r>
            <a:endParaRPr/>
          </a:p>
          <a:p>
            <a:pPr marL="457200" lvl="0" indent="-320040" algn="l" rtl="0">
              <a:spcBef>
                <a:spcPts val="0"/>
              </a:spcBef>
              <a:spcAft>
                <a:spcPts val="0"/>
              </a:spcAft>
              <a:buSzPts val="1440"/>
              <a:buChar char="●"/>
            </a:pPr>
            <a:r>
              <a:rPr lang="en-US"/>
              <a:t>Data frames</a:t>
            </a:r>
            <a:endParaRPr/>
          </a:p>
          <a:p>
            <a:pPr marL="457200" lvl="0" indent="-320040" algn="l" rtl="0">
              <a:spcBef>
                <a:spcPts val="0"/>
              </a:spcBef>
              <a:spcAft>
                <a:spcPts val="0"/>
              </a:spcAft>
              <a:buSzPts val="1440"/>
              <a:buChar char="●"/>
            </a:pPr>
            <a:r>
              <a:rPr lang="en-US"/>
              <a:t>Factors</a:t>
            </a:r>
            <a:endParaRPr/>
          </a:p>
          <a:p>
            <a:pPr marL="457200" lvl="0" indent="-320040" algn="l" rtl="0">
              <a:spcBef>
                <a:spcPts val="0"/>
              </a:spcBef>
              <a:spcAft>
                <a:spcPts val="0"/>
              </a:spcAft>
              <a:buSzPts val="1440"/>
              <a:buChar char="●"/>
            </a:pPr>
            <a:r>
              <a:rPr lang="en-US"/>
              <a:t>Lists</a:t>
            </a:r>
            <a:endParaRPr/>
          </a:p>
          <a:p>
            <a:pPr marL="457200" lvl="0" indent="-320040" algn="l" rtl="0">
              <a:spcBef>
                <a:spcPts val="0"/>
              </a:spcBef>
              <a:spcAft>
                <a:spcPts val="0"/>
              </a:spcAft>
              <a:buSzPts val="1440"/>
              <a:buChar char="●"/>
            </a:pPr>
            <a:r>
              <a:rPr lang="en-US"/>
              <a:t>Calling functions</a:t>
            </a:r>
            <a:endParaRPr/>
          </a:p>
          <a:p>
            <a:pPr marL="457200" lvl="0" indent="-320040" algn="l" rtl="0">
              <a:spcBef>
                <a:spcPts val="0"/>
              </a:spcBef>
              <a:spcAft>
                <a:spcPts val="0"/>
              </a:spcAft>
              <a:buSzPts val="1440"/>
              <a:buChar char="●"/>
            </a:pPr>
            <a:r>
              <a:rPr lang="en-US"/>
              <a:t>Missing data</a:t>
            </a:r>
            <a:endParaRPr/>
          </a:p>
          <a:p>
            <a:pPr marL="0" lvl="0" indent="0" algn="l" rtl="0">
              <a:spcBef>
                <a:spcPts val="1000"/>
              </a:spcBef>
              <a:spcAft>
                <a:spcPts val="0"/>
              </a:spcAft>
              <a:buNone/>
            </a:pPr>
            <a:endParaRPr/>
          </a:p>
          <a:p>
            <a:pPr marL="0" lvl="0" indent="0" algn="l" rtl="0">
              <a:spcBef>
                <a:spcPts val="1000"/>
              </a:spcBef>
              <a:spcAft>
                <a:spcPts val="0"/>
              </a:spcAft>
              <a:buNone/>
            </a:pP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44"/>
          <p:cNvSpPr txBox="1">
            <a:spLocks noGrp="1"/>
          </p:cNvSpPr>
          <p:nvPr>
            <p:ph type="title"/>
          </p:nvPr>
        </p:nvSpPr>
        <p:spPr>
          <a:xfrm>
            <a:off x="646099" y="452725"/>
            <a:ext cx="10687800" cy="8595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a:t>Basic Math (Using R as a Calculator)</a:t>
            </a:r>
            <a:endParaRPr/>
          </a:p>
        </p:txBody>
      </p:sp>
      <p:sp>
        <p:nvSpPr>
          <p:cNvPr id="404" name="Google Shape;404;p44"/>
          <p:cNvSpPr txBox="1">
            <a:spLocks noGrp="1"/>
          </p:cNvSpPr>
          <p:nvPr>
            <p:ph type="body" idx="1"/>
          </p:nvPr>
        </p:nvSpPr>
        <p:spPr>
          <a:xfrm>
            <a:off x="762000" y="1193800"/>
            <a:ext cx="10397067" cy="547793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600"/>
              <a:buChar char="►"/>
            </a:pPr>
            <a:r>
              <a:rPr lang="en-US"/>
              <a:t>R can do basic math (Users type expressions to the R interpreter).</a:t>
            </a:r>
            <a:endParaRPr/>
          </a:p>
          <a:p>
            <a:pPr marL="342900" lvl="0" indent="-342900" algn="l" rtl="0">
              <a:spcBef>
                <a:spcPts val="1000"/>
              </a:spcBef>
              <a:spcAft>
                <a:spcPts val="0"/>
              </a:spcAft>
              <a:buSzPts val="1600"/>
              <a:buChar char="►"/>
            </a:pPr>
            <a:r>
              <a:rPr lang="en-US"/>
              <a:t>R responds by computing and printing the answers.</a:t>
            </a:r>
            <a:endParaRPr/>
          </a:p>
          <a:p>
            <a:pPr marL="342900" lvl="0" indent="-332740" algn="l" rtl="0">
              <a:spcBef>
                <a:spcPts val="1000"/>
              </a:spcBef>
              <a:spcAft>
                <a:spcPts val="0"/>
              </a:spcAft>
              <a:buSzPts val="1440"/>
              <a:buChar char="►"/>
            </a:pPr>
            <a:r>
              <a:rPr lang="en-US"/>
              <a:t>R follows basic order of operations: Parenthesis, Exponents, Multiplication,</a:t>
            </a:r>
            <a:endParaRPr/>
          </a:p>
          <a:p>
            <a:pPr marL="0" lvl="0" indent="0" algn="l" rtl="0">
              <a:spcBef>
                <a:spcPts val="1000"/>
              </a:spcBef>
              <a:spcAft>
                <a:spcPts val="0"/>
              </a:spcAft>
              <a:buNone/>
            </a:pPr>
            <a:r>
              <a:rPr lang="en-US"/>
              <a:t>Division, Addition and Subtraction (PEMDAS).</a:t>
            </a:r>
            <a:endParaRPr/>
          </a:p>
          <a:p>
            <a:pPr marL="342900" lvl="0" indent="-241300" algn="l" rtl="0">
              <a:spcBef>
                <a:spcPts val="1000"/>
              </a:spcBef>
              <a:spcAft>
                <a:spcPts val="0"/>
              </a:spcAft>
              <a:buSzPts val="1600"/>
              <a:buNone/>
            </a:pPr>
            <a:endParaRPr/>
          </a:p>
        </p:txBody>
      </p:sp>
      <p:pic>
        <p:nvPicPr>
          <p:cNvPr id="405" name="Google Shape;405;p44"/>
          <p:cNvPicPr preferRelativeResize="0"/>
          <p:nvPr/>
        </p:nvPicPr>
        <p:blipFill rotWithShape="1">
          <a:blip r:embed="rId3">
            <a:alphaModFix/>
          </a:blip>
          <a:srcRect/>
          <a:stretch/>
        </p:blipFill>
        <p:spPr>
          <a:xfrm>
            <a:off x="2052535" y="3100340"/>
            <a:ext cx="1343212" cy="657317"/>
          </a:xfrm>
          <a:prstGeom prst="rect">
            <a:avLst/>
          </a:prstGeom>
          <a:noFill/>
          <a:ln>
            <a:noFill/>
          </a:ln>
        </p:spPr>
      </p:pic>
      <p:pic>
        <p:nvPicPr>
          <p:cNvPr id="406" name="Google Shape;406;p44"/>
          <p:cNvPicPr preferRelativeResize="0"/>
          <p:nvPr/>
        </p:nvPicPr>
        <p:blipFill rotWithShape="1">
          <a:blip r:embed="rId4">
            <a:alphaModFix/>
          </a:blip>
          <a:srcRect/>
          <a:stretch/>
        </p:blipFill>
        <p:spPr>
          <a:xfrm>
            <a:off x="3640425" y="3028150"/>
            <a:ext cx="6535758" cy="3571374"/>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g145ea7f5fe7_1_172"/>
          <p:cNvSpPr txBox="1">
            <a:spLocks noGrp="1"/>
          </p:cNvSpPr>
          <p:nvPr>
            <p:ph type="title"/>
          </p:nvPr>
        </p:nvSpPr>
        <p:spPr>
          <a:xfrm>
            <a:off x="646111" y="452718"/>
            <a:ext cx="9404700" cy="1400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Variables</a:t>
            </a:r>
            <a:endParaRPr/>
          </a:p>
        </p:txBody>
      </p:sp>
      <p:sp>
        <p:nvSpPr>
          <p:cNvPr id="412" name="Google Shape;412;g145ea7f5fe7_1_172"/>
          <p:cNvSpPr txBox="1">
            <a:spLocks noGrp="1"/>
          </p:cNvSpPr>
          <p:nvPr>
            <p:ph type="body" idx="1"/>
          </p:nvPr>
        </p:nvSpPr>
        <p:spPr>
          <a:xfrm>
            <a:off x="773275" y="1238200"/>
            <a:ext cx="10498500" cy="4732800"/>
          </a:xfrm>
          <a:prstGeom prst="rect">
            <a:avLst/>
          </a:prstGeom>
        </p:spPr>
        <p:txBody>
          <a:bodyPr spcFirstLastPara="1" wrap="square" lIns="91425" tIns="45700" rIns="91425" bIns="45700" anchor="t" anchorCtr="0">
            <a:normAutofit fontScale="77500" lnSpcReduction="20000"/>
          </a:bodyPr>
          <a:lstStyle/>
          <a:p>
            <a:pPr marL="0" lvl="0" indent="0" algn="l" rtl="0">
              <a:spcBef>
                <a:spcPts val="1000"/>
              </a:spcBef>
              <a:spcAft>
                <a:spcPts val="0"/>
              </a:spcAft>
              <a:buNone/>
            </a:pPr>
            <a:r>
              <a:rPr lang="en-US"/>
              <a:t>Variables are an integral part of any programming language and R offers a great deal of flexibility.</a:t>
            </a:r>
            <a:endParaRPr/>
          </a:p>
          <a:p>
            <a:pPr marL="0" lvl="0" indent="0" algn="l" rtl="0">
              <a:spcBef>
                <a:spcPts val="1000"/>
              </a:spcBef>
              <a:spcAft>
                <a:spcPts val="0"/>
              </a:spcAft>
              <a:buNone/>
            </a:pPr>
            <a:r>
              <a:rPr lang="en-US"/>
              <a:t>User can assign variable in R. </a:t>
            </a:r>
            <a:endParaRPr/>
          </a:p>
          <a:p>
            <a:pPr marL="0" lvl="0" indent="0" algn="l" rtl="0">
              <a:spcBef>
                <a:spcPts val="1000"/>
              </a:spcBef>
              <a:spcAft>
                <a:spcPts val="0"/>
              </a:spcAft>
              <a:buNone/>
            </a:pPr>
            <a:r>
              <a:rPr lang="en-US"/>
              <a:t>The valid assignment operators are </a:t>
            </a:r>
            <a:r>
              <a:rPr lang="en-US">
                <a:solidFill>
                  <a:srgbClr val="FF9900"/>
                </a:solidFill>
              </a:rPr>
              <a:t>&lt;-</a:t>
            </a:r>
            <a:r>
              <a:rPr lang="en-US"/>
              <a:t> and </a:t>
            </a:r>
            <a:r>
              <a:rPr lang="en-US">
                <a:solidFill>
                  <a:srgbClr val="FF9900"/>
                </a:solidFill>
              </a:rPr>
              <a:t>=</a:t>
            </a:r>
            <a:r>
              <a:rPr lang="en-US"/>
              <a:t>, with </a:t>
            </a:r>
            <a:r>
              <a:rPr lang="en-US">
                <a:solidFill>
                  <a:srgbClr val="FF9900"/>
                </a:solidFill>
              </a:rPr>
              <a:t>the first being preferred</a:t>
            </a:r>
            <a:endParaRPr>
              <a:solidFill>
                <a:srgbClr val="FF9900"/>
              </a:solidFill>
            </a:endParaRPr>
          </a:p>
          <a:p>
            <a:pPr marL="0" lvl="0" indent="0" algn="l" rtl="0">
              <a:spcBef>
                <a:spcPts val="1000"/>
              </a:spcBef>
              <a:spcAft>
                <a:spcPts val="0"/>
              </a:spcAft>
              <a:buNone/>
            </a:pPr>
            <a:r>
              <a:rPr lang="en-US"/>
              <a:t>x &lt;- 2</a:t>
            </a:r>
            <a:endParaRPr/>
          </a:p>
          <a:p>
            <a:pPr marL="0" lvl="0" indent="0" algn="l" rtl="0">
              <a:spcBef>
                <a:spcPts val="1000"/>
              </a:spcBef>
              <a:spcAft>
                <a:spcPts val="0"/>
              </a:spcAft>
              <a:buNone/>
            </a:pPr>
            <a:r>
              <a:rPr lang="en-US"/>
              <a:t>x</a:t>
            </a:r>
            <a:endParaRPr/>
          </a:p>
          <a:p>
            <a:pPr marL="0" lvl="0" indent="0" algn="l" rtl="0">
              <a:spcBef>
                <a:spcPts val="1000"/>
              </a:spcBef>
              <a:spcAft>
                <a:spcPts val="0"/>
              </a:spcAft>
              <a:buNone/>
            </a:pPr>
            <a:r>
              <a:rPr lang="en-US"/>
              <a:t>y &lt;- 5</a:t>
            </a:r>
            <a:endParaRPr/>
          </a:p>
          <a:p>
            <a:pPr marL="0" lvl="0" indent="0" algn="l" rtl="0">
              <a:spcBef>
                <a:spcPts val="1000"/>
              </a:spcBef>
              <a:spcAft>
                <a:spcPts val="0"/>
              </a:spcAft>
              <a:buNone/>
            </a:pPr>
            <a:r>
              <a:rPr lang="en-US"/>
              <a:t>y</a:t>
            </a:r>
            <a:endParaRPr/>
          </a:p>
          <a:p>
            <a:pPr marL="0" lvl="0" indent="0" algn="l" rtl="0">
              <a:spcBef>
                <a:spcPts val="1000"/>
              </a:spcBef>
              <a:spcAft>
                <a:spcPts val="0"/>
              </a:spcAft>
              <a:buNone/>
            </a:pPr>
            <a:r>
              <a:rPr lang="en-US"/>
              <a:t>a&lt;- b &lt;- 5</a:t>
            </a:r>
            <a:endParaRPr/>
          </a:p>
          <a:p>
            <a:pPr marL="0" lvl="0" indent="0" algn="l" rtl="0">
              <a:spcBef>
                <a:spcPts val="1000"/>
              </a:spcBef>
              <a:spcAft>
                <a:spcPts val="0"/>
              </a:spcAft>
              <a:buNone/>
            </a:pPr>
            <a:r>
              <a:rPr lang="en-US"/>
              <a:t>a</a:t>
            </a:r>
            <a:endParaRPr/>
          </a:p>
          <a:p>
            <a:pPr marL="0" lvl="0" indent="0" algn="l" rtl="0">
              <a:spcBef>
                <a:spcPts val="1000"/>
              </a:spcBef>
              <a:spcAft>
                <a:spcPts val="0"/>
              </a:spcAft>
              <a:buNone/>
            </a:pPr>
            <a:r>
              <a:rPr lang="en-US"/>
              <a:t>assign("i", 3) </a:t>
            </a:r>
            <a:r>
              <a:rPr lang="en-US">
                <a:solidFill>
                  <a:srgbClr val="FF9900"/>
                </a:solidFill>
              </a:rPr>
              <a:t>using assign function.</a:t>
            </a:r>
            <a:endParaRPr>
              <a:solidFill>
                <a:srgbClr val="FF9900"/>
              </a:solidFill>
            </a:endParaRPr>
          </a:p>
          <a:p>
            <a:pPr marL="0" lvl="0" indent="0" algn="l" rtl="0">
              <a:spcBef>
                <a:spcPts val="1000"/>
              </a:spcBef>
              <a:spcAft>
                <a:spcPts val="0"/>
              </a:spcAft>
              <a:buNone/>
            </a:pPr>
            <a:r>
              <a:rPr lang="en-US"/>
              <a:t>i</a:t>
            </a:r>
            <a:endParaRPr/>
          </a:p>
          <a:p>
            <a:pPr marL="0" lvl="0" indent="0" algn="l" rtl="0">
              <a:spcBef>
                <a:spcPts val="1000"/>
              </a:spcBef>
              <a:spcAft>
                <a:spcPts val="0"/>
              </a:spcAft>
              <a:buNone/>
            </a:pPr>
            <a:r>
              <a:rPr lang="en-US"/>
              <a:t>Removing variable</a:t>
            </a:r>
            <a:endParaRPr/>
          </a:p>
          <a:p>
            <a:pPr marL="0" lvl="0" indent="0" algn="l" rtl="0">
              <a:spcBef>
                <a:spcPts val="1000"/>
              </a:spcBef>
              <a:spcAft>
                <a:spcPts val="0"/>
              </a:spcAft>
              <a:buNone/>
            </a:pPr>
            <a:r>
              <a:rPr lang="en-US"/>
              <a:t>rm(i)  </a:t>
            </a:r>
            <a:r>
              <a:rPr lang="en-US">
                <a:solidFill>
                  <a:srgbClr val="FF9900"/>
                </a:solidFill>
              </a:rPr>
              <a:t>using rm function</a:t>
            </a:r>
            <a:endParaRPr/>
          </a:p>
          <a:p>
            <a:pPr marL="0" lvl="0" indent="0" algn="l" rtl="0">
              <a:spcBef>
                <a:spcPts val="1000"/>
              </a:spcBef>
              <a:spcAft>
                <a:spcPts val="0"/>
              </a:spcAft>
              <a:buNone/>
            </a:pPr>
            <a:r>
              <a:rPr lang="en-US"/>
              <a:t># now it is gone</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sp>
        <p:nvSpPr>
          <p:cNvPr id="417" name="Google Shape;417;g145ea7f5fe7_1_193"/>
          <p:cNvSpPr txBox="1">
            <a:spLocks noGrp="1"/>
          </p:cNvSpPr>
          <p:nvPr>
            <p:ph type="title"/>
          </p:nvPr>
        </p:nvSpPr>
        <p:spPr>
          <a:xfrm>
            <a:off x="646111" y="452718"/>
            <a:ext cx="9404700" cy="1400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Mathematical functions used in R</a:t>
            </a:r>
            <a:endParaRPr/>
          </a:p>
        </p:txBody>
      </p:sp>
      <p:pic>
        <p:nvPicPr>
          <p:cNvPr id="418" name="Google Shape;418;g145ea7f5fe7_1_193"/>
          <p:cNvPicPr preferRelativeResize="0"/>
          <p:nvPr/>
        </p:nvPicPr>
        <p:blipFill>
          <a:blip r:embed="rId3">
            <a:alphaModFix/>
          </a:blip>
          <a:stretch>
            <a:fillRect/>
          </a:stretch>
        </p:blipFill>
        <p:spPr>
          <a:xfrm>
            <a:off x="2083175" y="1201150"/>
            <a:ext cx="7337460" cy="5429974"/>
          </a:xfrm>
          <a:prstGeom prst="rect">
            <a:avLst/>
          </a:prstGeom>
          <a:noFill/>
          <a:ln>
            <a:noFill/>
          </a:ln>
        </p:spPr>
      </p:pic>
      <p:sp>
        <p:nvSpPr>
          <p:cNvPr id="419" name="Google Shape;419;g145ea7f5fe7_1_193"/>
          <p:cNvSpPr txBox="1"/>
          <p:nvPr/>
        </p:nvSpPr>
        <p:spPr>
          <a:xfrm>
            <a:off x="9632150" y="1794425"/>
            <a:ext cx="2464800" cy="1108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000">
                <a:solidFill>
                  <a:schemeClr val="lt1"/>
                </a:solidFill>
              </a:rPr>
              <a:t>pi</a:t>
            </a:r>
            <a:endParaRPr sz="2000">
              <a:solidFill>
                <a:schemeClr val="lt1"/>
              </a:solidFill>
            </a:endParaRPr>
          </a:p>
          <a:p>
            <a:pPr marL="0" lvl="0" indent="0" algn="l" rtl="0">
              <a:spcBef>
                <a:spcPts val="0"/>
              </a:spcBef>
              <a:spcAft>
                <a:spcPts val="0"/>
              </a:spcAft>
              <a:buNone/>
            </a:pPr>
            <a:r>
              <a:rPr lang="en-US" sz="2000">
                <a:solidFill>
                  <a:schemeClr val="lt1"/>
                </a:solidFill>
              </a:rPr>
              <a:t>sin(pi/2)</a:t>
            </a:r>
            <a:endParaRPr sz="2000">
              <a:solidFill>
                <a:schemeClr val="lt1"/>
              </a:solidFill>
            </a:endParaRPr>
          </a:p>
          <a:p>
            <a:pPr marL="0" lvl="0" indent="0" algn="l" rtl="0">
              <a:spcBef>
                <a:spcPts val="0"/>
              </a:spcBef>
              <a:spcAft>
                <a:spcPts val="0"/>
              </a:spcAft>
              <a:buNone/>
            </a:pPr>
            <a:r>
              <a:rPr lang="en-US" sz="2000">
                <a:solidFill>
                  <a:schemeClr val="lt1"/>
                </a:solidFill>
              </a:rPr>
              <a:t>cos(pi/2)</a:t>
            </a:r>
            <a:endParaRPr sz="2000">
              <a:solidFill>
                <a:schemeClr val="lt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sp>
        <p:nvSpPr>
          <p:cNvPr id="424" name="Google Shape;424;p46"/>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a:t>Datasets</a:t>
            </a:r>
            <a:br>
              <a:rPr lang="en-US"/>
            </a:br>
            <a:endParaRPr/>
          </a:p>
        </p:txBody>
      </p:sp>
      <p:pic>
        <p:nvPicPr>
          <p:cNvPr id="425" name="Google Shape;425;p46"/>
          <p:cNvPicPr preferRelativeResize="0"/>
          <p:nvPr/>
        </p:nvPicPr>
        <p:blipFill>
          <a:blip r:embed="rId3">
            <a:alphaModFix/>
          </a:blip>
          <a:stretch>
            <a:fillRect/>
          </a:stretch>
        </p:blipFill>
        <p:spPr>
          <a:xfrm>
            <a:off x="109275" y="3495598"/>
            <a:ext cx="9220200" cy="2838450"/>
          </a:xfrm>
          <a:prstGeom prst="rect">
            <a:avLst/>
          </a:prstGeom>
          <a:noFill/>
          <a:ln>
            <a:noFill/>
          </a:ln>
        </p:spPr>
      </p:pic>
      <p:sp>
        <p:nvSpPr>
          <p:cNvPr id="426" name="Google Shape;426;p46"/>
          <p:cNvSpPr txBox="1"/>
          <p:nvPr/>
        </p:nvSpPr>
        <p:spPr>
          <a:xfrm>
            <a:off x="738350" y="1371600"/>
            <a:ext cx="10512900" cy="2447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100">
                <a:solidFill>
                  <a:schemeClr val="lt1"/>
                </a:solidFill>
                <a:latin typeface="Century Gothic"/>
                <a:ea typeface="Century Gothic"/>
                <a:cs typeface="Century Gothic"/>
                <a:sym typeface="Century Gothic"/>
              </a:rPr>
              <a:t>A dataset is usually a rectangular array of data with </a:t>
            </a:r>
            <a:r>
              <a:rPr lang="en-US" sz="2100">
                <a:solidFill>
                  <a:srgbClr val="FF9900"/>
                </a:solidFill>
                <a:latin typeface="Century Gothic"/>
                <a:ea typeface="Century Gothic"/>
                <a:cs typeface="Century Gothic"/>
                <a:sym typeface="Century Gothic"/>
              </a:rPr>
              <a:t>rows representing observations (1,2,3)</a:t>
            </a:r>
            <a:r>
              <a:rPr lang="en-US" sz="2100">
                <a:solidFill>
                  <a:schemeClr val="lt1"/>
                </a:solidFill>
                <a:latin typeface="Century Gothic"/>
                <a:ea typeface="Century Gothic"/>
                <a:cs typeface="Century Gothic"/>
                <a:sym typeface="Century Gothic"/>
              </a:rPr>
              <a:t> and </a:t>
            </a:r>
            <a:r>
              <a:rPr lang="en-US" sz="2100">
                <a:solidFill>
                  <a:srgbClr val="FF9900"/>
                </a:solidFill>
                <a:latin typeface="Century Gothic"/>
                <a:ea typeface="Century Gothic"/>
                <a:cs typeface="Century Gothic"/>
                <a:sym typeface="Century Gothic"/>
              </a:rPr>
              <a:t>columns (Age, Diabetes, Status) representing variables</a:t>
            </a:r>
            <a:r>
              <a:rPr lang="en-US" sz="2100">
                <a:solidFill>
                  <a:schemeClr val="lt1"/>
                </a:solidFill>
                <a:latin typeface="Century Gothic"/>
                <a:ea typeface="Century Gothic"/>
                <a:cs typeface="Century Gothic"/>
                <a:sym typeface="Century Gothic"/>
              </a:rPr>
              <a:t>. </a:t>
            </a:r>
            <a:endParaRPr sz="2100">
              <a:solidFill>
                <a:schemeClr val="lt1"/>
              </a:solidFill>
              <a:latin typeface="Century Gothic"/>
              <a:ea typeface="Century Gothic"/>
              <a:cs typeface="Century Gothic"/>
              <a:sym typeface="Century Gothic"/>
            </a:endParaRPr>
          </a:p>
          <a:p>
            <a:pPr marL="0" lvl="0" indent="0" algn="l" rtl="0">
              <a:spcBef>
                <a:spcPts val="0"/>
              </a:spcBef>
              <a:spcAft>
                <a:spcPts val="0"/>
              </a:spcAft>
              <a:buNone/>
            </a:pPr>
            <a:endParaRPr sz="2100">
              <a:solidFill>
                <a:schemeClr val="lt1"/>
              </a:solidFill>
              <a:latin typeface="Century Gothic"/>
              <a:ea typeface="Century Gothic"/>
              <a:cs typeface="Century Gothic"/>
              <a:sym typeface="Century Gothic"/>
            </a:endParaRPr>
          </a:p>
          <a:p>
            <a:pPr marL="0" lvl="0" indent="0" algn="l" rtl="0">
              <a:spcBef>
                <a:spcPts val="0"/>
              </a:spcBef>
              <a:spcAft>
                <a:spcPts val="0"/>
              </a:spcAft>
              <a:buNone/>
            </a:pPr>
            <a:r>
              <a:rPr lang="en-US" sz="2100">
                <a:solidFill>
                  <a:schemeClr val="lt1"/>
                </a:solidFill>
                <a:latin typeface="Century Gothic"/>
                <a:ea typeface="Century Gothic"/>
                <a:cs typeface="Century Gothic"/>
                <a:sym typeface="Century Gothic"/>
              </a:rPr>
              <a:t>Rows= observations = records (data mining) = examples(Machine Learning)</a:t>
            </a:r>
            <a:endParaRPr sz="2100">
              <a:solidFill>
                <a:schemeClr val="lt1"/>
              </a:solidFill>
              <a:latin typeface="Century Gothic"/>
              <a:ea typeface="Century Gothic"/>
              <a:cs typeface="Century Gothic"/>
              <a:sym typeface="Century Gothic"/>
            </a:endParaRPr>
          </a:p>
          <a:p>
            <a:pPr marL="0" lvl="0" indent="0" algn="l" rtl="0">
              <a:spcBef>
                <a:spcPts val="0"/>
              </a:spcBef>
              <a:spcAft>
                <a:spcPts val="0"/>
              </a:spcAft>
              <a:buNone/>
            </a:pPr>
            <a:r>
              <a:rPr lang="en-US" sz="2100">
                <a:solidFill>
                  <a:schemeClr val="lt1"/>
                </a:solidFill>
                <a:latin typeface="Century Gothic"/>
                <a:ea typeface="Century Gothic"/>
                <a:cs typeface="Century Gothic"/>
                <a:sym typeface="Century Gothic"/>
              </a:rPr>
              <a:t>Columns = variables = fields (data mining) = attributes(Machine Learning)</a:t>
            </a:r>
            <a:endParaRPr sz="2100">
              <a:solidFill>
                <a:schemeClr val="lt1"/>
              </a:solidFill>
              <a:latin typeface="Century Gothic"/>
              <a:ea typeface="Century Gothic"/>
              <a:cs typeface="Century Gothic"/>
              <a:sym typeface="Century Gothic"/>
            </a:endParaRPr>
          </a:p>
          <a:p>
            <a:pPr marL="0" lvl="0" indent="0" algn="l" rtl="0">
              <a:spcBef>
                <a:spcPts val="0"/>
              </a:spcBef>
              <a:spcAft>
                <a:spcPts val="0"/>
              </a:spcAft>
              <a:buNone/>
            </a:pPr>
            <a:endParaRPr sz="2100">
              <a:solidFill>
                <a:schemeClr val="lt1"/>
              </a:solidFill>
              <a:latin typeface="Century Gothic"/>
              <a:ea typeface="Century Gothic"/>
              <a:cs typeface="Century Gothic"/>
              <a:sym typeface="Century Gothic"/>
            </a:endParaRPr>
          </a:p>
          <a:p>
            <a:pPr marL="0" lvl="0" indent="0" algn="l" rtl="0">
              <a:spcBef>
                <a:spcPts val="0"/>
              </a:spcBef>
              <a:spcAft>
                <a:spcPts val="0"/>
              </a:spcAft>
              <a:buNone/>
            </a:pPr>
            <a:endParaRPr sz="2100">
              <a:solidFill>
                <a:schemeClr val="lt1"/>
              </a:solidFill>
              <a:latin typeface="Century Gothic"/>
              <a:ea typeface="Century Gothic"/>
              <a:cs typeface="Century Gothic"/>
              <a:sym typeface="Century Gothic"/>
            </a:endParaRPr>
          </a:p>
        </p:txBody>
      </p:sp>
      <p:sp>
        <p:nvSpPr>
          <p:cNvPr id="427" name="Google Shape;427;p46"/>
          <p:cNvSpPr txBox="1"/>
          <p:nvPr/>
        </p:nvSpPr>
        <p:spPr>
          <a:xfrm>
            <a:off x="9329475" y="3495600"/>
            <a:ext cx="2725200" cy="2678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800">
                <a:solidFill>
                  <a:srgbClr val="EC5453"/>
                </a:solidFill>
                <a:latin typeface="Century Gothic"/>
                <a:ea typeface="Century Gothic"/>
                <a:cs typeface="Century Gothic"/>
                <a:sym typeface="Century Gothic"/>
              </a:rPr>
              <a:t>PatientID</a:t>
            </a:r>
            <a:r>
              <a:rPr lang="en-US" sz="1800">
                <a:solidFill>
                  <a:schemeClr val="lt1"/>
                </a:solidFill>
                <a:latin typeface="Century Gothic"/>
                <a:ea typeface="Century Gothic"/>
                <a:cs typeface="Century Gothic"/>
                <a:sym typeface="Century Gothic"/>
              </a:rPr>
              <a:t> is a row or case identifier, </a:t>
            </a:r>
            <a:r>
              <a:rPr lang="en-US" sz="1800">
                <a:solidFill>
                  <a:srgbClr val="EC5453"/>
                </a:solidFill>
                <a:latin typeface="Century Gothic"/>
                <a:ea typeface="Century Gothic"/>
                <a:cs typeface="Century Gothic"/>
                <a:sym typeface="Century Gothic"/>
              </a:rPr>
              <a:t>AdmDate</a:t>
            </a:r>
            <a:r>
              <a:rPr lang="en-US" sz="1800">
                <a:solidFill>
                  <a:schemeClr val="lt1"/>
                </a:solidFill>
                <a:latin typeface="Century Gothic"/>
                <a:ea typeface="Century Gothic"/>
                <a:cs typeface="Century Gothic"/>
                <a:sym typeface="Century Gothic"/>
              </a:rPr>
              <a:t> is a date variable, </a:t>
            </a:r>
            <a:r>
              <a:rPr lang="en-US" sz="1800">
                <a:solidFill>
                  <a:srgbClr val="EC5453"/>
                </a:solidFill>
                <a:latin typeface="Century Gothic"/>
                <a:ea typeface="Century Gothic"/>
                <a:cs typeface="Century Gothic"/>
                <a:sym typeface="Century Gothic"/>
              </a:rPr>
              <a:t>Age</a:t>
            </a:r>
            <a:r>
              <a:rPr lang="en-US" sz="1800">
                <a:solidFill>
                  <a:schemeClr val="lt1"/>
                </a:solidFill>
                <a:latin typeface="Century Gothic"/>
                <a:ea typeface="Century Gothic"/>
                <a:cs typeface="Century Gothic"/>
                <a:sym typeface="Century Gothic"/>
              </a:rPr>
              <a:t> is a continuous</a:t>
            </a:r>
            <a:endParaRPr sz="1800">
              <a:solidFill>
                <a:schemeClr val="lt1"/>
              </a:solidFill>
              <a:latin typeface="Century Gothic"/>
              <a:ea typeface="Century Gothic"/>
              <a:cs typeface="Century Gothic"/>
              <a:sym typeface="Century Gothic"/>
            </a:endParaRPr>
          </a:p>
          <a:p>
            <a:pPr marL="0" lvl="0" indent="0" algn="l" rtl="0">
              <a:spcBef>
                <a:spcPts val="0"/>
              </a:spcBef>
              <a:spcAft>
                <a:spcPts val="0"/>
              </a:spcAft>
              <a:buNone/>
            </a:pPr>
            <a:r>
              <a:rPr lang="en-US" sz="1800">
                <a:solidFill>
                  <a:schemeClr val="lt1"/>
                </a:solidFill>
                <a:latin typeface="Century Gothic"/>
                <a:ea typeface="Century Gothic"/>
                <a:cs typeface="Century Gothic"/>
                <a:sym typeface="Century Gothic"/>
              </a:rPr>
              <a:t>variable, </a:t>
            </a:r>
            <a:r>
              <a:rPr lang="en-US" sz="1800">
                <a:solidFill>
                  <a:srgbClr val="EC5453"/>
                </a:solidFill>
                <a:latin typeface="Century Gothic"/>
                <a:ea typeface="Century Gothic"/>
                <a:cs typeface="Century Gothic"/>
                <a:sym typeface="Century Gothic"/>
              </a:rPr>
              <a:t>Diabetes</a:t>
            </a:r>
            <a:r>
              <a:rPr lang="en-US" sz="1800">
                <a:solidFill>
                  <a:schemeClr val="lt1"/>
                </a:solidFill>
                <a:latin typeface="Century Gothic"/>
                <a:ea typeface="Century Gothic"/>
                <a:cs typeface="Century Gothic"/>
                <a:sym typeface="Century Gothic"/>
              </a:rPr>
              <a:t> is a nominal variable, and </a:t>
            </a:r>
            <a:r>
              <a:rPr lang="en-US" sz="1800">
                <a:solidFill>
                  <a:srgbClr val="EC5453"/>
                </a:solidFill>
                <a:latin typeface="Century Gothic"/>
                <a:ea typeface="Century Gothic"/>
                <a:cs typeface="Century Gothic"/>
                <a:sym typeface="Century Gothic"/>
              </a:rPr>
              <a:t>Status</a:t>
            </a:r>
            <a:r>
              <a:rPr lang="en-US" sz="1800">
                <a:solidFill>
                  <a:schemeClr val="lt1"/>
                </a:solidFill>
                <a:latin typeface="Century Gothic"/>
                <a:ea typeface="Century Gothic"/>
                <a:cs typeface="Century Gothic"/>
                <a:sym typeface="Century Gothic"/>
              </a:rPr>
              <a:t> is an ordinal variable</a:t>
            </a:r>
            <a:endParaRPr sz="11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31"/>
        <p:cNvGrpSpPr/>
        <p:nvPr/>
      </p:nvGrpSpPr>
      <p:grpSpPr>
        <a:xfrm>
          <a:off x="0" y="0"/>
          <a:ext cx="0" cy="0"/>
          <a:chOff x="0" y="0"/>
          <a:chExt cx="0" cy="0"/>
        </a:xfrm>
      </p:grpSpPr>
      <p:sp>
        <p:nvSpPr>
          <p:cNvPr id="432" name="Google Shape;432;p47"/>
          <p:cNvSpPr txBox="1">
            <a:spLocks noGrp="1"/>
          </p:cNvSpPr>
          <p:nvPr>
            <p:ph type="title"/>
          </p:nvPr>
        </p:nvSpPr>
        <p:spPr>
          <a:xfrm>
            <a:off x="646111" y="452718"/>
            <a:ext cx="9404723" cy="8342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a:t>R Data Types </a:t>
            </a:r>
            <a:br>
              <a:rPr lang="en-US"/>
            </a:br>
            <a:endParaRPr/>
          </a:p>
        </p:txBody>
      </p:sp>
      <p:sp>
        <p:nvSpPr>
          <p:cNvPr id="433" name="Google Shape;433;p47"/>
          <p:cNvSpPr txBox="1">
            <a:spLocks noGrp="1"/>
          </p:cNvSpPr>
          <p:nvPr>
            <p:ph type="body" idx="1"/>
          </p:nvPr>
        </p:nvSpPr>
        <p:spPr>
          <a:xfrm>
            <a:off x="778924" y="1185325"/>
            <a:ext cx="10719900" cy="5063100"/>
          </a:xfrm>
          <a:prstGeom prst="rect">
            <a:avLst/>
          </a:prstGeom>
          <a:noFill/>
          <a:ln>
            <a:noFill/>
          </a:ln>
        </p:spPr>
        <p:txBody>
          <a:bodyPr spcFirstLastPara="1" wrap="square" lIns="91425" tIns="45700" rIns="91425" bIns="45700" anchor="t" anchorCtr="0">
            <a:normAutofit fontScale="92500" lnSpcReduction="10000"/>
          </a:bodyPr>
          <a:lstStyle/>
          <a:p>
            <a:pPr marL="342900" lvl="0" indent="-335280" algn="l" rtl="0">
              <a:spcBef>
                <a:spcPts val="0"/>
              </a:spcBef>
              <a:spcAft>
                <a:spcPts val="0"/>
              </a:spcAft>
              <a:buSzPct val="80000"/>
              <a:buChar char="●"/>
            </a:pPr>
            <a:r>
              <a:rPr lang="en-US"/>
              <a:t>For correct processing, a programming language must know what can and cannot be done to a particular value. For example, addition cannot be performed on the words ‘hello’ and ‘world’.</a:t>
            </a:r>
            <a:endParaRPr/>
          </a:p>
          <a:p>
            <a:pPr marL="342900" lvl="0" indent="-335280" algn="l" rtl="0">
              <a:spcBef>
                <a:spcPts val="1000"/>
              </a:spcBef>
              <a:spcAft>
                <a:spcPts val="0"/>
              </a:spcAft>
              <a:buSzPct val="80000"/>
              <a:buChar char="●"/>
            </a:pPr>
            <a:r>
              <a:rPr lang="en-US"/>
              <a:t>Similarly, you cannot change the numbers 1 and -34.5 from lower to uppercase. Due to this, R has a feature called the data types. </a:t>
            </a:r>
            <a:endParaRPr/>
          </a:p>
          <a:p>
            <a:pPr marL="342900" lvl="0" indent="-335280" algn="l" rtl="0">
              <a:spcBef>
                <a:spcPts val="1000"/>
              </a:spcBef>
              <a:spcAft>
                <a:spcPts val="0"/>
              </a:spcAft>
              <a:buSzPct val="80000"/>
              <a:buChar char="●"/>
            </a:pPr>
            <a:r>
              <a:rPr lang="en-US"/>
              <a:t>Different kinds of values are assigned different data types that help differentiate them</a:t>
            </a:r>
            <a:endParaRPr/>
          </a:p>
          <a:p>
            <a:pPr marL="342900" lvl="0" indent="-335280" algn="l" rtl="0">
              <a:spcBef>
                <a:spcPts val="1000"/>
              </a:spcBef>
              <a:spcAft>
                <a:spcPts val="0"/>
              </a:spcAft>
              <a:buSzPct val="80000"/>
              <a:buChar char="●"/>
            </a:pPr>
            <a:r>
              <a:rPr lang="en-US"/>
              <a:t>R provides the</a:t>
            </a:r>
            <a:r>
              <a:rPr lang="en-US">
                <a:solidFill>
                  <a:srgbClr val="4CB9C3"/>
                </a:solidFill>
              </a:rPr>
              <a:t> class()</a:t>
            </a:r>
            <a:r>
              <a:rPr lang="en-US"/>
              <a:t> and </a:t>
            </a:r>
            <a:r>
              <a:rPr lang="en-US">
                <a:solidFill>
                  <a:srgbClr val="4CB9C3"/>
                </a:solidFill>
              </a:rPr>
              <a:t>typeof()</a:t>
            </a:r>
            <a:r>
              <a:rPr lang="en-US"/>
              <a:t> functions to find out what is the class and type of any variable. </a:t>
            </a:r>
            <a:endParaRPr/>
          </a:p>
          <a:p>
            <a:pPr marL="342900" lvl="0" indent="-335280" algn="l" rtl="0">
              <a:spcBef>
                <a:spcPts val="1000"/>
              </a:spcBef>
              <a:spcAft>
                <a:spcPts val="0"/>
              </a:spcAft>
              <a:buSzPct val="80000"/>
              <a:buChar char="●"/>
            </a:pPr>
            <a:r>
              <a:rPr lang="en-US"/>
              <a:t>R has five data types which are:</a:t>
            </a:r>
            <a:endParaRPr/>
          </a:p>
          <a:p>
            <a:pPr marL="342900" lvl="0" indent="-335280" algn="l" rtl="0">
              <a:spcBef>
                <a:spcPts val="1000"/>
              </a:spcBef>
              <a:spcAft>
                <a:spcPts val="0"/>
              </a:spcAft>
              <a:buSzPct val="80000"/>
              <a:buChar char="●"/>
            </a:pPr>
            <a:r>
              <a:rPr lang="en-US"/>
              <a:t>Numeric</a:t>
            </a:r>
            <a:endParaRPr/>
          </a:p>
          <a:p>
            <a:pPr marL="342900" lvl="0" indent="-335280" algn="l" rtl="0">
              <a:spcBef>
                <a:spcPts val="1000"/>
              </a:spcBef>
              <a:spcAft>
                <a:spcPts val="0"/>
              </a:spcAft>
              <a:buSzPct val="80000"/>
              <a:buChar char="●"/>
            </a:pPr>
            <a:r>
              <a:rPr lang="en-US"/>
              <a:t>Integers</a:t>
            </a:r>
            <a:endParaRPr/>
          </a:p>
          <a:p>
            <a:pPr marL="342900" lvl="0" indent="-335280" algn="l" rtl="0">
              <a:spcBef>
                <a:spcPts val="1000"/>
              </a:spcBef>
              <a:spcAft>
                <a:spcPts val="0"/>
              </a:spcAft>
              <a:buSzPct val="80000"/>
              <a:buChar char="●"/>
            </a:pPr>
            <a:r>
              <a:rPr lang="en-US"/>
              <a:t>Complex</a:t>
            </a:r>
            <a:endParaRPr/>
          </a:p>
          <a:p>
            <a:pPr marL="342900" lvl="0" indent="-335280" algn="l" rtl="0">
              <a:spcBef>
                <a:spcPts val="1000"/>
              </a:spcBef>
              <a:spcAft>
                <a:spcPts val="0"/>
              </a:spcAft>
              <a:buSzPct val="80000"/>
              <a:buChar char="●"/>
            </a:pPr>
            <a:r>
              <a:rPr lang="en-US"/>
              <a:t>Logical</a:t>
            </a:r>
            <a:endParaRPr/>
          </a:p>
          <a:p>
            <a:pPr marL="342900" lvl="0" indent="-335280" algn="l" rtl="0">
              <a:spcBef>
                <a:spcPts val="1000"/>
              </a:spcBef>
              <a:spcAft>
                <a:spcPts val="0"/>
              </a:spcAft>
              <a:buSzPct val="80000"/>
              <a:buChar char="●"/>
            </a:pPr>
            <a:r>
              <a:rPr lang="en-US"/>
              <a:t>Characters</a:t>
            </a:r>
            <a:endParaRPr/>
          </a:p>
          <a:p>
            <a:pPr marL="342900" lvl="0" indent="-241300" algn="l" rtl="0">
              <a:spcBef>
                <a:spcPts val="1000"/>
              </a:spcBef>
              <a:spcAft>
                <a:spcPts val="0"/>
              </a:spcAft>
              <a:buSzPct val="80000"/>
              <a:buNone/>
            </a:pP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48"/>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a:t>Numeric Data</a:t>
            </a:r>
            <a:br>
              <a:rPr lang="en-US"/>
            </a:br>
            <a:endParaRPr/>
          </a:p>
        </p:txBody>
      </p:sp>
      <p:sp>
        <p:nvSpPr>
          <p:cNvPr id="439" name="Google Shape;439;p48"/>
          <p:cNvSpPr txBox="1">
            <a:spLocks noGrp="1"/>
          </p:cNvSpPr>
          <p:nvPr>
            <p:ph type="body" idx="1"/>
          </p:nvPr>
        </p:nvSpPr>
        <p:spPr>
          <a:xfrm>
            <a:off x="736600" y="1210725"/>
            <a:ext cx="10442400" cy="50376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600"/>
              <a:buChar char="►"/>
            </a:pPr>
            <a:r>
              <a:rPr lang="en-US"/>
              <a:t>The numeric data type is for numeric values. It is the default data type for numbers in R. It is the most common type in R. (Similar to float or double in other languages. </a:t>
            </a:r>
            <a:endParaRPr/>
          </a:p>
          <a:p>
            <a:pPr marL="342900" lvl="0" indent="-342900" algn="l" rtl="0">
              <a:spcBef>
                <a:spcPts val="1000"/>
              </a:spcBef>
              <a:spcAft>
                <a:spcPts val="0"/>
              </a:spcAft>
              <a:buSzPts val="1600"/>
              <a:buChar char="►"/>
            </a:pPr>
            <a:r>
              <a:rPr lang="en-US"/>
              <a:t>Examples of numeric values would be integers, and decimals, both positive or negative or zero e.g., 1, 34.5, 3.145, -24, -45.003, etc.</a:t>
            </a:r>
            <a:endParaRPr/>
          </a:p>
          <a:p>
            <a:pPr marL="342900" lvl="0" indent="-332740" algn="l" rtl="0">
              <a:spcBef>
                <a:spcPts val="1000"/>
              </a:spcBef>
              <a:spcAft>
                <a:spcPts val="0"/>
              </a:spcAft>
              <a:buSzPts val="1440"/>
              <a:buChar char="►"/>
            </a:pPr>
            <a:r>
              <a:rPr lang="en-US"/>
              <a:t>Testing whether a variable is numeric use this function </a:t>
            </a:r>
            <a:r>
              <a:rPr lang="en-US">
                <a:solidFill>
                  <a:srgbClr val="FF9900"/>
                </a:solidFill>
              </a:rPr>
              <a:t>is.numeric(x)</a:t>
            </a:r>
            <a:endParaRPr>
              <a:solidFill>
                <a:srgbClr val="FF9900"/>
              </a:solidFill>
            </a:endParaRPr>
          </a:p>
          <a:p>
            <a:pPr marL="342900" lvl="0" indent="-241300" algn="l" rtl="0">
              <a:spcBef>
                <a:spcPts val="1000"/>
              </a:spcBef>
              <a:spcAft>
                <a:spcPts val="0"/>
              </a:spcAft>
              <a:buSzPts val="1600"/>
              <a:buNone/>
            </a:pPr>
            <a:endParaRPr/>
          </a:p>
        </p:txBody>
      </p:sp>
      <p:pic>
        <p:nvPicPr>
          <p:cNvPr id="440" name="Google Shape;440;p48"/>
          <p:cNvPicPr preferRelativeResize="0"/>
          <p:nvPr/>
        </p:nvPicPr>
        <p:blipFill rotWithShape="1">
          <a:blip r:embed="rId3">
            <a:alphaModFix/>
          </a:blip>
          <a:srcRect/>
          <a:stretch/>
        </p:blipFill>
        <p:spPr>
          <a:xfrm>
            <a:off x="4324649" y="3555979"/>
            <a:ext cx="3010320" cy="1895740"/>
          </a:xfrm>
          <a:prstGeom prst="rect">
            <a:avLst/>
          </a:prstGeom>
          <a:noFill/>
          <a:ln>
            <a:noFill/>
          </a:ln>
        </p:spPr>
      </p:pic>
      <p:sp>
        <p:nvSpPr>
          <p:cNvPr id="441" name="Google Shape;441;p48"/>
          <p:cNvSpPr/>
          <p:nvPr/>
        </p:nvSpPr>
        <p:spPr>
          <a:xfrm>
            <a:off x="3208222" y="4197528"/>
            <a:ext cx="732000" cy="457500"/>
          </a:xfrm>
          <a:custGeom>
            <a:avLst/>
            <a:gdLst/>
            <a:ahLst/>
            <a:cxnLst/>
            <a:rect l="l" t="t" r="r" b="b"/>
            <a:pathLst>
              <a:path w="120000" h="120000" extrusionOk="0">
                <a:moveTo>
                  <a:pt x="0" y="120000"/>
                </a:moveTo>
                <a:quadBezTo>
                  <a:pt x="20000" y="40000"/>
                  <a:pt x="101250" y="15000"/>
                </a:quadBezTo>
                <a:lnTo>
                  <a:pt x="100194" y="0"/>
                </a:lnTo>
                <a:lnTo>
                  <a:pt x="120000" y="24000"/>
                </a:lnTo>
                <a:lnTo>
                  <a:pt x="104419" y="60000"/>
                </a:lnTo>
                <a:lnTo>
                  <a:pt x="103363" y="45000"/>
                </a:lnTo>
                <a:quadBezTo>
                  <a:pt x="30000" y="55000"/>
                  <a:pt x="0" y="120000"/>
                </a:quadBezTo>
                <a:close/>
              </a:path>
            </a:pathLst>
          </a:custGeom>
          <a:solidFill>
            <a:srgbClr val="E3CACA"/>
          </a:solidFill>
          <a:ln w="9525" cap="rnd" cmpd="sng">
            <a:solidFill>
              <a:srgbClr val="B0121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48"/>
          <p:cNvSpPr txBox="1"/>
          <p:nvPr/>
        </p:nvSpPr>
        <p:spPr>
          <a:xfrm>
            <a:off x="736600" y="5679608"/>
            <a:ext cx="9584400" cy="923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lt1"/>
                </a:solidFill>
                <a:latin typeface="Century Gothic"/>
                <a:ea typeface="Century Gothic"/>
                <a:cs typeface="Century Gothic"/>
                <a:sym typeface="Century Gothic"/>
              </a:rPr>
              <a:t>Note:</a:t>
            </a:r>
            <a:r>
              <a:rPr lang="en-US" sz="1800">
                <a:solidFill>
                  <a:schemeClr val="lt1"/>
                </a:solidFill>
                <a:latin typeface="Century Gothic"/>
                <a:ea typeface="Century Gothic"/>
                <a:cs typeface="Century Gothic"/>
                <a:sym typeface="Century Gothic"/>
              </a:rPr>
              <a:t> When R stores a number in a variable, it converts the number into a ‘double’ value or a decimal type with at least two decimal places. This means that a value such as ’1’ is stored as 1.00 with a type of double and a class of numeric.</a:t>
            </a:r>
            <a:endParaRPr/>
          </a:p>
        </p:txBody>
      </p:sp>
      <p:sp>
        <p:nvSpPr>
          <p:cNvPr id="443" name="Google Shape;443;p48"/>
          <p:cNvSpPr txBox="1"/>
          <p:nvPr/>
        </p:nvSpPr>
        <p:spPr>
          <a:xfrm>
            <a:off x="1086325" y="3758525"/>
            <a:ext cx="2121900" cy="169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US">
                <a:solidFill>
                  <a:srgbClr val="FFFFFF"/>
                </a:solidFill>
                <a:latin typeface="Century Gothic"/>
                <a:ea typeface="Century Gothic"/>
                <a:cs typeface="Century Gothic"/>
                <a:sym typeface="Century Gothic"/>
              </a:rPr>
              <a:t>num &lt;- 1</a:t>
            </a:r>
            <a:endParaRPr>
              <a:solidFill>
                <a:srgbClr val="FFFFFF"/>
              </a:solidFill>
              <a:latin typeface="Century Gothic"/>
              <a:ea typeface="Century Gothic"/>
              <a:cs typeface="Century Gothic"/>
              <a:sym typeface="Century Gothic"/>
            </a:endParaRPr>
          </a:p>
          <a:p>
            <a:pPr marL="0" lvl="0" indent="0" algn="l" rtl="0">
              <a:spcBef>
                <a:spcPts val="0"/>
              </a:spcBef>
              <a:spcAft>
                <a:spcPts val="0"/>
              </a:spcAft>
              <a:buNone/>
            </a:pPr>
            <a:endParaRPr>
              <a:solidFill>
                <a:srgbClr val="FFFFFF"/>
              </a:solidFill>
              <a:latin typeface="Century Gothic"/>
              <a:ea typeface="Century Gothic"/>
              <a:cs typeface="Century Gothic"/>
              <a:sym typeface="Century Gothic"/>
            </a:endParaRPr>
          </a:p>
          <a:p>
            <a:pPr marL="0" lvl="0" indent="0" algn="l" rtl="0">
              <a:spcBef>
                <a:spcPts val="0"/>
              </a:spcBef>
              <a:spcAft>
                <a:spcPts val="0"/>
              </a:spcAft>
              <a:buClr>
                <a:schemeClr val="dk1"/>
              </a:buClr>
              <a:buSzPts val="1100"/>
              <a:buFont typeface="Arial"/>
              <a:buNone/>
            </a:pPr>
            <a:r>
              <a:rPr lang="en-US">
                <a:solidFill>
                  <a:srgbClr val="FFFFFF"/>
                </a:solidFill>
                <a:latin typeface="Century Gothic"/>
                <a:ea typeface="Century Gothic"/>
                <a:cs typeface="Century Gothic"/>
                <a:sym typeface="Century Gothic"/>
              </a:rPr>
              <a:t>class(num)</a:t>
            </a:r>
            <a:endParaRPr>
              <a:solidFill>
                <a:srgbClr val="FFFFFF"/>
              </a:solidFill>
              <a:latin typeface="Century Gothic"/>
              <a:ea typeface="Century Gothic"/>
              <a:cs typeface="Century Gothic"/>
              <a:sym typeface="Century Gothic"/>
            </a:endParaRPr>
          </a:p>
          <a:p>
            <a:pPr marL="0" lvl="0" indent="0" algn="l" rtl="0">
              <a:spcBef>
                <a:spcPts val="0"/>
              </a:spcBef>
              <a:spcAft>
                <a:spcPts val="0"/>
              </a:spcAft>
              <a:buNone/>
            </a:pPr>
            <a:endParaRPr>
              <a:solidFill>
                <a:srgbClr val="FFFFFF"/>
              </a:solidFill>
              <a:latin typeface="Century Gothic"/>
              <a:ea typeface="Century Gothic"/>
              <a:cs typeface="Century Gothic"/>
              <a:sym typeface="Century Gothic"/>
            </a:endParaRPr>
          </a:p>
          <a:p>
            <a:pPr marL="0" lvl="0" indent="0" algn="l" rtl="0">
              <a:spcBef>
                <a:spcPts val="0"/>
              </a:spcBef>
              <a:spcAft>
                <a:spcPts val="0"/>
              </a:spcAft>
              <a:buClr>
                <a:schemeClr val="dk1"/>
              </a:buClr>
              <a:buSzPts val="1100"/>
              <a:buFont typeface="Arial"/>
              <a:buNone/>
            </a:pPr>
            <a:r>
              <a:rPr lang="en-US">
                <a:solidFill>
                  <a:srgbClr val="FFFFFF"/>
                </a:solidFill>
                <a:latin typeface="Century Gothic"/>
                <a:ea typeface="Century Gothic"/>
                <a:cs typeface="Century Gothic"/>
                <a:sym typeface="Century Gothic"/>
              </a:rPr>
              <a:t>typeof(num)</a:t>
            </a:r>
            <a:endParaRPr>
              <a:solidFill>
                <a:srgbClr val="FFFFFF"/>
              </a:solidFill>
              <a:latin typeface="Century Gothic"/>
              <a:ea typeface="Century Gothic"/>
              <a:cs typeface="Century Gothic"/>
              <a:sym typeface="Century Gothic"/>
            </a:endParaRPr>
          </a:p>
          <a:p>
            <a:pPr marL="0" lvl="0" indent="0" algn="l" rtl="0">
              <a:spcBef>
                <a:spcPts val="0"/>
              </a:spcBef>
              <a:spcAft>
                <a:spcPts val="0"/>
              </a:spcAft>
              <a:buClr>
                <a:schemeClr val="dk1"/>
              </a:buClr>
              <a:buSzPts val="1100"/>
              <a:buFont typeface="Arial"/>
              <a:buNone/>
            </a:pPr>
            <a:endParaRPr>
              <a:solidFill>
                <a:srgbClr val="FFFFFF"/>
              </a:solidFill>
              <a:latin typeface="Century Gothic"/>
              <a:ea typeface="Century Gothic"/>
              <a:cs typeface="Century Gothic"/>
              <a:sym typeface="Century Gothic"/>
            </a:endParaRPr>
          </a:p>
          <a:p>
            <a:pPr marL="0" lvl="0" indent="0" algn="l" rtl="0">
              <a:spcBef>
                <a:spcPts val="0"/>
              </a:spcBef>
              <a:spcAft>
                <a:spcPts val="0"/>
              </a:spcAft>
              <a:buNone/>
            </a:pPr>
            <a:endParaRPr>
              <a:solidFill>
                <a:srgbClr val="FFFFFF"/>
              </a:solidFill>
              <a:latin typeface="Century Gothic"/>
              <a:ea typeface="Century Gothic"/>
              <a:cs typeface="Century Gothic"/>
              <a:sym typeface="Century Gothic"/>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sp>
        <p:nvSpPr>
          <p:cNvPr id="448" name="Google Shape;448;p49"/>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a:t>Integers Data Type</a:t>
            </a:r>
            <a:br>
              <a:rPr lang="en-US"/>
            </a:br>
            <a:endParaRPr/>
          </a:p>
        </p:txBody>
      </p:sp>
      <p:sp>
        <p:nvSpPr>
          <p:cNvPr id="449" name="Google Shape;449;p49"/>
          <p:cNvSpPr txBox="1">
            <a:spLocks noGrp="1"/>
          </p:cNvSpPr>
          <p:nvPr>
            <p:ph type="body" idx="1"/>
          </p:nvPr>
        </p:nvSpPr>
        <p:spPr>
          <a:xfrm>
            <a:off x="770468" y="1227668"/>
            <a:ext cx="9279386" cy="5020732"/>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600"/>
              <a:buChar char="►"/>
            </a:pPr>
            <a:r>
              <a:rPr lang="en-US" dirty="0"/>
              <a:t>The Integer data type is used for integer values. The integer data type is commonly used for discrete only values like unique ids. We can store as well as convert a value into an integer type using the </a:t>
            </a:r>
            <a:r>
              <a:rPr lang="en-US" dirty="0" err="1"/>
              <a:t>as.integer</a:t>
            </a:r>
            <a:r>
              <a:rPr lang="en-US" dirty="0"/>
              <a:t>() function.</a:t>
            </a:r>
            <a:endParaRPr dirty="0"/>
          </a:p>
          <a:p>
            <a:pPr marL="342900" lvl="0" indent="-241300" algn="l" rtl="0">
              <a:spcBef>
                <a:spcPts val="1000"/>
              </a:spcBef>
              <a:spcAft>
                <a:spcPts val="0"/>
              </a:spcAft>
              <a:buSzPts val="1600"/>
              <a:buNone/>
            </a:pPr>
            <a:endParaRPr dirty="0"/>
          </a:p>
          <a:p>
            <a:pPr marL="0" lvl="0" indent="0" algn="l" rtl="0">
              <a:spcBef>
                <a:spcPts val="1000"/>
              </a:spcBef>
              <a:spcAft>
                <a:spcPts val="0"/>
              </a:spcAft>
              <a:buSzPts val="1600"/>
              <a:buNone/>
            </a:pPr>
            <a:endParaRPr dirty="0"/>
          </a:p>
        </p:txBody>
      </p:sp>
      <p:pic>
        <p:nvPicPr>
          <p:cNvPr id="450" name="Google Shape;450;p49"/>
          <p:cNvPicPr preferRelativeResize="0"/>
          <p:nvPr/>
        </p:nvPicPr>
        <p:blipFill rotWithShape="1">
          <a:blip r:embed="rId3">
            <a:alphaModFix/>
          </a:blip>
          <a:srcRect/>
          <a:stretch/>
        </p:blipFill>
        <p:spPr>
          <a:xfrm>
            <a:off x="5381866" y="2539231"/>
            <a:ext cx="3553321" cy="3439005"/>
          </a:xfrm>
          <a:prstGeom prst="rect">
            <a:avLst/>
          </a:prstGeom>
          <a:noFill/>
          <a:ln>
            <a:noFill/>
          </a:ln>
        </p:spPr>
      </p:pic>
      <p:sp>
        <p:nvSpPr>
          <p:cNvPr id="451" name="Google Shape;451;p49"/>
          <p:cNvSpPr/>
          <p:nvPr/>
        </p:nvSpPr>
        <p:spPr>
          <a:xfrm>
            <a:off x="4391557" y="3364467"/>
            <a:ext cx="732113" cy="457571"/>
          </a:xfrm>
          <a:custGeom>
            <a:avLst/>
            <a:gdLst/>
            <a:ahLst/>
            <a:cxnLst/>
            <a:rect l="l" t="t" r="r" b="b"/>
            <a:pathLst>
              <a:path w="120000" h="120000" extrusionOk="0">
                <a:moveTo>
                  <a:pt x="0" y="120000"/>
                </a:moveTo>
                <a:quadBezTo>
                  <a:pt x="20000" y="40000"/>
                  <a:pt x="101250" y="15000"/>
                </a:quadBezTo>
                <a:lnTo>
                  <a:pt x="100194" y="0"/>
                </a:lnTo>
                <a:lnTo>
                  <a:pt x="120000" y="24000"/>
                </a:lnTo>
                <a:lnTo>
                  <a:pt x="104419" y="60000"/>
                </a:lnTo>
                <a:lnTo>
                  <a:pt x="103363" y="45000"/>
                </a:lnTo>
                <a:quadBezTo>
                  <a:pt x="30000" y="55000"/>
                  <a:pt x="0" y="120000"/>
                </a:quadBezTo>
                <a:close/>
              </a:path>
            </a:pathLst>
          </a:custGeom>
          <a:solidFill>
            <a:srgbClr val="E3CACA"/>
          </a:solidFill>
          <a:ln w="9525" cap="rnd" cmpd="sng">
            <a:solidFill>
              <a:srgbClr val="B0121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49"/>
          <p:cNvSpPr txBox="1"/>
          <p:nvPr/>
        </p:nvSpPr>
        <p:spPr>
          <a:xfrm>
            <a:off x="1396225" y="2915700"/>
            <a:ext cx="2409300" cy="3201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dirty="0">
                <a:solidFill>
                  <a:schemeClr val="lt1"/>
                </a:solidFill>
                <a:latin typeface="Century Gothic"/>
                <a:ea typeface="Century Gothic"/>
                <a:cs typeface="Century Gothic"/>
                <a:sym typeface="Century Gothic"/>
              </a:rPr>
              <a:t>int &lt;- </a:t>
            </a:r>
            <a:r>
              <a:rPr lang="en-US" dirty="0" err="1">
                <a:solidFill>
                  <a:schemeClr val="lt1"/>
                </a:solidFill>
                <a:latin typeface="Century Gothic"/>
                <a:ea typeface="Century Gothic"/>
                <a:cs typeface="Century Gothic"/>
                <a:sym typeface="Century Gothic"/>
              </a:rPr>
              <a:t>as.integer</a:t>
            </a:r>
            <a:r>
              <a:rPr lang="en-US" dirty="0">
                <a:solidFill>
                  <a:schemeClr val="lt1"/>
                </a:solidFill>
                <a:latin typeface="Century Gothic"/>
                <a:ea typeface="Century Gothic"/>
                <a:cs typeface="Century Gothic"/>
                <a:sym typeface="Century Gothic"/>
              </a:rPr>
              <a:t>(16)</a:t>
            </a:r>
            <a:endParaRPr dirty="0">
              <a:solidFill>
                <a:schemeClr val="lt1"/>
              </a:solidFill>
              <a:latin typeface="Century Gothic"/>
              <a:ea typeface="Century Gothic"/>
              <a:cs typeface="Century Gothic"/>
              <a:sym typeface="Century Gothic"/>
            </a:endParaRPr>
          </a:p>
          <a:p>
            <a:pPr marL="0" lvl="0" indent="0" algn="l" rtl="0">
              <a:spcBef>
                <a:spcPts val="0"/>
              </a:spcBef>
              <a:spcAft>
                <a:spcPts val="0"/>
              </a:spcAft>
              <a:buClr>
                <a:schemeClr val="dk1"/>
              </a:buClr>
              <a:buSzPts val="1100"/>
              <a:buFont typeface="Arial"/>
              <a:buNone/>
            </a:pPr>
            <a:endParaRPr dirty="0">
              <a:solidFill>
                <a:schemeClr val="lt1"/>
              </a:solidFill>
              <a:latin typeface="Century Gothic"/>
              <a:ea typeface="Century Gothic"/>
              <a:cs typeface="Century Gothic"/>
              <a:sym typeface="Century Gothic"/>
            </a:endParaRPr>
          </a:p>
          <a:p>
            <a:pPr marL="0" lvl="0" indent="0" algn="l" rtl="0">
              <a:spcBef>
                <a:spcPts val="0"/>
              </a:spcBef>
              <a:spcAft>
                <a:spcPts val="0"/>
              </a:spcAft>
              <a:buClr>
                <a:schemeClr val="dk1"/>
              </a:buClr>
              <a:buSzPts val="1100"/>
              <a:buFont typeface="Arial"/>
              <a:buNone/>
            </a:pPr>
            <a:r>
              <a:rPr lang="en-US" dirty="0">
                <a:solidFill>
                  <a:schemeClr val="lt1"/>
                </a:solidFill>
                <a:latin typeface="Century Gothic"/>
                <a:ea typeface="Century Gothic"/>
                <a:cs typeface="Century Gothic"/>
                <a:sym typeface="Century Gothic"/>
              </a:rPr>
              <a:t>class(int)</a:t>
            </a:r>
            <a:endParaRPr dirty="0">
              <a:solidFill>
                <a:schemeClr val="lt1"/>
              </a:solidFill>
              <a:latin typeface="Century Gothic"/>
              <a:ea typeface="Century Gothic"/>
              <a:cs typeface="Century Gothic"/>
              <a:sym typeface="Century Gothic"/>
            </a:endParaRPr>
          </a:p>
          <a:p>
            <a:pPr marL="0" lvl="0" indent="0" algn="l" rtl="0">
              <a:spcBef>
                <a:spcPts val="0"/>
              </a:spcBef>
              <a:spcAft>
                <a:spcPts val="0"/>
              </a:spcAft>
              <a:buNone/>
            </a:pPr>
            <a:endParaRPr dirty="0">
              <a:solidFill>
                <a:schemeClr val="lt1"/>
              </a:solidFill>
              <a:latin typeface="Century Gothic"/>
              <a:ea typeface="Century Gothic"/>
              <a:cs typeface="Century Gothic"/>
              <a:sym typeface="Century Gothic"/>
            </a:endParaRPr>
          </a:p>
          <a:p>
            <a:pPr marL="0" lvl="0" indent="0" algn="l" rtl="0">
              <a:spcBef>
                <a:spcPts val="0"/>
              </a:spcBef>
              <a:spcAft>
                <a:spcPts val="0"/>
              </a:spcAft>
              <a:buClr>
                <a:schemeClr val="dk1"/>
              </a:buClr>
              <a:buSzPts val="1100"/>
              <a:buFont typeface="Arial"/>
              <a:buNone/>
            </a:pPr>
            <a:r>
              <a:rPr lang="en-US" dirty="0" err="1">
                <a:solidFill>
                  <a:schemeClr val="lt1"/>
                </a:solidFill>
                <a:latin typeface="Century Gothic"/>
                <a:ea typeface="Century Gothic"/>
                <a:cs typeface="Century Gothic"/>
                <a:sym typeface="Century Gothic"/>
              </a:rPr>
              <a:t>typeof</a:t>
            </a:r>
            <a:r>
              <a:rPr lang="en-US" dirty="0">
                <a:solidFill>
                  <a:schemeClr val="lt1"/>
                </a:solidFill>
                <a:latin typeface="Century Gothic"/>
                <a:ea typeface="Century Gothic"/>
                <a:cs typeface="Century Gothic"/>
                <a:sym typeface="Century Gothic"/>
              </a:rPr>
              <a:t>(int)</a:t>
            </a:r>
            <a:endParaRPr dirty="0">
              <a:solidFill>
                <a:schemeClr val="lt1"/>
              </a:solidFill>
              <a:latin typeface="Century Gothic"/>
              <a:ea typeface="Century Gothic"/>
              <a:cs typeface="Century Gothic"/>
              <a:sym typeface="Century Gothic"/>
            </a:endParaRPr>
          </a:p>
          <a:p>
            <a:pPr marL="0" lvl="0" indent="0" algn="l" rtl="0">
              <a:spcBef>
                <a:spcPts val="0"/>
              </a:spcBef>
              <a:spcAft>
                <a:spcPts val="0"/>
              </a:spcAft>
              <a:buNone/>
            </a:pPr>
            <a:endParaRPr dirty="0">
              <a:solidFill>
                <a:schemeClr val="lt1"/>
              </a:solidFill>
              <a:latin typeface="Century Gothic"/>
              <a:ea typeface="Century Gothic"/>
              <a:cs typeface="Century Gothic"/>
              <a:sym typeface="Century Gothic"/>
            </a:endParaRPr>
          </a:p>
          <a:p>
            <a:pPr marL="0" lvl="0" indent="0" algn="l" rtl="0">
              <a:spcBef>
                <a:spcPts val="0"/>
              </a:spcBef>
              <a:spcAft>
                <a:spcPts val="0"/>
              </a:spcAft>
              <a:buClr>
                <a:schemeClr val="dk1"/>
              </a:buClr>
              <a:buSzPts val="1100"/>
              <a:buFont typeface="Arial"/>
              <a:buNone/>
            </a:pPr>
            <a:r>
              <a:rPr lang="en-US" dirty="0">
                <a:solidFill>
                  <a:schemeClr val="lt1"/>
                </a:solidFill>
                <a:latin typeface="Century Gothic"/>
                <a:ea typeface="Century Gothic"/>
                <a:cs typeface="Century Gothic"/>
                <a:sym typeface="Century Gothic"/>
              </a:rPr>
              <a:t>int2 &lt;- </a:t>
            </a:r>
            <a:r>
              <a:rPr lang="en-US" dirty="0" err="1">
                <a:solidFill>
                  <a:schemeClr val="lt1"/>
                </a:solidFill>
                <a:latin typeface="Century Gothic"/>
                <a:ea typeface="Century Gothic"/>
                <a:cs typeface="Century Gothic"/>
                <a:sym typeface="Century Gothic"/>
              </a:rPr>
              <a:t>as.integer</a:t>
            </a:r>
            <a:r>
              <a:rPr lang="en-US" dirty="0">
                <a:solidFill>
                  <a:schemeClr val="lt1"/>
                </a:solidFill>
                <a:latin typeface="Century Gothic"/>
                <a:ea typeface="Century Gothic"/>
                <a:cs typeface="Century Gothic"/>
                <a:sym typeface="Century Gothic"/>
              </a:rPr>
              <a:t>(num)</a:t>
            </a:r>
            <a:endParaRPr dirty="0">
              <a:solidFill>
                <a:schemeClr val="lt1"/>
              </a:solidFill>
              <a:latin typeface="Century Gothic"/>
              <a:ea typeface="Century Gothic"/>
              <a:cs typeface="Century Gothic"/>
              <a:sym typeface="Century Gothic"/>
            </a:endParaRPr>
          </a:p>
          <a:p>
            <a:pPr marL="0" lvl="0" indent="0" algn="l" rtl="0">
              <a:spcBef>
                <a:spcPts val="0"/>
              </a:spcBef>
              <a:spcAft>
                <a:spcPts val="0"/>
              </a:spcAft>
              <a:buNone/>
            </a:pPr>
            <a:endParaRPr dirty="0">
              <a:solidFill>
                <a:schemeClr val="lt1"/>
              </a:solidFill>
              <a:latin typeface="Century Gothic"/>
              <a:ea typeface="Century Gothic"/>
              <a:cs typeface="Century Gothic"/>
              <a:sym typeface="Century Gothic"/>
            </a:endParaRPr>
          </a:p>
          <a:p>
            <a:pPr marL="0" lvl="0" indent="0" algn="l" rtl="0">
              <a:spcBef>
                <a:spcPts val="0"/>
              </a:spcBef>
              <a:spcAft>
                <a:spcPts val="0"/>
              </a:spcAft>
              <a:buClr>
                <a:schemeClr val="dk1"/>
              </a:buClr>
              <a:buSzPts val="1100"/>
              <a:buFont typeface="Arial"/>
              <a:buNone/>
            </a:pPr>
            <a:r>
              <a:rPr lang="en-US" dirty="0">
                <a:solidFill>
                  <a:schemeClr val="lt1"/>
                </a:solidFill>
                <a:latin typeface="Century Gothic"/>
                <a:ea typeface="Century Gothic"/>
                <a:cs typeface="Century Gothic"/>
                <a:sym typeface="Century Gothic"/>
              </a:rPr>
              <a:t>int2</a:t>
            </a:r>
            <a:endParaRPr dirty="0">
              <a:solidFill>
                <a:schemeClr val="lt1"/>
              </a:solidFill>
              <a:latin typeface="Century Gothic"/>
              <a:ea typeface="Century Gothic"/>
              <a:cs typeface="Century Gothic"/>
              <a:sym typeface="Century Gothic"/>
            </a:endParaRPr>
          </a:p>
          <a:p>
            <a:pPr marL="0" lvl="0" indent="0" algn="l" rtl="0">
              <a:spcBef>
                <a:spcPts val="0"/>
              </a:spcBef>
              <a:spcAft>
                <a:spcPts val="0"/>
              </a:spcAft>
              <a:buNone/>
            </a:pPr>
            <a:endParaRPr dirty="0">
              <a:solidFill>
                <a:schemeClr val="lt1"/>
              </a:solidFill>
              <a:latin typeface="Century Gothic"/>
              <a:ea typeface="Century Gothic"/>
              <a:cs typeface="Century Gothic"/>
              <a:sym typeface="Century Gothic"/>
            </a:endParaRPr>
          </a:p>
          <a:p>
            <a:pPr marL="0" lvl="0" indent="0" algn="l" rtl="0">
              <a:spcBef>
                <a:spcPts val="0"/>
              </a:spcBef>
              <a:spcAft>
                <a:spcPts val="0"/>
              </a:spcAft>
              <a:buClr>
                <a:schemeClr val="dk1"/>
              </a:buClr>
              <a:buSzPts val="1100"/>
              <a:buFont typeface="Arial"/>
              <a:buNone/>
            </a:pPr>
            <a:r>
              <a:rPr lang="en-US" dirty="0">
                <a:solidFill>
                  <a:schemeClr val="lt1"/>
                </a:solidFill>
                <a:latin typeface="Century Gothic"/>
                <a:ea typeface="Century Gothic"/>
                <a:cs typeface="Century Gothic"/>
                <a:sym typeface="Century Gothic"/>
              </a:rPr>
              <a:t>class(int2)</a:t>
            </a:r>
            <a:endParaRPr dirty="0">
              <a:solidFill>
                <a:schemeClr val="lt1"/>
              </a:solidFill>
              <a:latin typeface="Century Gothic"/>
              <a:ea typeface="Century Gothic"/>
              <a:cs typeface="Century Gothic"/>
              <a:sym typeface="Century Gothic"/>
            </a:endParaRPr>
          </a:p>
          <a:p>
            <a:pPr marL="0" lvl="0" indent="0" algn="l" rtl="0">
              <a:spcBef>
                <a:spcPts val="0"/>
              </a:spcBef>
              <a:spcAft>
                <a:spcPts val="0"/>
              </a:spcAft>
              <a:buNone/>
            </a:pPr>
            <a:endParaRPr dirty="0">
              <a:solidFill>
                <a:schemeClr val="lt1"/>
              </a:solidFill>
              <a:latin typeface="Century Gothic"/>
              <a:ea typeface="Century Gothic"/>
              <a:cs typeface="Century Gothic"/>
              <a:sym typeface="Century Gothic"/>
            </a:endParaRPr>
          </a:p>
          <a:p>
            <a:pPr marL="0" lvl="0" indent="0" algn="l" rtl="0">
              <a:spcBef>
                <a:spcPts val="0"/>
              </a:spcBef>
              <a:spcAft>
                <a:spcPts val="0"/>
              </a:spcAft>
              <a:buClr>
                <a:schemeClr val="dk1"/>
              </a:buClr>
              <a:buSzPts val="1100"/>
              <a:buFont typeface="Arial"/>
              <a:buNone/>
            </a:pPr>
            <a:r>
              <a:rPr lang="en-US" dirty="0" err="1">
                <a:solidFill>
                  <a:schemeClr val="lt1"/>
                </a:solidFill>
                <a:latin typeface="Century Gothic"/>
                <a:ea typeface="Century Gothic"/>
                <a:cs typeface="Century Gothic"/>
                <a:sym typeface="Century Gothic"/>
              </a:rPr>
              <a:t>typeof</a:t>
            </a:r>
            <a:r>
              <a:rPr lang="en-US" dirty="0">
                <a:solidFill>
                  <a:schemeClr val="lt1"/>
                </a:solidFill>
                <a:latin typeface="Century Gothic"/>
                <a:ea typeface="Century Gothic"/>
                <a:cs typeface="Century Gothic"/>
                <a:sym typeface="Century Gothic"/>
              </a:rPr>
              <a:t>(int2)</a:t>
            </a:r>
            <a:endParaRPr dirty="0">
              <a:solidFill>
                <a:schemeClr val="lt1"/>
              </a:solidFill>
              <a:latin typeface="Century Gothic"/>
              <a:ea typeface="Century Gothic"/>
              <a:cs typeface="Century Gothic"/>
              <a:sym typeface="Century Gothic"/>
            </a:endParaRPr>
          </a:p>
          <a:p>
            <a:pPr marL="0" lvl="0" indent="0" algn="l" rtl="0">
              <a:spcBef>
                <a:spcPts val="0"/>
              </a:spcBef>
              <a:spcAft>
                <a:spcPts val="0"/>
              </a:spcAft>
              <a:buNone/>
            </a:pPr>
            <a:endParaRPr dirty="0">
              <a:solidFill>
                <a:schemeClr val="lt1"/>
              </a:solidFill>
              <a:latin typeface="Century Gothic"/>
              <a:ea typeface="Century Gothic"/>
              <a:cs typeface="Century Gothic"/>
              <a:sym typeface="Century Gothic"/>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50"/>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a:t>Numeric vs Integer Data </a:t>
            </a:r>
            <a:endParaRPr/>
          </a:p>
        </p:txBody>
      </p:sp>
      <p:sp>
        <p:nvSpPr>
          <p:cNvPr id="458" name="Google Shape;458;p50"/>
          <p:cNvSpPr txBox="1">
            <a:spLocks noGrp="1"/>
          </p:cNvSpPr>
          <p:nvPr>
            <p:ph type="body" idx="1"/>
          </p:nvPr>
        </p:nvSpPr>
        <p:spPr>
          <a:xfrm>
            <a:off x="787400" y="1219200"/>
            <a:ext cx="10051200" cy="50292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600"/>
              <a:buChar char="►"/>
            </a:pPr>
            <a:r>
              <a:rPr lang="en-US"/>
              <a:t>If the data consists of only numbers, like decimals, whole numbers, then we call it NUMERIC DATA. In numeric data, the numbers can be positive or negative. </a:t>
            </a:r>
            <a:r>
              <a:rPr lang="en-US">
                <a:solidFill>
                  <a:srgbClr val="FF9900"/>
                </a:solidFill>
              </a:rPr>
              <a:t>If the data consists only of whole numbers, it is called as INTEGER. </a:t>
            </a:r>
            <a:r>
              <a:rPr lang="en-US"/>
              <a:t>Integers too may take negative or positive values. </a:t>
            </a:r>
            <a:endParaRPr/>
          </a:p>
          <a:p>
            <a:pPr marL="342900" lvl="0" indent="-241300" algn="l" rtl="0">
              <a:spcBef>
                <a:spcPts val="1000"/>
              </a:spcBef>
              <a:spcAft>
                <a:spcPts val="0"/>
              </a:spcAft>
              <a:buSzPts val="1600"/>
              <a:buNone/>
            </a:pPr>
            <a:endParaRPr/>
          </a:p>
          <a:p>
            <a:pPr marL="342900" lvl="0" indent="-342900" algn="l" rtl="0">
              <a:spcBef>
                <a:spcPts val="1000"/>
              </a:spcBef>
              <a:spcAft>
                <a:spcPts val="0"/>
              </a:spcAft>
              <a:buSzPts val="1600"/>
              <a:buChar char="►"/>
            </a:pPr>
            <a:r>
              <a:rPr lang="en-US"/>
              <a:t>A whole number is simply any positive number that does not include a fractional or decimal part. This means that, for example, the numbers </a:t>
            </a:r>
            <a:r>
              <a:rPr lang="en-US" b="1"/>
              <a:t>0, 1, 2, 3, 4, 5, 6, and 7</a:t>
            </a:r>
            <a:r>
              <a:rPr lang="en-US"/>
              <a:t> are all whole numbers. Numbers such as -3, 2.7, or 3 ½ are not whole numbers.</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p53"/>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a:t>Character Data </a:t>
            </a:r>
            <a:endParaRPr/>
          </a:p>
        </p:txBody>
      </p:sp>
      <p:sp>
        <p:nvSpPr>
          <p:cNvPr id="464" name="Google Shape;464;p53"/>
          <p:cNvSpPr txBox="1">
            <a:spLocks noGrp="1"/>
          </p:cNvSpPr>
          <p:nvPr>
            <p:ph type="body" idx="1"/>
          </p:nvPr>
        </p:nvSpPr>
        <p:spPr>
          <a:xfrm>
            <a:off x="795876" y="1337725"/>
            <a:ext cx="10486200" cy="49107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600"/>
              <a:buChar char="►"/>
            </a:pPr>
            <a:r>
              <a:rPr lang="en-US"/>
              <a:t>The character data type stores character values or strings.</a:t>
            </a:r>
            <a:endParaRPr/>
          </a:p>
          <a:p>
            <a:pPr marL="342900" lvl="0" indent="-342900" algn="l" rtl="0">
              <a:spcBef>
                <a:spcPts val="1000"/>
              </a:spcBef>
              <a:spcAft>
                <a:spcPts val="0"/>
              </a:spcAft>
              <a:buSzPts val="1600"/>
              <a:buChar char="►"/>
            </a:pPr>
            <a:r>
              <a:rPr lang="en-US"/>
              <a:t>Strings in R can contain the alphabet, numbers, and symbols. The easiest way to denote that a value is of character type in </a:t>
            </a:r>
            <a:r>
              <a:rPr lang="en-US">
                <a:solidFill>
                  <a:srgbClr val="FF9900"/>
                </a:solidFill>
              </a:rPr>
              <a:t>R is to wrap the value inside single or double inverted commas</a:t>
            </a:r>
            <a:r>
              <a:rPr lang="en-US"/>
              <a:t>.</a:t>
            </a:r>
            <a:endParaRPr/>
          </a:p>
          <a:p>
            <a:pPr marL="342900" lvl="0" indent="-332740" algn="l" rtl="0">
              <a:spcBef>
                <a:spcPts val="1000"/>
              </a:spcBef>
              <a:spcAft>
                <a:spcPts val="0"/>
              </a:spcAft>
              <a:buSzPts val="1440"/>
              <a:buChar char="►"/>
            </a:pPr>
            <a:r>
              <a:rPr lang="en-US"/>
              <a:t>Characters are case sensitive as DATA and Data are different in R.</a:t>
            </a:r>
            <a:endParaRPr/>
          </a:p>
          <a:p>
            <a:pPr marL="342900" lvl="0" indent="-332740" algn="l" rtl="0">
              <a:spcBef>
                <a:spcPts val="1000"/>
              </a:spcBef>
              <a:spcAft>
                <a:spcPts val="0"/>
              </a:spcAft>
              <a:buSzPts val="1440"/>
              <a:buChar char="►"/>
            </a:pPr>
            <a:r>
              <a:rPr lang="en-US"/>
              <a:t>R has two primary ways of handling character data: character and factor</a:t>
            </a:r>
            <a:endParaRPr/>
          </a:p>
        </p:txBody>
      </p:sp>
      <p:pic>
        <p:nvPicPr>
          <p:cNvPr id="465" name="Google Shape;465;p53"/>
          <p:cNvPicPr preferRelativeResize="0"/>
          <p:nvPr/>
        </p:nvPicPr>
        <p:blipFill rotWithShape="1">
          <a:blip r:embed="rId3">
            <a:alphaModFix/>
          </a:blip>
          <a:srcRect/>
          <a:stretch/>
        </p:blipFill>
        <p:spPr>
          <a:xfrm>
            <a:off x="992178" y="3889050"/>
            <a:ext cx="3006897" cy="1806469"/>
          </a:xfrm>
          <a:prstGeom prst="rect">
            <a:avLst/>
          </a:prstGeom>
          <a:noFill/>
          <a:ln>
            <a:noFill/>
          </a:ln>
        </p:spPr>
      </p:pic>
      <p:sp>
        <p:nvSpPr>
          <p:cNvPr id="466" name="Google Shape;466;p53"/>
          <p:cNvSpPr txBox="1"/>
          <p:nvPr/>
        </p:nvSpPr>
        <p:spPr>
          <a:xfrm>
            <a:off x="911921" y="5767725"/>
            <a:ext cx="88731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lt1"/>
                </a:solidFill>
                <a:latin typeface="Century Gothic"/>
                <a:ea typeface="Century Gothic"/>
                <a:cs typeface="Century Gothic"/>
                <a:sym typeface="Century Gothic"/>
              </a:rPr>
              <a:t>We can also use the </a:t>
            </a:r>
            <a:r>
              <a:rPr lang="en-US" sz="1800" i="1">
                <a:solidFill>
                  <a:schemeClr val="lt1"/>
                </a:solidFill>
                <a:latin typeface="Century Gothic"/>
                <a:ea typeface="Century Gothic"/>
                <a:cs typeface="Century Gothic"/>
                <a:sym typeface="Century Gothic"/>
              </a:rPr>
              <a:t>as.character()</a:t>
            </a:r>
            <a:r>
              <a:rPr lang="en-US" sz="1800">
                <a:solidFill>
                  <a:schemeClr val="lt1"/>
                </a:solidFill>
                <a:latin typeface="Century Gothic"/>
                <a:ea typeface="Century Gothic"/>
                <a:cs typeface="Century Gothic"/>
                <a:sym typeface="Century Gothic"/>
              </a:rPr>
              <a:t> function to store a value as a character or to convert a value to the character data type.</a:t>
            </a:r>
            <a:endParaRPr/>
          </a:p>
        </p:txBody>
      </p:sp>
      <p:sp>
        <p:nvSpPr>
          <p:cNvPr id="467" name="Google Shape;467;p53"/>
          <p:cNvSpPr txBox="1"/>
          <p:nvPr/>
        </p:nvSpPr>
        <p:spPr>
          <a:xfrm>
            <a:off x="5379625" y="3942325"/>
            <a:ext cx="3928800" cy="1046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US">
                <a:solidFill>
                  <a:schemeClr val="lt1"/>
                </a:solidFill>
                <a:latin typeface="Century Gothic"/>
                <a:ea typeface="Century Gothic"/>
                <a:cs typeface="Century Gothic"/>
                <a:sym typeface="Century Gothic"/>
              </a:rPr>
              <a:t>char &lt;- "Hello Surkhet"</a:t>
            </a:r>
            <a:endParaRPr>
              <a:solidFill>
                <a:schemeClr val="lt1"/>
              </a:solidFill>
              <a:latin typeface="Century Gothic"/>
              <a:ea typeface="Century Gothic"/>
              <a:cs typeface="Century Gothic"/>
              <a:sym typeface="Century Gothic"/>
            </a:endParaRPr>
          </a:p>
          <a:p>
            <a:pPr marL="0" lvl="0" indent="0" algn="l" rtl="0">
              <a:spcBef>
                <a:spcPts val="0"/>
              </a:spcBef>
              <a:spcAft>
                <a:spcPts val="0"/>
              </a:spcAft>
              <a:buClr>
                <a:schemeClr val="dk1"/>
              </a:buClr>
              <a:buSzPts val="1100"/>
              <a:buFont typeface="Arial"/>
              <a:buNone/>
            </a:pPr>
            <a:r>
              <a:rPr lang="en-US">
                <a:solidFill>
                  <a:schemeClr val="lt1"/>
                </a:solidFill>
                <a:latin typeface="Century Gothic"/>
                <a:ea typeface="Century Gothic"/>
                <a:cs typeface="Century Gothic"/>
                <a:sym typeface="Century Gothic"/>
              </a:rPr>
              <a:t>class(char)</a:t>
            </a:r>
            <a:endParaRPr>
              <a:solidFill>
                <a:schemeClr val="lt1"/>
              </a:solidFill>
              <a:latin typeface="Century Gothic"/>
              <a:ea typeface="Century Gothic"/>
              <a:cs typeface="Century Gothic"/>
              <a:sym typeface="Century Gothic"/>
            </a:endParaRPr>
          </a:p>
          <a:p>
            <a:pPr marL="0" lvl="0" indent="0" algn="l" rtl="0">
              <a:spcBef>
                <a:spcPts val="0"/>
              </a:spcBef>
              <a:spcAft>
                <a:spcPts val="0"/>
              </a:spcAft>
              <a:buClr>
                <a:schemeClr val="dk1"/>
              </a:buClr>
              <a:buSzPts val="1100"/>
              <a:buFont typeface="Arial"/>
              <a:buNone/>
            </a:pPr>
            <a:r>
              <a:rPr lang="en-US">
                <a:solidFill>
                  <a:schemeClr val="lt1"/>
                </a:solidFill>
                <a:latin typeface="Century Gothic"/>
                <a:ea typeface="Century Gothic"/>
                <a:cs typeface="Century Gothic"/>
                <a:sym typeface="Century Gothic"/>
              </a:rPr>
              <a:t>typeof(char)</a:t>
            </a:r>
            <a:endParaRPr>
              <a:solidFill>
                <a:schemeClr val="lt1"/>
              </a:solidFill>
              <a:latin typeface="Century Gothic"/>
              <a:ea typeface="Century Gothic"/>
              <a:cs typeface="Century Gothic"/>
              <a:sym typeface="Century Gothic"/>
            </a:endParaRPr>
          </a:p>
          <a:p>
            <a:pPr marL="0" lvl="0" indent="0" algn="l" rtl="0">
              <a:spcBef>
                <a:spcPts val="0"/>
              </a:spcBef>
              <a:spcAft>
                <a:spcPts val="0"/>
              </a:spcAft>
              <a:buNone/>
            </a:pPr>
            <a:endParaRPr>
              <a:solidFill>
                <a:schemeClr val="lt1"/>
              </a:solidFill>
              <a:latin typeface="Century Gothic"/>
              <a:ea typeface="Century Gothic"/>
              <a:cs typeface="Century Gothic"/>
              <a:sym typeface="Century Gothic"/>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sp>
        <p:nvSpPr>
          <p:cNvPr id="472" name="Google Shape;472;g145ea7f5fe7_1_218"/>
          <p:cNvSpPr txBox="1">
            <a:spLocks noGrp="1"/>
          </p:cNvSpPr>
          <p:nvPr>
            <p:ph type="title"/>
          </p:nvPr>
        </p:nvSpPr>
        <p:spPr>
          <a:xfrm>
            <a:off x="125961" y="137893"/>
            <a:ext cx="9404700" cy="1400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Dates</a:t>
            </a:r>
            <a:endParaRPr/>
          </a:p>
        </p:txBody>
      </p:sp>
      <p:sp>
        <p:nvSpPr>
          <p:cNvPr id="473" name="Google Shape;473;g145ea7f5fe7_1_218"/>
          <p:cNvSpPr txBox="1">
            <a:spLocks noGrp="1"/>
          </p:cNvSpPr>
          <p:nvPr>
            <p:ph type="body" idx="1"/>
          </p:nvPr>
        </p:nvSpPr>
        <p:spPr>
          <a:xfrm>
            <a:off x="125948" y="1085025"/>
            <a:ext cx="10354200" cy="41955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a:t>Dealing with dates and times is complicated in R as  R has numerous different types of dates. The most useful are</a:t>
            </a:r>
            <a:r>
              <a:rPr lang="en-US">
                <a:solidFill>
                  <a:srgbClr val="FF9900"/>
                </a:solidFill>
              </a:rPr>
              <a:t> Date </a:t>
            </a:r>
            <a:r>
              <a:rPr lang="en-US"/>
              <a:t>and </a:t>
            </a:r>
            <a:r>
              <a:rPr lang="en-US">
                <a:solidFill>
                  <a:srgbClr val="FF9900"/>
                </a:solidFill>
              </a:rPr>
              <a:t>POSIXct</a:t>
            </a:r>
            <a:r>
              <a:rPr lang="en-US"/>
              <a:t>.</a:t>
            </a:r>
            <a:endParaRPr/>
          </a:p>
          <a:p>
            <a:pPr marL="0" lvl="0" indent="0" algn="l" rtl="0">
              <a:spcBef>
                <a:spcPts val="1000"/>
              </a:spcBef>
              <a:spcAft>
                <a:spcPts val="0"/>
              </a:spcAft>
              <a:buNone/>
            </a:pPr>
            <a:r>
              <a:rPr lang="en-US">
                <a:solidFill>
                  <a:srgbClr val="FF9900"/>
                </a:solidFill>
              </a:rPr>
              <a:t>Date</a:t>
            </a:r>
            <a:r>
              <a:rPr lang="en-US"/>
              <a:t> stores just a </a:t>
            </a:r>
            <a:r>
              <a:rPr lang="en-US" u="sng"/>
              <a:t>date</a:t>
            </a:r>
            <a:r>
              <a:rPr lang="en-US"/>
              <a:t> while </a:t>
            </a:r>
            <a:r>
              <a:rPr lang="en-US">
                <a:solidFill>
                  <a:srgbClr val="FF9900"/>
                </a:solidFill>
              </a:rPr>
              <a:t>POSIXct</a:t>
            </a:r>
            <a:r>
              <a:rPr lang="en-US"/>
              <a:t> stores a </a:t>
            </a:r>
            <a:r>
              <a:rPr lang="en-US" u="sng"/>
              <a:t>date and time</a:t>
            </a:r>
            <a:endParaRPr u="sng"/>
          </a:p>
        </p:txBody>
      </p:sp>
      <p:sp>
        <p:nvSpPr>
          <p:cNvPr id="474" name="Google Shape;474;g145ea7f5fe7_1_218"/>
          <p:cNvSpPr txBox="1"/>
          <p:nvPr/>
        </p:nvSpPr>
        <p:spPr>
          <a:xfrm>
            <a:off x="361050" y="3008650"/>
            <a:ext cx="5538900" cy="2770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US" dirty="0">
                <a:solidFill>
                  <a:schemeClr val="lt1"/>
                </a:solidFill>
                <a:latin typeface="Century Gothic"/>
                <a:ea typeface="Century Gothic"/>
                <a:cs typeface="Century Gothic"/>
                <a:sym typeface="Century Gothic"/>
              </a:rPr>
              <a:t>date &lt;- </a:t>
            </a:r>
            <a:r>
              <a:rPr lang="en-US" dirty="0" err="1">
                <a:solidFill>
                  <a:schemeClr val="accent3"/>
                </a:solidFill>
                <a:latin typeface="Century Gothic"/>
                <a:ea typeface="Century Gothic"/>
                <a:cs typeface="Century Gothic"/>
                <a:sym typeface="Century Gothic"/>
              </a:rPr>
              <a:t>as.Date</a:t>
            </a:r>
            <a:r>
              <a:rPr lang="en-US" dirty="0">
                <a:solidFill>
                  <a:schemeClr val="lt1"/>
                </a:solidFill>
                <a:latin typeface="Century Gothic"/>
                <a:ea typeface="Century Gothic"/>
                <a:cs typeface="Century Gothic"/>
                <a:sym typeface="Century Gothic"/>
              </a:rPr>
              <a:t> ("2012-06-28")</a:t>
            </a:r>
            <a:endParaRPr dirty="0">
              <a:solidFill>
                <a:schemeClr val="lt1"/>
              </a:solidFill>
              <a:latin typeface="Century Gothic"/>
              <a:ea typeface="Century Gothic"/>
              <a:cs typeface="Century Gothic"/>
              <a:sym typeface="Century Gothic"/>
            </a:endParaRPr>
          </a:p>
          <a:p>
            <a:pPr marL="0" lvl="0" indent="0" algn="l" rtl="0">
              <a:spcBef>
                <a:spcPts val="0"/>
              </a:spcBef>
              <a:spcAft>
                <a:spcPts val="0"/>
              </a:spcAft>
              <a:buNone/>
            </a:pPr>
            <a:r>
              <a:rPr lang="en-US" dirty="0">
                <a:solidFill>
                  <a:schemeClr val="lt1"/>
                </a:solidFill>
                <a:latin typeface="Century Gothic"/>
                <a:ea typeface="Century Gothic"/>
                <a:cs typeface="Century Gothic"/>
                <a:sym typeface="Century Gothic"/>
              </a:rPr>
              <a:t>&gt;date1</a:t>
            </a:r>
            <a:endParaRPr dirty="0">
              <a:solidFill>
                <a:schemeClr val="lt1"/>
              </a:solidFill>
              <a:latin typeface="Century Gothic"/>
              <a:ea typeface="Century Gothic"/>
              <a:cs typeface="Century Gothic"/>
              <a:sym typeface="Century Gothic"/>
            </a:endParaRPr>
          </a:p>
          <a:p>
            <a:pPr marL="0" lvl="0" indent="0" algn="l" rtl="0">
              <a:spcBef>
                <a:spcPts val="0"/>
              </a:spcBef>
              <a:spcAft>
                <a:spcPts val="0"/>
              </a:spcAft>
              <a:buClr>
                <a:schemeClr val="dk1"/>
              </a:buClr>
              <a:buSzPts val="1100"/>
              <a:buFont typeface="Arial"/>
              <a:buNone/>
            </a:pPr>
            <a:endParaRPr dirty="0">
              <a:solidFill>
                <a:schemeClr val="lt1"/>
              </a:solidFill>
              <a:latin typeface="Century Gothic"/>
              <a:ea typeface="Century Gothic"/>
              <a:cs typeface="Century Gothic"/>
              <a:sym typeface="Century Gothic"/>
            </a:endParaRPr>
          </a:p>
          <a:p>
            <a:pPr marL="0" lvl="0" indent="0" algn="l" rtl="0">
              <a:spcBef>
                <a:spcPts val="0"/>
              </a:spcBef>
              <a:spcAft>
                <a:spcPts val="0"/>
              </a:spcAft>
              <a:buNone/>
            </a:pPr>
            <a:r>
              <a:rPr lang="en-US" dirty="0">
                <a:solidFill>
                  <a:schemeClr val="lt1"/>
                </a:solidFill>
                <a:latin typeface="Century Gothic"/>
                <a:ea typeface="Century Gothic"/>
                <a:cs typeface="Century Gothic"/>
                <a:sym typeface="Century Gothic"/>
              </a:rPr>
              <a:t>[11 2012-06-28</a:t>
            </a:r>
            <a:endParaRPr dirty="0">
              <a:solidFill>
                <a:schemeClr val="lt1"/>
              </a:solidFill>
              <a:latin typeface="Century Gothic"/>
              <a:ea typeface="Century Gothic"/>
              <a:cs typeface="Century Gothic"/>
              <a:sym typeface="Century Gothic"/>
            </a:endParaRPr>
          </a:p>
          <a:p>
            <a:pPr marL="0" lvl="0" indent="0" algn="l" rtl="0">
              <a:spcBef>
                <a:spcPts val="0"/>
              </a:spcBef>
              <a:spcAft>
                <a:spcPts val="0"/>
              </a:spcAft>
              <a:buClr>
                <a:schemeClr val="dk1"/>
              </a:buClr>
              <a:buSzPts val="1100"/>
              <a:buFont typeface="Arial"/>
              <a:buNone/>
            </a:pPr>
            <a:endParaRPr dirty="0">
              <a:solidFill>
                <a:schemeClr val="lt1"/>
              </a:solidFill>
              <a:latin typeface="Century Gothic"/>
              <a:ea typeface="Century Gothic"/>
              <a:cs typeface="Century Gothic"/>
              <a:sym typeface="Century Gothic"/>
            </a:endParaRPr>
          </a:p>
          <a:p>
            <a:pPr marL="0" lvl="0" indent="0" algn="l" rtl="0">
              <a:spcBef>
                <a:spcPts val="0"/>
              </a:spcBef>
              <a:spcAft>
                <a:spcPts val="0"/>
              </a:spcAft>
              <a:buNone/>
            </a:pPr>
            <a:r>
              <a:rPr lang="en-US" dirty="0">
                <a:solidFill>
                  <a:schemeClr val="lt1"/>
                </a:solidFill>
                <a:latin typeface="Century Gothic"/>
                <a:ea typeface="Century Gothic"/>
                <a:cs typeface="Century Gothic"/>
                <a:sym typeface="Century Gothic"/>
              </a:rPr>
              <a:t>&gt;</a:t>
            </a:r>
            <a:r>
              <a:rPr lang="en-US" dirty="0">
                <a:solidFill>
                  <a:schemeClr val="accent3"/>
                </a:solidFill>
                <a:latin typeface="Century Gothic"/>
                <a:ea typeface="Century Gothic"/>
                <a:cs typeface="Century Gothic"/>
                <a:sym typeface="Century Gothic"/>
              </a:rPr>
              <a:t>class (date)</a:t>
            </a:r>
            <a:endParaRPr dirty="0">
              <a:solidFill>
                <a:schemeClr val="accent3"/>
              </a:solidFill>
              <a:latin typeface="Century Gothic"/>
              <a:ea typeface="Century Gothic"/>
              <a:cs typeface="Century Gothic"/>
              <a:sym typeface="Century Gothic"/>
            </a:endParaRPr>
          </a:p>
          <a:p>
            <a:pPr marL="0" lvl="0" indent="0" algn="l" rtl="0">
              <a:spcBef>
                <a:spcPts val="0"/>
              </a:spcBef>
              <a:spcAft>
                <a:spcPts val="0"/>
              </a:spcAft>
              <a:buClr>
                <a:schemeClr val="dk1"/>
              </a:buClr>
              <a:buSzPts val="1100"/>
              <a:buFont typeface="Arial"/>
              <a:buNone/>
            </a:pPr>
            <a:endParaRPr dirty="0">
              <a:solidFill>
                <a:schemeClr val="lt1"/>
              </a:solidFill>
              <a:latin typeface="Century Gothic"/>
              <a:ea typeface="Century Gothic"/>
              <a:cs typeface="Century Gothic"/>
              <a:sym typeface="Century Gothic"/>
            </a:endParaRPr>
          </a:p>
          <a:p>
            <a:pPr marL="0" lvl="0" indent="0" algn="l" rtl="0">
              <a:spcBef>
                <a:spcPts val="0"/>
              </a:spcBef>
              <a:spcAft>
                <a:spcPts val="0"/>
              </a:spcAft>
              <a:buNone/>
            </a:pPr>
            <a:r>
              <a:rPr lang="en-US" dirty="0">
                <a:solidFill>
                  <a:schemeClr val="lt1"/>
                </a:solidFill>
                <a:latin typeface="Century Gothic"/>
                <a:ea typeface="Century Gothic"/>
                <a:cs typeface="Century Gothic"/>
                <a:sym typeface="Century Gothic"/>
              </a:rPr>
              <a:t>(1) "Date"</a:t>
            </a:r>
            <a:endParaRPr dirty="0">
              <a:solidFill>
                <a:schemeClr val="lt1"/>
              </a:solidFill>
              <a:latin typeface="Century Gothic"/>
              <a:ea typeface="Century Gothic"/>
              <a:cs typeface="Century Gothic"/>
              <a:sym typeface="Century Gothic"/>
            </a:endParaRPr>
          </a:p>
          <a:p>
            <a:pPr marL="0" lvl="0" indent="0" algn="l" rtl="0">
              <a:spcBef>
                <a:spcPts val="0"/>
              </a:spcBef>
              <a:spcAft>
                <a:spcPts val="0"/>
              </a:spcAft>
              <a:buClr>
                <a:schemeClr val="dk1"/>
              </a:buClr>
              <a:buSzPts val="1100"/>
              <a:buFont typeface="Arial"/>
              <a:buNone/>
            </a:pPr>
            <a:endParaRPr dirty="0">
              <a:solidFill>
                <a:schemeClr val="lt1"/>
              </a:solidFill>
              <a:latin typeface="Century Gothic"/>
              <a:ea typeface="Century Gothic"/>
              <a:cs typeface="Century Gothic"/>
              <a:sym typeface="Century Gothic"/>
            </a:endParaRPr>
          </a:p>
          <a:p>
            <a:pPr marL="0" lvl="0" indent="0" algn="l" rtl="0">
              <a:spcBef>
                <a:spcPts val="0"/>
              </a:spcBef>
              <a:spcAft>
                <a:spcPts val="0"/>
              </a:spcAft>
              <a:buClr>
                <a:schemeClr val="dk1"/>
              </a:buClr>
              <a:buSzPts val="1100"/>
              <a:buFont typeface="Arial"/>
              <a:buNone/>
            </a:pPr>
            <a:r>
              <a:rPr lang="en-US" dirty="0">
                <a:solidFill>
                  <a:schemeClr val="lt1"/>
                </a:solidFill>
                <a:latin typeface="Century Gothic"/>
                <a:ea typeface="Century Gothic"/>
                <a:cs typeface="Century Gothic"/>
                <a:sym typeface="Century Gothic"/>
              </a:rPr>
              <a:t>&gt;</a:t>
            </a:r>
            <a:r>
              <a:rPr lang="en-US" dirty="0" err="1">
                <a:solidFill>
                  <a:schemeClr val="accent3"/>
                </a:solidFill>
                <a:latin typeface="Century Gothic"/>
                <a:ea typeface="Century Gothic"/>
                <a:cs typeface="Century Gothic"/>
                <a:sym typeface="Century Gothic"/>
              </a:rPr>
              <a:t>as.numeric</a:t>
            </a:r>
            <a:r>
              <a:rPr lang="en-US" dirty="0">
                <a:solidFill>
                  <a:schemeClr val="accent3"/>
                </a:solidFill>
                <a:latin typeface="Century Gothic"/>
                <a:ea typeface="Century Gothic"/>
                <a:cs typeface="Century Gothic"/>
                <a:sym typeface="Century Gothic"/>
              </a:rPr>
              <a:t> (date)</a:t>
            </a:r>
            <a:endParaRPr dirty="0">
              <a:solidFill>
                <a:schemeClr val="accent3"/>
              </a:solidFill>
              <a:latin typeface="Century Gothic"/>
              <a:ea typeface="Century Gothic"/>
              <a:cs typeface="Century Gothic"/>
              <a:sym typeface="Century Gothic"/>
            </a:endParaRPr>
          </a:p>
          <a:p>
            <a:pPr marL="0" lvl="0" indent="0" algn="l" rtl="0">
              <a:spcBef>
                <a:spcPts val="0"/>
              </a:spcBef>
              <a:spcAft>
                <a:spcPts val="0"/>
              </a:spcAft>
              <a:buClr>
                <a:schemeClr val="dk1"/>
              </a:buClr>
              <a:buSzPts val="1100"/>
              <a:buFont typeface="Arial"/>
              <a:buNone/>
            </a:pPr>
            <a:r>
              <a:rPr lang="en-US" dirty="0">
                <a:solidFill>
                  <a:schemeClr val="lt1"/>
                </a:solidFill>
                <a:latin typeface="Century Gothic"/>
                <a:ea typeface="Century Gothic"/>
                <a:cs typeface="Century Gothic"/>
                <a:sym typeface="Century Gothic"/>
              </a:rPr>
              <a:t>(1] 15519</a:t>
            </a:r>
            <a:endParaRPr dirty="0">
              <a:solidFill>
                <a:schemeClr val="lt1"/>
              </a:solidFill>
              <a:latin typeface="Century Gothic"/>
              <a:ea typeface="Century Gothic"/>
              <a:cs typeface="Century Gothic"/>
              <a:sym typeface="Century Gothic"/>
            </a:endParaRPr>
          </a:p>
          <a:p>
            <a:pPr marL="0" lvl="0" indent="0" algn="l" rtl="0">
              <a:spcBef>
                <a:spcPts val="0"/>
              </a:spcBef>
              <a:spcAft>
                <a:spcPts val="0"/>
              </a:spcAft>
              <a:buNone/>
            </a:pPr>
            <a:endParaRPr dirty="0">
              <a:solidFill>
                <a:schemeClr val="lt1"/>
              </a:solidFill>
              <a:latin typeface="Century Gothic"/>
              <a:ea typeface="Century Gothic"/>
              <a:cs typeface="Century Gothic"/>
              <a:sym typeface="Century Gothic"/>
            </a:endParaRPr>
          </a:p>
        </p:txBody>
      </p:sp>
      <p:sp>
        <p:nvSpPr>
          <p:cNvPr id="475" name="Google Shape;475;g145ea7f5fe7_1_218"/>
          <p:cNvSpPr txBox="1"/>
          <p:nvPr/>
        </p:nvSpPr>
        <p:spPr>
          <a:xfrm>
            <a:off x="6899100" y="2707500"/>
            <a:ext cx="2970300" cy="3201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solidFill>
                  <a:schemeClr val="lt1"/>
                </a:solidFill>
                <a:latin typeface="Century Gothic"/>
                <a:ea typeface="Century Gothic"/>
                <a:cs typeface="Century Gothic"/>
                <a:sym typeface="Century Gothic"/>
              </a:rPr>
              <a:t>date2 &lt;- </a:t>
            </a:r>
            <a:r>
              <a:rPr lang="en-US">
                <a:solidFill>
                  <a:schemeClr val="accent3"/>
                </a:solidFill>
                <a:latin typeface="Century Gothic"/>
                <a:ea typeface="Century Gothic"/>
                <a:cs typeface="Century Gothic"/>
                <a:sym typeface="Century Gothic"/>
              </a:rPr>
              <a:t>as.POSIXct</a:t>
            </a:r>
            <a:r>
              <a:rPr lang="en-US">
                <a:solidFill>
                  <a:schemeClr val="lt1"/>
                </a:solidFill>
                <a:latin typeface="Century Gothic"/>
                <a:ea typeface="Century Gothic"/>
                <a:cs typeface="Century Gothic"/>
                <a:sym typeface="Century Gothic"/>
              </a:rPr>
              <a:t> ("2012-06-28 17:42”) </a:t>
            </a:r>
            <a:endParaRPr>
              <a:solidFill>
                <a:schemeClr val="lt1"/>
              </a:solidFill>
              <a:latin typeface="Century Gothic"/>
              <a:ea typeface="Century Gothic"/>
              <a:cs typeface="Century Gothic"/>
              <a:sym typeface="Century Gothic"/>
            </a:endParaRPr>
          </a:p>
          <a:p>
            <a:pPr marL="0" lvl="0" indent="0" algn="l" rtl="0">
              <a:spcBef>
                <a:spcPts val="0"/>
              </a:spcBef>
              <a:spcAft>
                <a:spcPts val="0"/>
              </a:spcAft>
              <a:buNone/>
            </a:pPr>
            <a:endParaRPr>
              <a:solidFill>
                <a:schemeClr val="lt1"/>
              </a:solidFill>
              <a:latin typeface="Century Gothic"/>
              <a:ea typeface="Century Gothic"/>
              <a:cs typeface="Century Gothic"/>
              <a:sym typeface="Century Gothic"/>
            </a:endParaRPr>
          </a:p>
          <a:p>
            <a:pPr marL="0" lvl="0" indent="0" algn="l" rtl="0">
              <a:spcBef>
                <a:spcPts val="0"/>
              </a:spcBef>
              <a:spcAft>
                <a:spcPts val="0"/>
              </a:spcAft>
              <a:buNone/>
            </a:pPr>
            <a:r>
              <a:rPr lang="en-US">
                <a:solidFill>
                  <a:schemeClr val="lt1"/>
                </a:solidFill>
                <a:latin typeface="Century Gothic"/>
                <a:ea typeface="Century Gothic"/>
                <a:cs typeface="Century Gothic"/>
                <a:sym typeface="Century Gothic"/>
              </a:rPr>
              <a:t>date2 </a:t>
            </a:r>
            <a:endParaRPr>
              <a:solidFill>
                <a:schemeClr val="lt1"/>
              </a:solidFill>
              <a:latin typeface="Century Gothic"/>
              <a:ea typeface="Century Gothic"/>
              <a:cs typeface="Century Gothic"/>
              <a:sym typeface="Century Gothic"/>
            </a:endParaRPr>
          </a:p>
          <a:p>
            <a:pPr marL="0" lvl="0" indent="0" algn="l" rtl="0">
              <a:spcBef>
                <a:spcPts val="0"/>
              </a:spcBef>
              <a:spcAft>
                <a:spcPts val="0"/>
              </a:spcAft>
              <a:buNone/>
            </a:pPr>
            <a:endParaRPr>
              <a:solidFill>
                <a:schemeClr val="lt1"/>
              </a:solidFill>
              <a:latin typeface="Century Gothic"/>
              <a:ea typeface="Century Gothic"/>
              <a:cs typeface="Century Gothic"/>
              <a:sym typeface="Century Gothic"/>
            </a:endParaRPr>
          </a:p>
          <a:p>
            <a:pPr marL="0" lvl="0" indent="0" algn="l" rtl="0">
              <a:spcBef>
                <a:spcPts val="0"/>
              </a:spcBef>
              <a:spcAft>
                <a:spcPts val="0"/>
              </a:spcAft>
              <a:buNone/>
            </a:pPr>
            <a:r>
              <a:rPr lang="en-US">
                <a:solidFill>
                  <a:schemeClr val="lt1"/>
                </a:solidFill>
                <a:latin typeface="Century Gothic"/>
                <a:ea typeface="Century Gothic"/>
                <a:cs typeface="Century Gothic"/>
                <a:sym typeface="Century Gothic"/>
              </a:rPr>
              <a:t>(1] ”2012-06-28 17:42:00 EDT" </a:t>
            </a:r>
            <a:endParaRPr>
              <a:solidFill>
                <a:schemeClr val="lt1"/>
              </a:solidFill>
              <a:latin typeface="Century Gothic"/>
              <a:ea typeface="Century Gothic"/>
              <a:cs typeface="Century Gothic"/>
              <a:sym typeface="Century Gothic"/>
            </a:endParaRPr>
          </a:p>
          <a:p>
            <a:pPr marL="0" lvl="0" indent="0" algn="l" rtl="0">
              <a:spcBef>
                <a:spcPts val="0"/>
              </a:spcBef>
              <a:spcAft>
                <a:spcPts val="0"/>
              </a:spcAft>
              <a:buNone/>
            </a:pPr>
            <a:endParaRPr>
              <a:solidFill>
                <a:schemeClr val="lt1"/>
              </a:solidFill>
              <a:latin typeface="Century Gothic"/>
              <a:ea typeface="Century Gothic"/>
              <a:cs typeface="Century Gothic"/>
              <a:sym typeface="Century Gothic"/>
            </a:endParaRPr>
          </a:p>
          <a:p>
            <a:pPr marL="0" lvl="0" indent="0" algn="l" rtl="0">
              <a:spcBef>
                <a:spcPts val="0"/>
              </a:spcBef>
              <a:spcAft>
                <a:spcPts val="0"/>
              </a:spcAft>
              <a:buNone/>
            </a:pPr>
            <a:r>
              <a:rPr lang="en-US">
                <a:solidFill>
                  <a:schemeClr val="lt1"/>
                </a:solidFill>
                <a:latin typeface="Century Gothic"/>
                <a:ea typeface="Century Gothic"/>
                <a:cs typeface="Century Gothic"/>
                <a:sym typeface="Century Gothic"/>
              </a:rPr>
              <a:t>&gt;</a:t>
            </a:r>
            <a:r>
              <a:rPr lang="en-US">
                <a:solidFill>
                  <a:schemeClr val="accent3"/>
                </a:solidFill>
                <a:latin typeface="Century Gothic"/>
                <a:ea typeface="Century Gothic"/>
                <a:cs typeface="Century Gothic"/>
                <a:sym typeface="Century Gothic"/>
              </a:rPr>
              <a:t>class (date 2) </a:t>
            </a:r>
            <a:endParaRPr>
              <a:solidFill>
                <a:schemeClr val="accent3"/>
              </a:solidFill>
              <a:latin typeface="Century Gothic"/>
              <a:ea typeface="Century Gothic"/>
              <a:cs typeface="Century Gothic"/>
              <a:sym typeface="Century Gothic"/>
            </a:endParaRPr>
          </a:p>
          <a:p>
            <a:pPr marL="0" lvl="0" indent="0" algn="l" rtl="0">
              <a:spcBef>
                <a:spcPts val="0"/>
              </a:spcBef>
              <a:spcAft>
                <a:spcPts val="0"/>
              </a:spcAft>
              <a:buNone/>
            </a:pPr>
            <a:endParaRPr>
              <a:solidFill>
                <a:schemeClr val="lt1"/>
              </a:solidFill>
              <a:latin typeface="Century Gothic"/>
              <a:ea typeface="Century Gothic"/>
              <a:cs typeface="Century Gothic"/>
              <a:sym typeface="Century Gothic"/>
            </a:endParaRPr>
          </a:p>
          <a:p>
            <a:pPr marL="0" lvl="0" indent="0" algn="l" rtl="0">
              <a:spcBef>
                <a:spcPts val="0"/>
              </a:spcBef>
              <a:spcAft>
                <a:spcPts val="0"/>
              </a:spcAft>
              <a:buNone/>
            </a:pPr>
            <a:r>
              <a:rPr lang="en-US">
                <a:solidFill>
                  <a:schemeClr val="lt1"/>
                </a:solidFill>
                <a:latin typeface="Century Gothic"/>
                <a:ea typeface="Century Gothic"/>
                <a:cs typeface="Century Gothic"/>
                <a:sym typeface="Century Gothic"/>
              </a:rPr>
              <a:t>[11 “POSTXct”  "POSIXt" </a:t>
            </a:r>
            <a:endParaRPr>
              <a:solidFill>
                <a:schemeClr val="lt1"/>
              </a:solidFill>
              <a:latin typeface="Century Gothic"/>
              <a:ea typeface="Century Gothic"/>
              <a:cs typeface="Century Gothic"/>
              <a:sym typeface="Century Gothic"/>
            </a:endParaRPr>
          </a:p>
          <a:p>
            <a:pPr marL="0" lvl="0" indent="0" algn="l" rtl="0">
              <a:spcBef>
                <a:spcPts val="0"/>
              </a:spcBef>
              <a:spcAft>
                <a:spcPts val="0"/>
              </a:spcAft>
              <a:buNone/>
            </a:pPr>
            <a:endParaRPr>
              <a:solidFill>
                <a:schemeClr val="lt1"/>
              </a:solidFill>
              <a:latin typeface="Century Gothic"/>
              <a:ea typeface="Century Gothic"/>
              <a:cs typeface="Century Gothic"/>
              <a:sym typeface="Century Gothic"/>
            </a:endParaRPr>
          </a:p>
          <a:p>
            <a:pPr marL="0" lvl="0" indent="0" algn="l" rtl="0">
              <a:spcBef>
                <a:spcPts val="0"/>
              </a:spcBef>
              <a:spcAft>
                <a:spcPts val="0"/>
              </a:spcAft>
              <a:buNone/>
            </a:pPr>
            <a:r>
              <a:rPr lang="en-US">
                <a:solidFill>
                  <a:schemeClr val="lt1"/>
                </a:solidFill>
                <a:latin typeface="Century Gothic"/>
                <a:ea typeface="Century Gothic"/>
                <a:cs typeface="Century Gothic"/>
                <a:sym typeface="Century Gothic"/>
              </a:rPr>
              <a:t>&gt;</a:t>
            </a:r>
            <a:r>
              <a:rPr lang="en-US">
                <a:solidFill>
                  <a:schemeClr val="accent3"/>
                </a:solidFill>
                <a:latin typeface="Century Gothic"/>
                <a:ea typeface="Century Gothic"/>
                <a:cs typeface="Century Gothic"/>
                <a:sym typeface="Century Gothic"/>
              </a:rPr>
              <a:t>as.numeric (date2) </a:t>
            </a:r>
            <a:endParaRPr>
              <a:solidFill>
                <a:schemeClr val="accent3"/>
              </a:solidFill>
              <a:latin typeface="Century Gothic"/>
              <a:ea typeface="Century Gothic"/>
              <a:cs typeface="Century Gothic"/>
              <a:sym typeface="Century Gothic"/>
            </a:endParaRPr>
          </a:p>
          <a:p>
            <a:pPr marL="0" lvl="0" indent="0" algn="l" rtl="0">
              <a:spcBef>
                <a:spcPts val="0"/>
              </a:spcBef>
              <a:spcAft>
                <a:spcPts val="0"/>
              </a:spcAft>
              <a:buNone/>
            </a:pPr>
            <a:endParaRPr>
              <a:solidFill>
                <a:schemeClr val="lt1"/>
              </a:solidFill>
              <a:latin typeface="Century Gothic"/>
              <a:ea typeface="Century Gothic"/>
              <a:cs typeface="Century Gothic"/>
              <a:sym typeface="Century Gothic"/>
            </a:endParaRPr>
          </a:p>
          <a:p>
            <a:pPr marL="0" lvl="0" indent="0" algn="l" rtl="0">
              <a:spcBef>
                <a:spcPts val="0"/>
              </a:spcBef>
              <a:spcAft>
                <a:spcPts val="0"/>
              </a:spcAft>
              <a:buNone/>
            </a:pPr>
            <a:r>
              <a:rPr lang="en-US">
                <a:solidFill>
                  <a:schemeClr val="lt1"/>
                </a:solidFill>
                <a:latin typeface="Century Gothic"/>
                <a:ea typeface="Century Gothic"/>
                <a:cs typeface="Century Gothic"/>
                <a:sym typeface="Century Gothic"/>
              </a:rPr>
              <a:t>(1) 1340919720</a:t>
            </a:r>
            <a:endParaRPr>
              <a:solidFill>
                <a:schemeClr val="lt1"/>
              </a:solidFill>
              <a:latin typeface="Century Gothic"/>
              <a:ea typeface="Century Gothic"/>
              <a:cs typeface="Century Gothic"/>
              <a:sym typeface="Century Gothic"/>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g145ea7f5fe7_1_231"/>
          <p:cNvSpPr txBox="1">
            <a:spLocks noGrp="1"/>
          </p:cNvSpPr>
          <p:nvPr>
            <p:ph type="title"/>
          </p:nvPr>
        </p:nvSpPr>
        <p:spPr>
          <a:xfrm>
            <a:off x="646111" y="452718"/>
            <a:ext cx="9404700" cy="1400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Logical</a:t>
            </a:r>
            <a:endParaRPr/>
          </a:p>
        </p:txBody>
      </p:sp>
      <p:sp>
        <p:nvSpPr>
          <p:cNvPr id="481" name="Google Shape;481;g145ea7f5fe7_1_231"/>
          <p:cNvSpPr txBox="1">
            <a:spLocks noGrp="1"/>
          </p:cNvSpPr>
          <p:nvPr>
            <p:ph type="body" idx="1"/>
          </p:nvPr>
        </p:nvSpPr>
        <p:spPr>
          <a:xfrm>
            <a:off x="646112" y="1853118"/>
            <a:ext cx="8946600" cy="41955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a:t>Logicals are a way of representing data that can be either TRUE or FALSE. Numerically, TRUE is the same as 1 and FALSE is the same as 0.</a:t>
            </a:r>
            <a:endParaRPr/>
          </a:p>
        </p:txBody>
      </p:sp>
      <p:pic>
        <p:nvPicPr>
          <p:cNvPr id="482" name="Google Shape;482;g145ea7f5fe7_1_231"/>
          <p:cNvPicPr preferRelativeResize="0"/>
          <p:nvPr/>
        </p:nvPicPr>
        <p:blipFill>
          <a:blip r:embed="rId3">
            <a:alphaModFix/>
          </a:blip>
          <a:stretch>
            <a:fillRect/>
          </a:stretch>
        </p:blipFill>
        <p:spPr>
          <a:xfrm>
            <a:off x="711425" y="3006363"/>
            <a:ext cx="2514600" cy="2124075"/>
          </a:xfrm>
          <a:prstGeom prst="rect">
            <a:avLst/>
          </a:prstGeom>
          <a:noFill/>
          <a:ln>
            <a:noFill/>
          </a:ln>
        </p:spPr>
      </p:pic>
      <p:sp>
        <p:nvSpPr>
          <p:cNvPr id="483" name="Google Shape;483;g145ea7f5fe7_1_231"/>
          <p:cNvSpPr txBox="1"/>
          <p:nvPr/>
        </p:nvSpPr>
        <p:spPr>
          <a:xfrm>
            <a:off x="4175025" y="3006375"/>
            <a:ext cx="4517400" cy="1046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US">
                <a:solidFill>
                  <a:schemeClr val="lt1"/>
                </a:solidFill>
                <a:latin typeface="Century Gothic"/>
                <a:ea typeface="Century Gothic"/>
                <a:cs typeface="Century Gothic"/>
                <a:sym typeface="Century Gothic"/>
              </a:rPr>
              <a:t>logi &lt;- FALSE</a:t>
            </a:r>
            <a:endParaRPr>
              <a:solidFill>
                <a:schemeClr val="lt1"/>
              </a:solidFill>
              <a:latin typeface="Century Gothic"/>
              <a:ea typeface="Century Gothic"/>
              <a:cs typeface="Century Gothic"/>
              <a:sym typeface="Century Gothic"/>
            </a:endParaRPr>
          </a:p>
          <a:p>
            <a:pPr marL="0" lvl="0" indent="0" algn="l" rtl="0">
              <a:spcBef>
                <a:spcPts val="0"/>
              </a:spcBef>
              <a:spcAft>
                <a:spcPts val="0"/>
              </a:spcAft>
              <a:buClr>
                <a:schemeClr val="dk1"/>
              </a:buClr>
              <a:buSzPts val="1100"/>
              <a:buFont typeface="Arial"/>
              <a:buNone/>
            </a:pPr>
            <a:r>
              <a:rPr lang="en-US">
                <a:solidFill>
                  <a:schemeClr val="lt1"/>
                </a:solidFill>
                <a:latin typeface="Century Gothic"/>
                <a:ea typeface="Century Gothic"/>
                <a:cs typeface="Century Gothic"/>
                <a:sym typeface="Century Gothic"/>
              </a:rPr>
              <a:t>class(logi)</a:t>
            </a:r>
            <a:endParaRPr>
              <a:solidFill>
                <a:schemeClr val="lt1"/>
              </a:solidFill>
              <a:latin typeface="Century Gothic"/>
              <a:ea typeface="Century Gothic"/>
              <a:cs typeface="Century Gothic"/>
              <a:sym typeface="Century Gothic"/>
            </a:endParaRPr>
          </a:p>
          <a:p>
            <a:pPr marL="0" lvl="0" indent="0" algn="l" rtl="0">
              <a:spcBef>
                <a:spcPts val="0"/>
              </a:spcBef>
              <a:spcAft>
                <a:spcPts val="0"/>
              </a:spcAft>
              <a:buClr>
                <a:schemeClr val="dk1"/>
              </a:buClr>
              <a:buSzPts val="1100"/>
              <a:buFont typeface="Arial"/>
              <a:buNone/>
            </a:pPr>
            <a:r>
              <a:rPr lang="en-US">
                <a:solidFill>
                  <a:schemeClr val="lt1"/>
                </a:solidFill>
                <a:latin typeface="Century Gothic"/>
                <a:ea typeface="Century Gothic"/>
                <a:cs typeface="Century Gothic"/>
                <a:sym typeface="Century Gothic"/>
              </a:rPr>
              <a:t>typeof(logi)</a:t>
            </a:r>
            <a:endParaRPr>
              <a:solidFill>
                <a:schemeClr val="lt1"/>
              </a:solidFill>
              <a:latin typeface="Century Gothic"/>
              <a:ea typeface="Century Gothic"/>
              <a:cs typeface="Century Gothic"/>
              <a:sym typeface="Century Gothic"/>
            </a:endParaRPr>
          </a:p>
          <a:p>
            <a:pPr marL="0" lvl="0" indent="0" algn="l" rtl="0">
              <a:spcBef>
                <a:spcPts val="0"/>
              </a:spcBef>
              <a:spcAft>
                <a:spcPts val="0"/>
              </a:spcAft>
              <a:buNone/>
            </a:pPr>
            <a:endParaRPr>
              <a:solidFill>
                <a:schemeClr val="lt1"/>
              </a:solidFill>
              <a:latin typeface="Century Gothic"/>
              <a:ea typeface="Century Gothic"/>
              <a:cs typeface="Century Gothic"/>
              <a:sym typeface="Century Gothic"/>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sp>
        <p:nvSpPr>
          <p:cNvPr id="488" name="Google Shape;488;p54"/>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a:t>Converting Data Types in R</a:t>
            </a:r>
            <a:br>
              <a:rPr lang="en-US"/>
            </a:br>
            <a:endParaRPr/>
          </a:p>
        </p:txBody>
      </p:sp>
      <p:sp>
        <p:nvSpPr>
          <p:cNvPr id="489" name="Google Shape;489;p54"/>
          <p:cNvSpPr txBox="1">
            <a:spLocks noGrp="1"/>
          </p:cNvSpPr>
          <p:nvPr>
            <p:ph type="body" idx="1"/>
          </p:nvPr>
        </p:nvSpPr>
        <p:spPr>
          <a:xfrm>
            <a:off x="736600" y="1227668"/>
            <a:ext cx="10363200" cy="5528732"/>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600"/>
              <a:buChar char="►"/>
            </a:pPr>
            <a:r>
              <a:rPr lang="en-US"/>
              <a:t>Conversion into Numeric</a:t>
            </a:r>
            <a:endParaRPr/>
          </a:p>
          <a:p>
            <a:pPr marL="342900" lvl="0" indent="-342900" algn="l" rtl="0">
              <a:spcBef>
                <a:spcPts val="1000"/>
              </a:spcBef>
              <a:spcAft>
                <a:spcPts val="0"/>
              </a:spcAft>
              <a:buSzPts val="1600"/>
              <a:buChar char="►"/>
            </a:pPr>
            <a:r>
              <a:rPr lang="en-US"/>
              <a:t>We can use the </a:t>
            </a:r>
            <a:r>
              <a:rPr lang="en-US" i="1">
                <a:solidFill>
                  <a:srgbClr val="FF9900"/>
                </a:solidFill>
              </a:rPr>
              <a:t>as.numeric</a:t>
            </a:r>
            <a:r>
              <a:rPr lang="en-US"/>
              <a:t> function to convert the values of other data types into numerical values. The conversion follows a few rules, which are:</a:t>
            </a:r>
            <a:endParaRPr/>
          </a:p>
          <a:p>
            <a:pPr marL="342900" lvl="0" indent="-342900" algn="l" rtl="0">
              <a:spcBef>
                <a:spcPts val="1000"/>
              </a:spcBef>
              <a:spcAft>
                <a:spcPts val="0"/>
              </a:spcAft>
              <a:buSzPts val="1600"/>
              <a:buChar char="►"/>
            </a:pPr>
            <a:r>
              <a:rPr lang="en-US"/>
              <a:t>To convert an integer value into a numeric, we can use the </a:t>
            </a:r>
            <a:r>
              <a:rPr lang="en-US" i="1">
                <a:solidFill>
                  <a:srgbClr val="FF9900"/>
                </a:solidFill>
              </a:rPr>
              <a:t>as.numeric</a:t>
            </a:r>
            <a:r>
              <a:rPr lang="en-US"/>
              <a:t> function.</a:t>
            </a:r>
            <a:endParaRPr/>
          </a:p>
          <a:p>
            <a:pPr marL="342900" lvl="0" indent="-342900" algn="l" rtl="0">
              <a:spcBef>
                <a:spcPts val="1000"/>
              </a:spcBef>
              <a:spcAft>
                <a:spcPts val="0"/>
              </a:spcAft>
              <a:buSzPts val="1600"/>
              <a:buChar char="►"/>
            </a:pPr>
            <a:r>
              <a:rPr lang="en-US"/>
              <a:t>Logical values can be converted into numeric as well by the function. The TRUE value is converted to 1, and FALSE is converted to 0.</a:t>
            </a:r>
            <a:endParaRPr/>
          </a:p>
          <a:p>
            <a:pPr marL="342900" lvl="0" indent="-342900" algn="l" rtl="0">
              <a:spcBef>
                <a:spcPts val="1000"/>
              </a:spcBef>
              <a:spcAft>
                <a:spcPts val="0"/>
              </a:spcAft>
              <a:buClr>
                <a:srgbClr val="FF9900"/>
              </a:buClr>
              <a:buSzPts val="1600"/>
              <a:buChar char="►"/>
            </a:pPr>
            <a:r>
              <a:rPr lang="en-US">
                <a:solidFill>
                  <a:srgbClr val="FF9900"/>
                </a:solidFill>
              </a:rPr>
              <a:t>Character values can similarly be converted into numerical values but if the string contains letters, alphabets, and symbols then the numeric value becomes NA.</a:t>
            </a:r>
            <a:endParaRPr>
              <a:solidFill>
                <a:srgbClr val="FF9900"/>
              </a:solidFill>
            </a:endParaRPr>
          </a:p>
          <a:p>
            <a:pPr marL="342900" lvl="0" indent="-241300" algn="l" rtl="0">
              <a:spcBef>
                <a:spcPts val="1000"/>
              </a:spcBef>
              <a:spcAft>
                <a:spcPts val="0"/>
              </a:spcAft>
              <a:buSzPts val="1600"/>
              <a:buNone/>
            </a:pP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pic>
        <p:nvPicPr>
          <p:cNvPr id="494" name="Google Shape;494;p55"/>
          <p:cNvPicPr preferRelativeResize="0"/>
          <p:nvPr/>
        </p:nvPicPr>
        <p:blipFill rotWithShape="1">
          <a:blip r:embed="rId3">
            <a:alphaModFix/>
          </a:blip>
          <a:srcRect/>
          <a:stretch/>
        </p:blipFill>
        <p:spPr>
          <a:xfrm>
            <a:off x="4980178" y="309137"/>
            <a:ext cx="4839375" cy="5134692"/>
          </a:xfrm>
          <a:prstGeom prst="rect">
            <a:avLst/>
          </a:prstGeom>
          <a:noFill/>
          <a:ln>
            <a:noFill/>
          </a:ln>
        </p:spPr>
      </p:pic>
      <p:sp>
        <p:nvSpPr>
          <p:cNvPr id="495" name="Google Shape;495;p55"/>
          <p:cNvSpPr/>
          <p:nvPr/>
        </p:nvSpPr>
        <p:spPr>
          <a:xfrm>
            <a:off x="3984177" y="1466586"/>
            <a:ext cx="732113" cy="457571"/>
          </a:xfrm>
          <a:custGeom>
            <a:avLst/>
            <a:gdLst/>
            <a:ahLst/>
            <a:cxnLst/>
            <a:rect l="l" t="t" r="r" b="b"/>
            <a:pathLst>
              <a:path w="120000" h="120000" extrusionOk="0">
                <a:moveTo>
                  <a:pt x="0" y="120000"/>
                </a:moveTo>
                <a:quadBezTo>
                  <a:pt x="20000" y="40000"/>
                  <a:pt x="101250" y="15000"/>
                </a:quadBezTo>
                <a:lnTo>
                  <a:pt x="100194" y="0"/>
                </a:lnTo>
                <a:lnTo>
                  <a:pt x="120000" y="24000"/>
                </a:lnTo>
                <a:lnTo>
                  <a:pt x="104419" y="60000"/>
                </a:lnTo>
                <a:lnTo>
                  <a:pt x="103363" y="45000"/>
                </a:lnTo>
                <a:quadBezTo>
                  <a:pt x="30000" y="55000"/>
                  <a:pt x="0" y="120000"/>
                </a:quadBezTo>
                <a:close/>
              </a:path>
            </a:pathLst>
          </a:custGeom>
          <a:solidFill>
            <a:srgbClr val="E3CACA"/>
          </a:solidFill>
          <a:ln w="9525" cap="rnd" cmpd="sng">
            <a:solidFill>
              <a:srgbClr val="B0121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55"/>
          <p:cNvSpPr txBox="1"/>
          <p:nvPr/>
        </p:nvSpPr>
        <p:spPr>
          <a:xfrm>
            <a:off x="533850" y="657050"/>
            <a:ext cx="3326400" cy="2770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endParaRPr>
              <a:solidFill>
                <a:schemeClr val="lt1"/>
              </a:solidFill>
              <a:latin typeface="Century Gothic"/>
              <a:ea typeface="Century Gothic"/>
              <a:cs typeface="Century Gothic"/>
              <a:sym typeface="Century Gothic"/>
            </a:endParaRPr>
          </a:p>
          <a:p>
            <a:pPr marL="0" lvl="0" indent="0" algn="l" rtl="0">
              <a:spcBef>
                <a:spcPts val="0"/>
              </a:spcBef>
              <a:spcAft>
                <a:spcPts val="0"/>
              </a:spcAft>
              <a:buClr>
                <a:schemeClr val="dk1"/>
              </a:buClr>
              <a:buSzPts val="1100"/>
              <a:buFont typeface="Arial"/>
              <a:buNone/>
            </a:pPr>
            <a:r>
              <a:rPr lang="en-US">
                <a:solidFill>
                  <a:schemeClr val="lt1"/>
                </a:solidFill>
                <a:latin typeface="Century Gothic"/>
                <a:ea typeface="Century Gothic"/>
                <a:cs typeface="Century Gothic"/>
                <a:sym typeface="Century Gothic"/>
              </a:rPr>
              <a:t>num2 &lt;- as.numeric(int)</a:t>
            </a:r>
            <a:endParaRPr>
              <a:solidFill>
                <a:schemeClr val="lt1"/>
              </a:solidFill>
              <a:latin typeface="Century Gothic"/>
              <a:ea typeface="Century Gothic"/>
              <a:cs typeface="Century Gothic"/>
              <a:sym typeface="Century Gothic"/>
            </a:endParaRPr>
          </a:p>
          <a:p>
            <a:pPr marL="0" lvl="0" indent="0" algn="l" rtl="0">
              <a:spcBef>
                <a:spcPts val="0"/>
              </a:spcBef>
              <a:spcAft>
                <a:spcPts val="0"/>
              </a:spcAft>
              <a:buClr>
                <a:schemeClr val="dk1"/>
              </a:buClr>
              <a:buSzPts val="1100"/>
              <a:buFont typeface="Arial"/>
              <a:buNone/>
            </a:pPr>
            <a:r>
              <a:rPr lang="en-US">
                <a:solidFill>
                  <a:schemeClr val="lt1"/>
                </a:solidFill>
                <a:latin typeface="Century Gothic"/>
                <a:ea typeface="Century Gothic"/>
                <a:cs typeface="Century Gothic"/>
                <a:sym typeface="Century Gothic"/>
              </a:rPr>
              <a:t>num2</a:t>
            </a:r>
            <a:endParaRPr>
              <a:solidFill>
                <a:schemeClr val="lt1"/>
              </a:solidFill>
              <a:latin typeface="Century Gothic"/>
              <a:ea typeface="Century Gothic"/>
              <a:cs typeface="Century Gothic"/>
              <a:sym typeface="Century Gothic"/>
            </a:endParaRPr>
          </a:p>
          <a:p>
            <a:pPr marL="0" lvl="0" indent="0" algn="l" rtl="0">
              <a:spcBef>
                <a:spcPts val="0"/>
              </a:spcBef>
              <a:spcAft>
                <a:spcPts val="0"/>
              </a:spcAft>
              <a:buClr>
                <a:schemeClr val="dk1"/>
              </a:buClr>
              <a:buSzPts val="1100"/>
              <a:buFont typeface="Arial"/>
              <a:buNone/>
            </a:pPr>
            <a:r>
              <a:rPr lang="en-US">
                <a:solidFill>
                  <a:schemeClr val="lt1"/>
                </a:solidFill>
                <a:latin typeface="Century Gothic"/>
                <a:ea typeface="Century Gothic"/>
                <a:cs typeface="Century Gothic"/>
                <a:sym typeface="Century Gothic"/>
              </a:rPr>
              <a:t>num3 &lt;- as.numeric(comp)</a:t>
            </a:r>
            <a:endParaRPr>
              <a:solidFill>
                <a:schemeClr val="lt1"/>
              </a:solidFill>
              <a:latin typeface="Century Gothic"/>
              <a:ea typeface="Century Gothic"/>
              <a:cs typeface="Century Gothic"/>
              <a:sym typeface="Century Gothic"/>
            </a:endParaRPr>
          </a:p>
          <a:p>
            <a:pPr marL="0" lvl="0" indent="0" algn="l" rtl="0">
              <a:spcBef>
                <a:spcPts val="0"/>
              </a:spcBef>
              <a:spcAft>
                <a:spcPts val="0"/>
              </a:spcAft>
              <a:buClr>
                <a:schemeClr val="dk1"/>
              </a:buClr>
              <a:buSzPts val="1100"/>
              <a:buFont typeface="Arial"/>
              <a:buNone/>
            </a:pPr>
            <a:r>
              <a:rPr lang="en-US">
                <a:solidFill>
                  <a:schemeClr val="lt1"/>
                </a:solidFill>
                <a:latin typeface="Century Gothic"/>
                <a:ea typeface="Century Gothic"/>
                <a:cs typeface="Century Gothic"/>
                <a:sym typeface="Century Gothic"/>
              </a:rPr>
              <a:t>num3</a:t>
            </a:r>
            <a:endParaRPr>
              <a:solidFill>
                <a:schemeClr val="lt1"/>
              </a:solidFill>
              <a:latin typeface="Century Gothic"/>
              <a:ea typeface="Century Gothic"/>
              <a:cs typeface="Century Gothic"/>
              <a:sym typeface="Century Gothic"/>
            </a:endParaRPr>
          </a:p>
          <a:p>
            <a:pPr marL="0" lvl="0" indent="0" algn="l" rtl="0">
              <a:spcBef>
                <a:spcPts val="0"/>
              </a:spcBef>
              <a:spcAft>
                <a:spcPts val="0"/>
              </a:spcAft>
              <a:buClr>
                <a:schemeClr val="dk1"/>
              </a:buClr>
              <a:buSzPts val="1100"/>
              <a:buFont typeface="Arial"/>
              <a:buNone/>
            </a:pPr>
            <a:r>
              <a:rPr lang="en-US">
                <a:solidFill>
                  <a:schemeClr val="lt1"/>
                </a:solidFill>
                <a:latin typeface="Century Gothic"/>
                <a:ea typeface="Century Gothic"/>
                <a:cs typeface="Century Gothic"/>
                <a:sym typeface="Century Gothic"/>
              </a:rPr>
              <a:t>num4 &lt;- as.numeric(logi)</a:t>
            </a:r>
            <a:endParaRPr>
              <a:solidFill>
                <a:schemeClr val="lt1"/>
              </a:solidFill>
              <a:latin typeface="Century Gothic"/>
              <a:ea typeface="Century Gothic"/>
              <a:cs typeface="Century Gothic"/>
              <a:sym typeface="Century Gothic"/>
            </a:endParaRPr>
          </a:p>
          <a:p>
            <a:pPr marL="0" lvl="0" indent="0" algn="l" rtl="0">
              <a:spcBef>
                <a:spcPts val="0"/>
              </a:spcBef>
              <a:spcAft>
                <a:spcPts val="0"/>
              </a:spcAft>
              <a:buClr>
                <a:schemeClr val="dk1"/>
              </a:buClr>
              <a:buSzPts val="1100"/>
              <a:buFont typeface="Arial"/>
              <a:buNone/>
            </a:pPr>
            <a:r>
              <a:rPr lang="en-US">
                <a:solidFill>
                  <a:schemeClr val="lt1"/>
                </a:solidFill>
                <a:latin typeface="Century Gothic"/>
                <a:ea typeface="Century Gothic"/>
                <a:cs typeface="Century Gothic"/>
                <a:sym typeface="Century Gothic"/>
              </a:rPr>
              <a:t>num4</a:t>
            </a:r>
            <a:endParaRPr>
              <a:solidFill>
                <a:schemeClr val="lt1"/>
              </a:solidFill>
              <a:latin typeface="Century Gothic"/>
              <a:ea typeface="Century Gothic"/>
              <a:cs typeface="Century Gothic"/>
              <a:sym typeface="Century Gothic"/>
            </a:endParaRPr>
          </a:p>
          <a:p>
            <a:pPr marL="0" lvl="0" indent="0" algn="l" rtl="0">
              <a:spcBef>
                <a:spcPts val="0"/>
              </a:spcBef>
              <a:spcAft>
                <a:spcPts val="0"/>
              </a:spcAft>
              <a:buClr>
                <a:schemeClr val="dk1"/>
              </a:buClr>
              <a:buSzPts val="1100"/>
              <a:buFont typeface="Arial"/>
              <a:buNone/>
            </a:pPr>
            <a:r>
              <a:rPr lang="en-US">
                <a:solidFill>
                  <a:schemeClr val="lt1"/>
                </a:solidFill>
                <a:latin typeface="Century Gothic"/>
                <a:ea typeface="Century Gothic"/>
                <a:cs typeface="Century Gothic"/>
                <a:sym typeface="Century Gothic"/>
              </a:rPr>
              <a:t>num5 &lt;- as.numeric(char)</a:t>
            </a:r>
            <a:endParaRPr>
              <a:solidFill>
                <a:schemeClr val="lt1"/>
              </a:solidFill>
              <a:latin typeface="Century Gothic"/>
              <a:ea typeface="Century Gothic"/>
              <a:cs typeface="Century Gothic"/>
              <a:sym typeface="Century Gothic"/>
            </a:endParaRPr>
          </a:p>
          <a:p>
            <a:pPr marL="0" lvl="0" indent="0" algn="l" rtl="0">
              <a:spcBef>
                <a:spcPts val="0"/>
              </a:spcBef>
              <a:spcAft>
                <a:spcPts val="0"/>
              </a:spcAft>
              <a:buClr>
                <a:schemeClr val="dk1"/>
              </a:buClr>
              <a:buSzPts val="1100"/>
              <a:buFont typeface="Arial"/>
              <a:buNone/>
            </a:pPr>
            <a:r>
              <a:rPr lang="en-US">
                <a:solidFill>
                  <a:schemeClr val="lt1"/>
                </a:solidFill>
                <a:latin typeface="Century Gothic"/>
                <a:ea typeface="Century Gothic"/>
                <a:cs typeface="Century Gothic"/>
                <a:sym typeface="Century Gothic"/>
              </a:rPr>
              <a:t>num5 &lt;- as.numeric("1234")</a:t>
            </a:r>
            <a:endParaRPr>
              <a:solidFill>
                <a:schemeClr val="lt1"/>
              </a:solidFill>
              <a:latin typeface="Century Gothic"/>
              <a:ea typeface="Century Gothic"/>
              <a:cs typeface="Century Gothic"/>
              <a:sym typeface="Century Gothic"/>
            </a:endParaRPr>
          </a:p>
          <a:p>
            <a:pPr marL="0" lvl="0" indent="0" algn="l" rtl="0">
              <a:spcBef>
                <a:spcPts val="0"/>
              </a:spcBef>
              <a:spcAft>
                <a:spcPts val="0"/>
              </a:spcAft>
              <a:buClr>
                <a:schemeClr val="dk1"/>
              </a:buClr>
              <a:buSzPts val="1100"/>
              <a:buFont typeface="Arial"/>
              <a:buNone/>
            </a:pPr>
            <a:r>
              <a:rPr lang="en-US">
                <a:solidFill>
                  <a:schemeClr val="lt1"/>
                </a:solidFill>
                <a:latin typeface="Century Gothic"/>
                <a:ea typeface="Century Gothic"/>
                <a:cs typeface="Century Gothic"/>
                <a:sym typeface="Century Gothic"/>
              </a:rPr>
              <a:t>num5</a:t>
            </a:r>
            <a:endParaRPr>
              <a:solidFill>
                <a:schemeClr val="lt1"/>
              </a:solidFill>
              <a:latin typeface="Century Gothic"/>
              <a:ea typeface="Century Gothic"/>
              <a:cs typeface="Century Gothic"/>
              <a:sym typeface="Century Gothic"/>
            </a:endParaRPr>
          </a:p>
          <a:p>
            <a:pPr marL="0" lvl="0" indent="0" algn="l" rtl="0">
              <a:spcBef>
                <a:spcPts val="0"/>
              </a:spcBef>
              <a:spcAft>
                <a:spcPts val="0"/>
              </a:spcAft>
              <a:buClr>
                <a:schemeClr val="dk1"/>
              </a:buClr>
              <a:buSzPts val="1100"/>
              <a:buFont typeface="Arial"/>
              <a:buNone/>
            </a:pPr>
            <a:endParaRPr>
              <a:solidFill>
                <a:schemeClr val="lt1"/>
              </a:solidFill>
              <a:latin typeface="Century Gothic"/>
              <a:ea typeface="Century Gothic"/>
              <a:cs typeface="Century Gothic"/>
              <a:sym typeface="Century Gothic"/>
            </a:endParaRPr>
          </a:p>
          <a:p>
            <a:pPr marL="0" lvl="0" indent="0" algn="l" rtl="0">
              <a:spcBef>
                <a:spcPts val="0"/>
              </a:spcBef>
              <a:spcAft>
                <a:spcPts val="0"/>
              </a:spcAft>
              <a:buNone/>
            </a:pPr>
            <a:endParaRPr>
              <a:solidFill>
                <a:schemeClr val="lt1"/>
              </a:solidFill>
              <a:latin typeface="Century Gothic"/>
              <a:ea typeface="Century Gothic"/>
              <a:cs typeface="Century Gothic"/>
              <a:sym typeface="Century Gothic"/>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00"/>
        <p:cNvGrpSpPr/>
        <p:nvPr/>
      </p:nvGrpSpPr>
      <p:grpSpPr>
        <a:xfrm>
          <a:off x="0" y="0"/>
          <a:ext cx="0" cy="0"/>
          <a:chOff x="0" y="0"/>
          <a:chExt cx="0" cy="0"/>
        </a:xfrm>
      </p:grpSpPr>
      <p:sp>
        <p:nvSpPr>
          <p:cNvPr id="501" name="Google Shape;501;p56"/>
          <p:cNvSpPr txBox="1">
            <a:spLocks noGrp="1"/>
          </p:cNvSpPr>
          <p:nvPr>
            <p:ph type="title"/>
          </p:nvPr>
        </p:nvSpPr>
        <p:spPr>
          <a:xfrm>
            <a:off x="646111" y="452718"/>
            <a:ext cx="9404723" cy="84268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a:t>Conversion into Integer</a:t>
            </a:r>
            <a:br>
              <a:rPr lang="en-US"/>
            </a:br>
            <a:endParaRPr/>
          </a:p>
        </p:txBody>
      </p:sp>
      <p:sp>
        <p:nvSpPr>
          <p:cNvPr id="502" name="Google Shape;502;p56"/>
          <p:cNvSpPr txBox="1">
            <a:spLocks noGrp="1"/>
          </p:cNvSpPr>
          <p:nvPr>
            <p:ph type="body" idx="1"/>
          </p:nvPr>
        </p:nvSpPr>
        <p:spPr>
          <a:xfrm>
            <a:off x="645130" y="1159933"/>
            <a:ext cx="10539337" cy="547793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600"/>
              <a:buChar char="►"/>
            </a:pPr>
            <a:r>
              <a:rPr lang="en-US"/>
              <a:t>The</a:t>
            </a:r>
            <a:r>
              <a:rPr lang="en-US" i="1"/>
              <a:t> as.integer</a:t>
            </a:r>
            <a:r>
              <a:rPr lang="en-US"/>
              <a:t> function can convert the values of other data types into integer values according to the following rules:</a:t>
            </a:r>
            <a:endParaRPr/>
          </a:p>
          <a:p>
            <a:pPr marL="342900" lvl="0" indent="-342900" algn="l" rtl="0">
              <a:spcBef>
                <a:spcPts val="1000"/>
              </a:spcBef>
              <a:spcAft>
                <a:spcPts val="0"/>
              </a:spcAft>
              <a:buSzPts val="1600"/>
              <a:buChar char="►"/>
            </a:pPr>
            <a:r>
              <a:rPr lang="en-US"/>
              <a:t>Numeric values can be converted into an integer using the function. This removes any decimal values from the number.</a:t>
            </a:r>
            <a:endParaRPr/>
          </a:p>
          <a:p>
            <a:pPr marL="342900" lvl="0" indent="-342900" algn="l" rtl="0">
              <a:spcBef>
                <a:spcPts val="1000"/>
              </a:spcBef>
              <a:spcAft>
                <a:spcPts val="0"/>
              </a:spcAft>
              <a:buSzPts val="1600"/>
              <a:buChar char="►"/>
            </a:pPr>
            <a:r>
              <a:rPr lang="en-US"/>
              <a:t>Complex values can also be converted into integers. The function removes the imaginary parts of the number.</a:t>
            </a:r>
            <a:endParaRPr/>
          </a:p>
          <a:p>
            <a:pPr marL="342900" lvl="0" indent="-342900" algn="l" rtl="0">
              <a:spcBef>
                <a:spcPts val="1000"/>
              </a:spcBef>
              <a:spcAft>
                <a:spcPts val="0"/>
              </a:spcAft>
              <a:buSzPts val="1600"/>
              <a:buChar char="►"/>
            </a:pPr>
            <a:r>
              <a:rPr lang="en-US"/>
              <a:t>The conversion from logical values to integers is similar to the conversion of logical values to numerics. TRUE is converted to 1, and FALSE is converted to 0.</a:t>
            </a:r>
            <a:endParaRPr/>
          </a:p>
          <a:p>
            <a:pPr marL="342900" lvl="0" indent="-342900" algn="l" rtl="0">
              <a:spcBef>
                <a:spcPts val="1000"/>
              </a:spcBef>
              <a:spcAft>
                <a:spcPts val="0"/>
              </a:spcAft>
              <a:buSzPts val="1600"/>
              <a:buChar char="►"/>
            </a:pPr>
            <a:r>
              <a:rPr lang="en-US"/>
              <a:t>Character values can be converted into integers as well by using the </a:t>
            </a:r>
            <a:r>
              <a:rPr lang="en-US" i="1"/>
              <a:t>as.integer</a:t>
            </a:r>
            <a:r>
              <a:rPr lang="en-US"/>
              <a:t> function. This conversion follows the same rules as the character to numeric conversion.</a:t>
            </a:r>
            <a:endParaRPr/>
          </a:p>
          <a:p>
            <a:pPr marL="342900" lvl="0" indent="-241300" algn="l" rtl="0">
              <a:spcBef>
                <a:spcPts val="1000"/>
              </a:spcBef>
              <a:spcAft>
                <a:spcPts val="0"/>
              </a:spcAft>
              <a:buSzPts val="1600"/>
              <a:buNone/>
            </a:pP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06"/>
        <p:cNvGrpSpPr/>
        <p:nvPr/>
      </p:nvGrpSpPr>
      <p:grpSpPr>
        <a:xfrm>
          <a:off x="0" y="0"/>
          <a:ext cx="0" cy="0"/>
          <a:chOff x="0" y="0"/>
          <a:chExt cx="0" cy="0"/>
        </a:xfrm>
      </p:grpSpPr>
      <p:pic>
        <p:nvPicPr>
          <p:cNvPr id="507" name="Google Shape;507;p57"/>
          <p:cNvPicPr preferRelativeResize="0"/>
          <p:nvPr/>
        </p:nvPicPr>
        <p:blipFill rotWithShape="1">
          <a:blip r:embed="rId3">
            <a:alphaModFix/>
          </a:blip>
          <a:srcRect/>
          <a:stretch/>
        </p:blipFill>
        <p:spPr>
          <a:xfrm>
            <a:off x="5348472" y="438429"/>
            <a:ext cx="4829849" cy="4982270"/>
          </a:xfrm>
          <a:prstGeom prst="rect">
            <a:avLst/>
          </a:prstGeom>
          <a:noFill/>
          <a:ln>
            <a:noFill/>
          </a:ln>
        </p:spPr>
      </p:pic>
      <p:sp>
        <p:nvSpPr>
          <p:cNvPr id="508" name="Google Shape;508;p57"/>
          <p:cNvSpPr/>
          <p:nvPr/>
        </p:nvSpPr>
        <p:spPr>
          <a:xfrm>
            <a:off x="4512685" y="2059252"/>
            <a:ext cx="732113" cy="457571"/>
          </a:xfrm>
          <a:custGeom>
            <a:avLst/>
            <a:gdLst/>
            <a:ahLst/>
            <a:cxnLst/>
            <a:rect l="l" t="t" r="r" b="b"/>
            <a:pathLst>
              <a:path w="120000" h="120000" extrusionOk="0">
                <a:moveTo>
                  <a:pt x="0" y="120000"/>
                </a:moveTo>
                <a:quadBezTo>
                  <a:pt x="20000" y="40000"/>
                  <a:pt x="101250" y="15000"/>
                </a:quadBezTo>
                <a:lnTo>
                  <a:pt x="100194" y="0"/>
                </a:lnTo>
                <a:lnTo>
                  <a:pt x="120000" y="24000"/>
                </a:lnTo>
                <a:lnTo>
                  <a:pt x="104419" y="60000"/>
                </a:lnTo>
                <a:lnTo>
                  <a:pt x="103363" y="45000"/>
                </a:lnTo>
                <a:quadBezTo>
                  <a:pt x="30000" y="55000"/>
                  <a:pt x="0" y="120000"/>
                </a:quadBezTo>
                <a:close/>
              </a:path>
            </a:pathLst>
          </a:custGeom>
          <a:solidFill>
            <a:srgbClr val="E3CACA"/>
          </a:solidFill>
          <a:ln w="9525" cap="rnd" cmpd="sng">
            <a:solidFill>
              <a:srgbClr val="B0121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57"/>
          <p:cNvSpPr txBox="1"/>
          <p:nvPr/>
        </p:nvSpPr>
        <p:spPr>
          <a:xfrm>
            <a:off x="1022175" y="1327800"/>
            <a:ext cx="3490500" cy="2770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endParaRPr>
              <a:solidFill>
                <a:schemeClr val="lt1"/>
              </a:solidFill>
              <a:latin typeface="Century Gothic"/>
              <a:ea typeface="Century Gothic"/>
              <a:cs typeface="Century Gothic"/>
              <a:sym typeface="Century Gothic"/>
            </a:endParaRPr>
          </a:p>
          <a:p>
            <a:pPr marL="0" lvl="0" indent="0" algn="l" rtl="0">
              <a:spcBef>
                <a:spcPts val="0"/>
              </a:spcBef>
              <a:spcAft>
                <a:spcPts val="0"/>
              </a:spcAft>
              <a:buClr>
                <a:schemeClr val="dk1"/>
              </a:buClr>
              <a:buSzPts val="1100"/>
              <a:buFont typeface="Arial"/>
              <a:buNone/>
            </a:pPr>
            <a:r>
              <a:rPr lang="en-US">
                <a:solidFill>
                  <a:schemeClr val="lt1"/>
                </a:solidFill>
                <a:latin typeface="Century Gothic"/>
                <a:ea typeface="Century Gothic"/>
                <a:cs typeface="Century Gothic"/>
                <a:sym typeface="Century Gothic"/>
              </a:rPr>
              <a:t>int4 &lt;- as.integer(num)</a:t>
            </a:r>
            <a:endParaRPr>
              <a:solidFill>
                <a:schemeClr val="lt1"/>
              </a:solidFill>
              <a:latin typeface="Century Gothic"/>
              <a:ea typeface="Century Gothic"/>
              <a:cs typeface="Century Gothic"/>
              <a:sym typeface="Century Gothic"/>
            </a:endParaRPr>
          </a:p>
          <a:p>
            <a:pPr marL="0" lvl="0" indent="0" algn="l" rtl="0">
              <a:spcBef>
                <a:spcPts val="0"/>
              </a:spcBef>
              <a:spcAft>
                <a:spcPts val="0"/>
              </a:spcAft>
              <a:buClr>
                <a:schemeClr val="dk1"/>
              </a:buClr>
              <a:buSzPts val="1100"/>
              <a:buFont typeface="Arial"/>
              <a:buNone/>
            </a:pPr>
            <a:r>
              <a:rPr lang="en-US">
                <a:solidFill>
                  <a:schemeClr val="lt1"/>
                </a:solidFill>
                <a:latin typeface="Century Gothic"/>
                <a:ea typeface="Century Gothic"/>
                <a:cs typeface="Century Gothic"/>
                <a:sym typeface="Century Gothic"/>
              </a:rPr>
              <a:t>int4</a:t>
            </a:r>
            <a:endParaRPr>
              <a:solidFill>
                <a:schemeClr val="lt1"/>
              </a:solidFill>
              <a:latin typeface="Century Gothic"/>
              <a:ea typeface="Century Gothic"/>
              <a:cs typeface="Century Gothic"/>
              <a:sym typeface="Century Gothic"/>
            </a:endParaRPr>
          </a:p>
          <a:p>
            <a:pPr marL="0" lvl="0" indent="0" algn="l" rtl="0">
              <a:spcBef>
                <a:spcPts val="0"/>
              </a:spcBef>
              <a:spcAft>
                <a:spcPts val="0"/>
              </a:spcAft>
              <a:buClr>
                <a:schemeClr val="dk1"/>
              </a:buClr>
              <a:buSzPts val="1100"/>
              <a:buFont typeface="Arial"/>
              <a:buNone/>
            </a:pPr>
            <a:r>
              <a:rPr lang="en-US">
                <a:solidFill>
                  <a:schemeClr val="lt1"/>
                </a:solidFill>
                <a:latin typeface="Century Gothic"/>
                <a:ea typeface="Century Gothic"/>
                <a:cs typeface="Century Gothic"/>
                <a:sym typeface="Century Gothic"/>
              </a:rPr>
              <a:t>int5 &lt;- as.integer(14.7)</a:t>
            </a:r>
            <a:endParaRPr>
              <a:solidFill>
                <a:schemeClr val="lt1"/>
              </a:solidFill>
              <a:latin typeface="Century Gothic"/>
              <a:ea typeface="Century Gothic"/>
              <a:cs typeface="Century Gothic"/>
              <a:sym typeface="Century Gothic"/>
            </a:endParaRPr>
          </a:p>
          <a:p>
            <a:pPr marL="0" lvl="0" indent="0" algn="l" rtl="0">
              <a:spcBef>
                <a:spcPts val="0"/>
              </a:spcBef>
              <a:spcAft>
                <a:spcPts val="0"/>
              </a:spcAft>
              <a:buClr>
                <a:schemeClr val="dk1"/>
              </a:buClr>
              <a:buSzPts val="1100"/>
              <a:buFont typeface="Arial"/>
              <a:buNone/>
            </a:pPr>
            <a:r>
              <a:rPr lang="en-US">
                <a:solidFill>
                  <a:schemeClr val="lt1"/>
                </a:solidFill>
                <a:latin typeface="Century Gothic"/>
                <a:ea typeface="Century Gothic"/>
                <a:cs typeface="Century Gothic"/>
                <a:sym typeface="Century Gothic"/>
              </a:rPr>
              <a:t>int5</a:t>
            </a:r>
            <a:endParaRPr>
              <a:solidFill>
                <a:schemeClr val="lt1"/>
              </a:solidFill>
              <a:latin typeface="Century Gothic"/>
              <a:ea typeface="Century Gothic"/>
              <a:cs typeface="Century Gothic"/>
              <a:sym typeface="Century Gothic"/>
            </a:endParaRPr>
          </a:p>
          <a:p>
            <a:pPr marL="0" lvl="0" indent="0" algn="l" rtl="0">
              <a:spcBef>
                <a:spcPts val="0"/>
              </a:spcBef>
              <a:spcAft>
                <a:spcPts val="0"/>
              </a:spcAft>
              <a:buClr>
                <a:schemeClr val="dk1"/>
              </a:buClr>
              <a:buSzPts val="1100"/>
              <a:buFont typeface="Arial"/>
              <a:buNone/>
            </a:pPr>
            <a:r>
              <a:rPr lang="en-US">
                <a:solidFill>
                  <a:schemeClr val="lt1"/>
                </a:solidFill>
                <a:latin typeface="Century Gothic"/>
                <a:ea typeface="Century Gothic"/>
                <a:cs typeface="Century Gothic"/>
                <a:sym typeface="Century Gothic"/>
              </a:rPr>
              <a:t>int6 &lt;- as.integer(comp)</a:t>
            </a:r>
            <a:endParaRPr>
              <a:solidFill>
                <a:schemeClr val="lt1"/>
              </a:solidFill>
              <a:latin typeface="Century Gothic"/>
              <a:ea typeface="Century Gothic"/>
              <a:cs typeface="Century Gothic"/>
              <a:sym typeface="Century Gothic"/>
            </a:endParaRPr>
          </a:p>
          <a:p>
            <a:pPr marL="0" lvl="0" indent="0" algn="l" rtl="0">
              <a:spcBef>
                <a:spcPts val="0"/>
              </a:spcBef>
              <a:spcAft>
                <a:spcPts val="0"/>
              </a:spcAft>
              <a:buClr>
                <a:schemeClr val="dk1"/>
              </a:buClr>
              <a:buSzPts val="1100"/>
              <a:buFont typeface="Arial"/>
              <a:buNone/>
            </a:pPr>
            <a:r>
              <a:rPr lang="en-US">
                <a:solidFill>
                  <a:schemeClr val="lt1"/>
                </a:solidFill>
                <a:latin typeface="Century Gothic"/>
                <a:ea typeface="Century Gothic"/>
                <a:cs typeface="Century Gothic"/>
                <a:sym typeface="Century Gothic"/>
              </a:rPr>
              <a:t>int6</a:t>
            </a:r>
            <a:endParaRPr>
              <a:solidFill>
                <a:schemeClr val="lt1"/>
              </a:solidFill>
              <a:latin typeface="Century Gothic"/>
              <a:ea typeface="Century Gothic"/>
              <a:cs typeface="Century Gothic"/>
              <a:sym typeface="Century Gothic"/>
            </a:endParaRPr>
          </a:p>
          <a:p>
            <a:pPr marL="0" lvl="0" indent="0" algn="l" rtl="0">
              <a:spcBef>
                <a:spcPts val="0"/>
              </a:spcBef>
              <a:spcAft>
                <a:spcPts val="0"/>
              </a:spcAft>
              <a:buClr>
                <a:schemeClr val="dk1"/>
              </a:buClr>
              <a:buSzPts val="1100"/>
              <a:buFont typeface="Arial"/>
              <a:buNone/>
            </a:pPr>
            <a:r>
              <a:rPr lang="en-US">
                <a:solidFill>
                  <a:schemeClr val="lt1"/>
                </a:solidFill>
                <a:latin typeface="Century Gothic"/>
                <a:ea typeface="Century Gothic"/>
                <a:cs typeface="Century Gothic"/>
                <a:sym typeface="Century Gothic"/>
              </a:rPr>
              <a:t>int7 &lt;- as.integer(logi)</a:t>
            </a:r>
            <a:endParaRPr>
              <a:solidFill>
                <a:schemeClr val="lt1"/>
              </a:solidFill>
              <a:latin typeface="Century Gothic"/>
              <a:ea typeface="Century Gothic"/>
              <a:cs typeface="Century Gothic"/>
              <a:sym typeface="Century Gothic"/>
            </a:endParaRPr>
          </a:p>
          <a:p>
            <a:pPr marL="0" lvl="0" indent="0" algn="l" rtl="0">
              <a:spcBef>
                <a:spcPts val="0"/>
              </a:spcBef>
              <a:spcAft>
                <a:spcPts val="0"/>
              </a:spcAft>
              <a:buClr>
                <a:schemeClr val="dk1"/>
              </a:buClr>
              <a:buSzPts val="1100"/>
              <a:buFont typeface="Arial"/>
              <a:buNone/>
            </a:pPr>
            <a:r>
              <a:rPr lang="en-US">
                <a:solidFill>
                  <a:schemeClr val="lt1"/>
                </a:solidFill>
                <a:latin typeface="Century Gothic"/>
                <a:ea typeface="Century Gothic"/>
                <a:cs typeface="Century Gothic"/>
                <a:sym typeface="Century Gothic"/>
              </a:rPr>
              <a:t>int7</a:t>
            </a:r>
            <a:endParaRPr>
              <a:solidFill>
                <a:schemeClr val="lt1"/>
              </a:solidFill>
              <a:latin typeface="Century Gothic"/>
              <a:ea typeface="Century Gothic"/>
              <a:cs typeface="Century Gothic"/>
              <a:sym typeface="Century Gothic"/>
            </a:endParaRPr>
          </a:p>
          <a:p>
            <a:pPr marL="0" lvl="0" indent="0" algn="l" rtl="0">
              <a:spcBef>
                <a:spcPts val="0"/>
              </a:spcBef>
              <a:spcAft>
                <a:spcPts val="0"/>
              </a:spcAft>
              <a:buClr>
                <a:schemeClr val="dk1"/>
              </a:buClr>
              <a:buSzPts val="1100"/>
              <a:buFont typeface="Arial"/>
              <a:buNone/>
            </a:pPr>
            <a:r>
              <a:rPr lang="en-US">
                <a:solidFill>
                  <a:schemeClr val="lt1"/>
                </a:solidFill>
                <a:latin typeface="Century Gothic"/>
                <a:ea typeface="Century Gothic"/>
                <a:cs typeface="Century Gothic"/>
                <a:sym typeface="Century Gothic"/>
              </a:rPr>
              <a:t>int8 &lt;- as.integer("1234")</a:t>
            </a:r>
            <a:endParaRPr>
              <a:solidFill>
                <a:schemeClr val="lt1"/>
              </a:solidFill>
              <a:latin typeface="Century Gothic"/>
              <a:ea typeface="Century Gothic"/>
              <a:cs typeface="Century Gothic"/>
              <a:sym typeface="Century Gothic"/>
            </a:endParaRPr>
          </a:p>
          <a:p>
            <a:pPr marL="0" lvl="0" indent="0" algn="l" rtl="0">
              <a:spcBef>
                <a:spcPts val="0"/>
              </a:spcBef>
              <a:spcAft>
                <a:spcPts val="0"/>
              </a:spcAft>
              <a:buClr>
                <a:schemeClr val="dk1"/>
              </a:buClr>
              <a:buSzPts val="1100"/>
              <a:buFont typeface="Arial"/>
              <a:buNone/>
            </a:pPr>
            <a:r>
              <a:rPr lang="en-US">
                <a:solidFill>
                  <a:schemeClr val="lt1"/>
                </a:solidFill>
                <a:latin typeface="Century Gothic"/>
                <a:ea typeface="Century Gothic"/>
                <a:cs typeface="Century Gothic"/>
                <a:sym typeface="Century Gothic"/>
              </a:rPr>
              <a:t>int8</a:t>
            </a:r>
            <a:endParaRPr>
              <a:solidFill>
                <a:schemeClr val="lt1"/>
              </a:solidFill>
              <a:latin typeface="Century Gothic"/>
              <a:ea typeface="Century Gothic"/>
              <a:cs typeface="Century Gothic"/>
              <a:sym typeface="Century Gothic"/>
            </a:endParaRPr>
          </a:p>
          <a:p>
            <a:pPr marL="0" lvl="0" indent="0" algn="l" rtl="0">
              <a:spcBef>
                <a:spcPts val="0"/>
              </a:spcBef>
              <a:spcAft>
                <a:spcPts val="0"/>
              </a:spcAft>
              <a:buNone/>
            </a:pPr>
            <a:endParaRPr>
              <a:solidFill>
                <a:schemeClr val="lt1"/>
              </a:solidFill>
              <a:latin typeface="Century Gothic"/>
              <a:ea typeface="Century Gothic"/>
              <a:cs typeface="Century Gothic"/>
              <a:sym typeface="Century Gothic"/>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sp>
        <p:nvSpPr>
          <p:cNvPr id="514" name="Google Shape;514;p60"/>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a:t>Conversion into Logical</a:t>
            </a:r>
            <a:br>
              <a:rPr lang="en-US"/>
            </a:br>
            <a:endParaRPr/>
          </a:p>
        </p:txBody>
      </p:sp>
      <p:sp>
        <p:nvSpPr>
          <p:cNvPr id="515" name="Google Shape;515;p60"/>
          <p:cNvSpPr txBox="1">
            <a:spLocks noGrp="1"/>
          </p:cNvSpPr>
          <p:nvPr>
            <p:ph type="body" idx="1"/>
          </p:nvPr>
        </p:nvSpPr>
        <p:spPr>
          <a:xfrm>
            <a:off x="778933" y="1244600"/>
            <a:ext cx="10337799" cy="5444067"/>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600"/>
              <a:buChar char="►"/>
            </a:pPr>
            <a:r>
              <a:rPr lang="en-US"/>
              <a:t>Conversion into logical data type can be done by using the </a:t>
            </a:r>
            <a:r>
              <a:rPr lang="en-US" i="1"/>
              <a:t>as.logical</a:t>
            </a:r>
            <a:r>
              <a:rPr lang="en-US"/>
              <a:t> function, by following the given rules:</a:t>
            </a:r>
            <a:endParaRPr/>
          </a:p>
          <a:p>
            <a:pPr marL="342900" lvl="0" indent="-342900" algn="l" rtl="0">
              <a:spcBef>
                <a:spcPts val="1000"/>
              </a:spcBef>
              <a:spcAft>
                <a:spcPts val="0"/>
              </a:spcAft>
              <a:buSzPts val="1600"/>
              <a:buChar char="►"/>
            </a:pPr>
            <a:r>
              <a:rPr lang="en-US"/>
              <a:t>Numeric, integer, and complex values can be converted into logical values, but the function returns FALSE if the value is zero and TRUE if it is anything else.</a:t>
            </a:r>
            <a:endParaRPr/>
          </a:p>
          <a:p>
            <a:pPr marL="342900" lvl="0" indent="-342900" algn="l" rtl="0">
              <a:spcBef>
                <a:spcPts val="1000"/>
              </a:spcBef>
              <a:spcAft>
                <a:spcPts val="0"/>
              </a:spcAft>
              <a:buSzPts val="1600"/>
              <a:buChar char="►"/>
            </a:pPr>
            <a:r>
              <a:rPr lang="en-US"/>
              <a:t>Character values when converted by the as.logical function, always return NA.</a:t>
            </a:r>
            <a:endParaRPr/>
          </a:p>
          <a:p>
            <a:pPr marL="342900" lvl="0" indent="-241300" algn="l" rtl="0">
              <a:spcBef>
                <a:spcPts val="1000"/>
              </a:spcBef>
              <a:spcAft>
                <a:spcPts val="0"/>
              </a:spcAft>
              <a:buSzPts val="1600"/>
              <a:buNone/>
            </a:pPr>
            <a:endParaRPr/>
          </a:p>
        </p:txBody>
      </p:sp>
      <p:pic>
        <p:nvPicPr>
          <p:cNvPr id="516" name="Google Shape;516;p60"/>
          <p:cNvPicPr preferRelativeResize="0"/>
          <p:nvPr/>
        </p:nvPicPr>
        <p:blipFill rotWithShape="1">
          <a:blip r:embed="rId3">
            <a:alphaModFix/>
          </a:blip>
          <a:srcRect/>
          <a:stretch/>
        </p:blipFill>
        <p:spPr>
          <a:xfrm>
            <a:off x="6188374" y="3232587"/>
            <a:ext cx="3286584" cy="3486637"/>
          </a:xfrm>
          <a:prstGeom prst="rect">
            <a:avLst/>
          </a:prstGeom>
          <a:noFill/>
          <a:ln>
            <a:noFill/>
          </a:ln>
        </p:spPr>
      </p:pic>
      <p:sp>
        <p:nvSpPr>
          <p:cNvPr id="517" name="Google Shape;517;p60"/>
          <p:cNvSpPr/>
          <p:nvPr/>
        </p:nvSpPr>
        <p:spPr>
          <a:xfrm>
            <a:off x="5215719" y="4133585"/>
            <a:ext cx="732113" cy="457571"/>
          </a:xfrm>
          <a:custGeom>
            <a:avLst/>
            <a:gdLst/>
            <a:ahLst/>
            <a:cxnLst/>
            <a:rect l="l" t="t" r="r" b="b"/>
            <a:pathLst>
              <a:path w="120000" h="120000" extrusionOk="0">
                <a:moveTo>
                  <a:pt x="0" y="120000"/>
                </a:moveTo>
                <a:quadBezTo>
                  <a:pt x="20000" y="40000"/>
                  <a:pt x="101250" y="15000"/>
                </a:quadBezTo>
                <a:lnTo>
                  <a:pt x="100194" y="0"/>
                </a:lnTo>
                <a:lnTo>
                  <a:pt x="120000" y="24000"/>
                </a:lnTo>
                <a:lnTo>
                  <a:pt x="104419" y="60000"/>
                </a:lnTo>
                <a:lnTo>
                  <a:pt x="103363" y="45000"/>
                </a:lnTo>
                <a:quadBezTo>
                  <a:pt x="30000" y="55000"/>
                  <a:pt x="0" y="120000"/>
                </a:quadBezTo>
                <a:close/>
              </a:path>
            </a:pathLst>
          </a:custGeom>
          <a:solidFill>
            <a:srgbClr val="E3CACA"/>
          </a:solidFill>
          <a:ln w="9525" cap="rnd" cmpd="sng">
            <a:solidFill>
              <a:srgbClr val="B0121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60"/>
          <p:cNvSpPr txBox="1"/>
          <p:nvPr/>
        </p:nvSpPr>
        <p:spPr>
          <a:xfrm>
            <a:off x="958225" y="3723300"/>
            <a:ext cx="4175100" cy="2339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US">
                <a:solidFill>
                  <a:schemeClr val="lt1"/>
                </a:solidFill>
                <a:latin typeface="Century Gothic"/>
                <a:ea typeface="Century Gothic"/>
                <a:cs typeface="Century Gothic"/>
                <a:sym typeface="Century Gothic"/>
              </a:rPr>
              <a:t>logi2 &lt;- as.logical(num)</a:t>
            </a:r>
            <a:endParaRPr>
              <a:solidFill>
                <a:schemeClr val="lt1"/>
              </a:solidFill>
              <a:latin typeface="Century Gothic"/>
              <a:ea typeface="Century Gothic"/>
              <a:cs typeface="Century Gothic"/>
              <a:sym typeface="Century Gothic"/>
            </a:endParaRPr>
          </a:p>
          <a:p>
            <a:pPr marL="0" lvl="0" indent="0" algn="l" rtl="0">
              <a:spcBef>
                <a:spcPts val="0"/>
              </a:spcBef>
              <a:spcAft>
                <a:spcPts val="0"/>
              </a:spcAft>
              <a:buClr>
                <a:schemeClr val="dk1"/>
              </a:buClr>
              <a:buSzPts val="1100"/>
              <a:buFont typeface="Arial"/>
              <a:buNone/>
            </a:pPr>
            <a:r>
              <a:rPr lang="en-US">
                <a:solidFill>
                  <a:schemeClr val="lt1"/>
                </a:solidFill>
                <a:latin typeface="Century Gothic"/>
                <a:ea typeface="Century Gothic"/>
                <a:cs typeface="Century Gothic"/>
                <a:sym typeface="Century Gothic"/>
              </a:rPr>
              <a:t>logi2</a:t>
            </a:r>
            <a:endParaRPr>
              <a:solidFill>
                <a:schemeClr val="lt1"/>
              </a:solidFill>
              <a:latin typeface="Century Gothic"/>
              <a:ea typeface="Century Gothic"/>
              <a:cs typeface="Century Gothic"/>
              <a:sym typeface="Century Gothic"/>
            </a:endParaRPr>
          </a:p>
          <a:p>
            <a:pPr marL="0" lvl="0" indent="0" algn="l" rtl="0">
              <a:spcBef>
                <a:spcPts val="0"/>
              </a:spcBef>
              <a:spcAft>
                <a:spcPts val="0"/>
              </a:spcAft>
              <a:buClr>
                <a:schemeClr val="dk1"/>
              </a:buClr>
              <a:buSzPts val="1100"/>
              <a:buFont typeface="Arial"/>
              <a:buNone/>
            </a:pPr>
            <a:r>
              <a:rPr lang="en-US">
                <a:solidFill>
                  <a:schemeClr val="lt1"/>
                </a:solidFill>
                <a:latin typeface="Century Gothic"/>
                <a:ea typeface="Century Gothic"/>
                <a:cs typeface="Century Gothic"/>
                <a:sym typeface="Century Gothic"/>
              </a:rPr>
              <a:t>logi3 &lt;- as.logical(int)</a:t>
            </a:r>
            <a:endParaRPr>
              <a:solidFill>
                <a:schemeClr val="lt1"/>
              </a:solidFill>
              <a:latin typeface="Century Gothic"/>
              <a:ea typeface="Century Gothic"/>
              <a:cs typeface="Century Gothic"/>
              <a:sym typeface="Century Gothic"/>
            </a:endParaRPr>
          </a:p>
          <a:p>
            <a:pPr marL="0" lvl="0" indent="0" algn="l" rtl="0">
              <a:spcBef>
                <a:spcPts val="0"/>
              </a:spcBef>
              <a:spcAft>
                <a:spcPts val="0"/>
              </a:spcAft>
              <a:buClr>
                <a:schemeClr val="dk1"/>
              </a:buClr>
              <a:buSzPts val="1100"/>
              <a:buFont typeface="Arial"/>
              <a:buNone/>
            </a:pPr>
            <a:r>
              <a:rPr lang="en-US">
                <a:solidFill>
                  <a:schemeClr val="lt1"/>
                </a:solidFill>
                <a:latin typeface="Century Gothic"/>
                <a:ea typeface="Century Gothic"/>
                <a:cs typeface="Century Gothic"/>
                <a:sym typeface="Century Gothic"/>
              </a:rPr>
              <a:t>logi3</a:t>
            </a:r>
            <a:endParaRPr>
              <a:solidFill>
                <a:schemeClr val="lt1"/>
              </a:solidFill>
              <a:latin typeface="Century Gothic"/>
              <a:ea typeface="Century Gothic"/>
              <a:cs typeface="Century Gothic"/>
              <a:sym typeface="Century Gothic"/>
            </a:endParaRPr>
          </a:p>
          <a:p>
            <a:pPr marL="0" lvl="0" indent="0" algn="l" rtl="0">
              <a:spcBef>
                <a:spcPts val="0"/>
              </a:spcBef>
              <a:spcAft>
                <a:spcPts val="0"/>
              </a:spcAft>
              <a:buClr>
                <a:schemeClr val="dk1"/>
              </a:buClr>
              <a:buSzPts val="1100"/>
              <a:buFont typeface="Arial"/>
              <a:buNone/>
            </a:pPr>
            <a:r>
              <a:rPr lang="en-US">
                <a:solidFill>
                  <a:schemeClr val="lt1"/>
                </a:solidFill>
                <a:latin typeface="Century Gothic"/>
                <a:ea typeface="Century Gothic"/>
                <a:cs typeface="Century Gothic"/>
                <a:sym typeface="Century Gothic"/>
              </a:rPr>
              <a:t>logi4 &lt;- as.logical(comp)</a:t>
            </a:r>
            <a:endParaRPr>
              <a:solidFill>
                <a:schemeClr val="lt1"/>
              </a:solidFill>
              <a:latin typeface="Century Gothic"/>
              <a:ea typeface="Century Gothic"/>
              <a:cs typeface="Century Gothic"/>
              <a:sym typeface="Century Gothic"/>
            </a:endParaRPr>
          </a:p>
          <a:p>
            <a:pPr marL="0" lvl="0" indent="0" algn="l" rtl="0">
              <a:spcBef>
                <a:spcPts val="0"/>
              </a:spcBef>
              <a:spcAft>
                <a:spcPts val="0"/>
              </a:spcAft>
              <a:buClr>
                <a:schemeClr val="dk1"/>
              </a:buClr>
              <a:buSzPts val="1100"/>
              <a:buFont typeface="Arial"/>
              <a:buNone/>
            </a:pPr>
            <a:r>
              <a:rPr lang="en-US">
                <a:solidFill>
                  <a:schemeClr val="lt1"/>
                </a:solidFill>
                <a:latin typeface="Century Gothic"/>
                <a:ea typeface="Century Gothic"/>
                <a:cs typeface="Century Gothic"/>
                <a:sym typeface="Century Gothic"/>
              </a:rPr>
              <a:t>logi4</a:t>
            </a:r>
            <a:endParaRPr>
              <a:solidFill>
                <a:schemeClr val="lt1"/>
              </a:solidFill>
              <a:latin typeface="Century Gothic"/>
              <a:ea typeface="Century Gothic"/>
              <a:cs typeface="Century Gothic"/>
              <a:sym typeface="Century Gothic"/>
            </a:endParaRPr>
          </a:p>
          <a:p>
            <a:pPr marL="0" lvl="0" indent="0" algn="l" rtl="0">
              <a:spcBef>
                <a:spcPts val="0"/>
              </a:spcBef>
              <a:spcAft>
                <a:spcPts val="0"/>
              </a:spcAft>
              <a:buClr>
                <a:schemeClr val="dk1"/>
              </a:buClr>
              <a:buSzPts val="1100"/>
              <a:buFont typeface="Arial"/>
              <a:buNone/>
            </a:pPr>
            <a:r>
              <a:rPr lang="en-US">
                <a:solidFill>
                  <a:schemeClr val="lt1"/>
                </a:solidFill>
                <a:latin typeface="Century Gothic"/>
                <a:ea typeface="Century Gothic"/>
                <a:cs typeface="Century Gothic"/>
                <a:sym typeface="Century Gothic"/>
              </a:rPr>
              <a:t>logi5 &lt;- as.logical(char)</a:t>
            </a:r>
            <a:endParaRPr>
              <a:solidFill>
                <a:schemeClr val="lt1"/>
              </a:solidFill>
              <a:latin typeface="Century Gothic"/>
              <a:ea typeface="Century Gothic"/>
              <a:cs typeface="Century Gothic"/>
              <a:sym typeface="Century Gothic"/>
            </a:endParaRPr>
          </a:p>
          <a:p>
            <a:pPr marL="0" lvl="0" indent="0" algn="l" rtl="0">
              <a:spcBef>
                <a:spcPts val="0"/>
              </a:spcBef>
              <a:spcAft>
                <a:spcPts val="0"/>
              </a:spcAft>
              <a:buClr>
                <a:schemeClr val="dk1"/>
              </a:buClr>
              <a:buSzPts val="1100"/>
              <a:buFont typeface="Arial"/>
              <a:buNone/>
            </a:pPr>
            <a:r>
              <a:rPr lang="en-US">
                <a:solidFill>
                  <a:schemeClr val="lt1"/>
                </a:solidFill>
                <a:latin typeface="Century Gothic"/>
                <a:ea typeface="Century Gothic"/>
                <a:cs typeface="Century Gothic"/>
                <a:sym typeface="Century Gothic"/>
              </a:rPr>
              <a:t>logi5</a:t>
            </a:r>
            <a:endParaRPr>
              <a:solidFill>
                <a:schemeClr val="lt1"/>
              </a:solidFill>
              <a:latin typeface="Century Gothic"/>
              <a:ea typeface="Century Gothic"/>
              <a:cs typeface="Century Gothic"/>
              <a:sym typeface="Century Gothic"/>
            </a:endParaRPr>
          </a:p>
          <a:p>
            <a:pPr marL="0" lvl="0" indent="0" algn="l" rtl="0">
              <a:spcBef>
                <a:spcPts val="0"/>
              </a:spcBef>
              <a:spcAft>
                <a:spcPts val="0"/>
              </a:spcAft>
              <a:buClr>
                <a:schemeClr val="dk1"/>
              </a:buClr>
              <a:buSzPts val="1100"/>
              <a:buFont typeface="Arial"/>
              <a:buNone/>
            </a:pPr>
            <a:endParaRPr>
              <a:solidFill>
                <a:schemeClr val="lt1"/>
              </a:solidFill>
              <a:latin typeface="Century Gothic"/>
              <a:ea typeface="Century Gothic"/>
              <a:cs typeface="Century Gothic"/>
              <a:sym typeface="Century Gothic"/>
            </a:endParaRPr>
          </a:p>
          <a:p>
            <a:pPr marL="0" lvl="0" indent="0" algn="l" rtl="0">
              <a:spcBef>
                <a:spcPts val="0"/>
              </a:spcBef>
              <a:spcAft>
                <a:spcPts val="0"/>
              </a:spcAft>
              <a:buNone/>
            </a:pPr>
            <a:endParaRPr>
              <a:solidFill>
                <a:schemeClr val="lt1"/>
              </a:solidFill>
              <a:latin typeface="Century Gothic"/>
              <a:ea typeface="Century Gothic"/>
              <a:cs typeface="Century Gothic"/>
              <a:sym typeface="Century Gothic"/>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sp>
        <p:nvSpPr>
          <p:cNvPr id="523" name="Google Shape;523;p61"/>
          <p:cNvSpPr txBox="1">
            <a:spLocks noGrp="1"/>
          </p:cNvSpPr>
          <p:nvPr>
            <p:ph type="title"/>
          </p:nvPr>
        </p:nvSpPr>
        <p:spPr>
          <a:xfrm>
            <a:off x="646111" y="452718"/>
            <a:ext cx="9404723" cy="927349"/>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a:t>Conversion into character</a:t>
            </a:r>
            <a:br>
              <a:rPr lang="en-US"/>
            </a:br>
            <a:endParaRPr/>
          </a:p>
        </p:txBody>
      </p:sp>
      <p:sp>
        <p:nvSpPr>
          <p:cNvPr id="524" name="Google Shape;524;p61"/>
          <p:cNvSpPr txBox="1">
            <a:spLocks noGrp="1"/>
          </p:cNvSpPr>
          <p:nvPr>
            <p:ph type="body" idx="1"/>
          </p:nvPr>
        </p:nvSpPr>
        <p:spPr>
          <a:xfrm>
            <a:off x="821267" y="1227668"/>
            <a:ext cx="10388599" cy="5427132"/>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600"/>
              <a:buChar char="►"/>
            </a:pPr>
            <a:r>
              <a:rPr lang="en-US"/>
              <a:t>We can convert a value of any data type into character data type using the </a:t>
            </a:r>
            <a:r>
              <a:rPr lang="en-US" i="1"/>
              <a:t>as.character</a:t>
            </a:r>
            <a:r>
              <a:rPr lang="en-US"/>
              <a:t> function. The function converts the original value into a character string.</a:t>
            </a:r>
            <a:endParaRPr/>
          </a:p>
          <a:p>
            <a:pPr marL="342900" lvl="0" indent="-241300" algn="l" rtl="0">
              <a:spcBef>
                <a:spcPts val="1000"/>
              </a:spcBef>
              <a:spcAft>
                <a:spcPts val="0"/>
              </a:spcAft>
              <a:buSzPts val="1600"/>
              <a:buNone/>
            </a:pPr>
            <a:endParaRPr/>
          </a:p>
        </p:txBody>
      </p:sp>
      <p:pic>
        <p:nvPicPr>
          <p:cNvPr id="525" name="Google Shape;525;p61"/>
          <p:cNvPicPr preferRelativeResize="0"/>
          <p:nvPr/>
        </p:nvPicPr>
        <p:blipFill rotWithShape="1">
          <a:blip r:embed="rId3">
            <a:alphaModFix/>
          </a:blip>
          <a:srcRect/>
          <a:stretch/>
        </p:blipFill>
        <p:spPr>
          <a:xfrm>
            <a:off x="5814215" y="2236010"/>
            <a:ext cx="3848637" cy="3562847"/>
          </a:xfrm>
          <a:prstGeom prst="rect">
            <a:avLst/>
          </a:prstGeom>
          <a:noFill/>
          <a:ln>
            <a:noFill/>
          </a:ln>
        </p:spPr>
      </p:pic>
      <p:sp>
        <p:nvSpPr>
          <p:cNvPr id="526" name="Google Shape;526;p61"/>
          <p:cNvSpPr/>
          <p:nvPr/>
        </p:nvSpPr>
        <p:spPr>
          <a:xfrm>
            <a:off x="4778591" y="3322741"/>
            <a:ext cx="732113" cy="457571"/>
          </a:xfrm>
          <a:custGeom>
            <a:avLst/>
            <a:gdLst/>
            <a:ahLst/>
            <a:cxnLst/>
            <a:rect l="l" t="t" r="r" b="b"/>
            <a:pathLst>
              <a:path w="120000" h="120000" extrusionOk="0">
                <a:moveTo>
                  <a:pt x="0" y="120000"/>
                </a:moveTo>
                <a:quadBezTo>
                  <a:pt x="20000" y="40000"/>
                  <a:pt x="101250" y="15000"/>
                </a:quadBezTo>
                <a:lnTo>
                  <a:pt x="100194" y="0"/>
                </a:lnTo>
                <a:lnTo>
                  <a:pt x="120000" y="24000"/>
                </a:lnTo>
                <a:lnTo>
                  <a:pt x="104419" y="60000"/>
                </a:lnTo>
                <a:lnTo>
                  <a:pt x="103363" y="45000"/>
                </a:lnTo>
                <a:quadBezTo>
                  <a:pt x="30000" y="55000"/>
                  <a:pt x="0" y="120000"/>
                </a:quadBezTo>
                <a:close/>
              </a:path>
            </a:pathLst>
          </a:custGeom>
          <a:solidFill>
            <a:srgbClr val="E3CACA"/>
          </a:solidFill>
          <a:ln w="9525" cap="rnd" cmpd="sng">
            <a:solidFill>
              <a:srgbClr val="B0121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61"/>
          <p:cNvSpPr txBox="1"/>
          <p:nvPr/>
        </p:nvSpPr>
        <p:spPr>
          <a:xfrm>
            <a:off x="821267" y="5994400"/>
            <a:ext cx="9110133"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lt1"/>
                </a:solidFill>
                <a:latin typeface="Century Gothic"/>
                <a:ea typeface="Century Gothic"/>
                <a:cs typeface="Century Gothic"/>
                <a:sym typeface="Century Gothic"/>
              </a:rPr>
              <a:t>Note:</a:t>
            </a:r>
            <a:r>
              <a:rPr lang="en-US" sz="1800">
                <a:solidFill>
                  <a:schemeClr val="lt1"/>
                </a:solidFill>
                <a:latin typeface="Century Gothic"/>
                <a:ea typeface="Century Gothic"/>
                <a:cs typeface="Century Gothic"/>
                <a:sym typeface="Century Gothic"/>
              </a:rPr>
              <a:t> NA values have no type and therefore stay as such when converted to any type.</a:t>
            </a:r>
            <a:endParaRPr/>
          </a:p>
        </p:txBody>
      </p:sp>
      <p:sp>
        <p:nvSpPr>
          <p:cNvPr id="528" name="Google Shape;528;p61"/>
          <p:cNvSpPr txBox="1"/>
          <p:nvPr/>
        </p:nvSpPr>
        <p:spPr>
          <a:xfrm>
            <a:off x="1067725" y="2625238"/>
            <a:ext cx="3641100" cy="212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US">
                <a:solidFill>
                  <a:schemeClr val="lt1"/>
                </a:solidFill>
                <a:latin typeface="Century Gothic"/>
                <a:ea typeface="Century Gothic"/>
                <a:cs typeface="Century Gothic"/>
                <a:sym typeface="Century Gothic"/>
              </a:rPr>
              <a:t>char2 &lt;- as.character(num)</a:t>
            </a:r>
            <a:endParaRPr>
              <a:solidFill>
                <a:schemeClr val="lt1"/>
              </a:solidFill>
              <a:latin typeface="Century Gothic"/>
              <a:ea typeface="Century Gothic"/>
              <a:cs typeface="Century Gothic"/>
              <a:sym typeface="Century Gothic"/>
            </a:endParaRPr>
          </a:p>
          <a:p>
            <a:pPr marL="0" lvl="0" indent="0" algn="l" rtl="0">
              <a:spcBef>
                <a:spcPts val="0"/>
              </a:spcBef>
              <a:spcAft>
                <a:spcPts val="0"/>
              </a:spcAft>
              <a:buClr>
                <a:schemeClr val="dk1"/>
              </a:buClr>
              <a:buSzPts val="1100"/>
              <a:buFont typeface="Arial"/>
              <a:buNone/>
            </a:pPr>
            <a:r>
              <a:rPr lang="en-US">
                <a:solidFill>
                  <a:schemeClr val="lt1"/>
                </a:solidFill>
                <a:latin typeface="Century Gothic"/>
                <a:ea typeface="Century Gothic"/>
                <a:cs typeface="Century Gothic"/>
                <a:sym typeface="Century Gothic"/>
              </a:rPr>
              <a:t>char2</a:t>
            </a:r>
            <a:endParaRPr>
              <a:solidFill>
                <a:schemeClr val="lt1"/>
              </a:solidFill>
              <a:latin typeface="Century Gothic"/>
              <a:ea typeface="Century Gothic"/>
              <a:cs typeface="Century Gothic"/>
              <a:sym typeface="Century Gothic"/>
            </a:endParaRPr>
          </a:p>
          <a:p>
            <a:pPr marL="0" lvl="0" indent="0" algn="l" rtl="0">
              <a:spcBef>
                <a:spcPts val="0"/>
              </a:spcBef>
              <a:spcAft>
                <a:spcPts val="0"/>
              </a:spcAft>
              <a:buClr>
                <a:schemeClr val="dk1"/>
              </a:buClr>
              <a:buSzPts val="1100"/>
              <a:buFont typeface="Arial"/>
              <a:buNone/>
            </a:pPr>
            <a:r>
              <a:rPr lang="en-US">
                <a:solidFill>
                  <a:schemeClr val="lt1"/>
                </a:solidFill>
                <a:latin typeface="Century Gothic"/>
                <a:ea typeface="Century Gothic"/>
                <a:cs typeface="Century Gothic"/>
                <a:sym typeface="Century Gothic"/>
              </a:rPr>
              <a:t>char3 &lt;- as.character(int)</a:t>
            </a:r>
            <a:endParaRPr>
              <a:solidFill>
                <a:schemeClr val="lt1"/>
              </a:solidFill>
              <a:latin typeface="Century Gothic"/>
              <a:ea typeface="Century Gothic"/>
              <a:cs typeface="Century Gothic"/>
              <a:sym typeface="Century Gothic"/>
            </a:endParaRPr>
          </a:p>
          <a:p>
            <a:pPr marL="0" lvl="0" indent="0" algn="l" rtl="0">
              <a:spcBef>
                <a:spcPts val="0"/>
              </a:spcBef>
              <a:spcAft>
                <a:spcPts val="0"/>
              </a:spcAft>
              <a:buClr>
                <a:schemeClr val="dk1"/>
              </a:buClr>
              <a:buSzPts val="1100"/>
              <a:buFont typeface="Arial"/>
              <a:buNone/>
            </a:pPr>
            <a:r>
              <a:rPr lang="en-US">
                <a:solidFill>
                  <a:schemeClr val="lt1"/>
                </a:solidFill>
                <a:latin typeface="Century Gothic"/>
                <a:ea typeface="Century Gothic"/>
                <a:cs typeface="Century Gothic"/>
                <a:sym typeface="Century Gothic"/>
              </a:rPr>
              <a:t>char3</a:t>
            </a:r>
            <a:endParaRPr>
              <a:solidFill>
                <a:schemeClr val="lt1"/>
              </a:solidFill>
              <a:latin typeface="Century Gothic"/>
              <a:ea typeface="Century Gothic"/>
              <a:cs typeface="Century Gothic"/>
              <a:sym typeface="Century Gothic"/>
            </a:endParaRPr>
          </a:p>
          <a:p>
            <a:pPr marL="0" lvl="0" indent="0" algn="l" rtl="0">
              <a:spcBef>
                <a:spcPts val="0"/>
              </a:spcBef>
              <a:spcAft>
                <a:spcPts val="0"/>
              </a:spcAft>
              <a:buClr>
                <a:schemeClr val="dk1"/>
              </a:buClr>
              <a:buSzPts val="1100"/>
              <a:buFont typeface="Arial"/>
              <a:buNone/>
            </a:pPr>
            <a:r>
              <a:rPr lang="en-US">
                <a:solidFill>
                  <a:schemeClr val="lt1"/>
                </a:solidFill>
                <a:latin typeface="Century Gothic"/>
                <a:ea typeface="Century Gothic"/>
                <a:cs typeface="Century Gothic"/>
                <a:sym typeface="Century Gothic"/>
              </a:rPr>
              <a:t>char4 &lt;- as.character(comp)</a:t>
            </a:r>
            <a:endParaRPr>
              <a:solidFill>
                <a:schemeClr val="lt1"/>
              </a:solidFill>
              <a:latin typeface="Century Gothic"/>
              <a:ea typeface="Century Gothic"/>
              <a:cs typeface="Century Gothic"/>
              <a:sym typeface="Century Gothic"/>
            </a:endParaRPr>
          </a:p>
          <a:p>
            <a:pPr marL="0" lvl="0" indent="0" algn="l" rtl="0">
              <a:spcBef>
                <a:spcPts val="0"/>
              </a:spcBef>
              <a:spcAft>
                <a:spcPts val="0"/>
              </a:spcAft>
              <a:buClr>
                <a:schemeClr val="dk1"/>
              </a:buClr>
              <a:buSzPts val="1100"/>
              <a:buFont typeface="Arial"/>
              <a:buNone/>
            </a:pPr>
            <a:r>
              <a:rPr lang="en-US">
                <a:solidFill>
                  <a:schemeClr val="lt1"/>
                </a:solidFill>
                <a:latin typeface="Century Gothic"/>
                <a:ea typeface="Century Gothic"/>
                <a:cs typeface="Century Gothic"/>
                <a:sym typeface="Century Gothic"/>
              </a:rPr>
              <a:t>char4</a:t>
            </a:r>
            <a:endParaRPr>
              <a:solidFill>
                <a:schemeClr val="lt1"/>
              </a:solidFill>
              <a:latin typeface="Century Gothic"/>
              <a:ea typeface="Century Gothic"/>
              <a:cs typeface="Century Gothic"/>
              <a:sym typeface="Century Gothic"/>
            </a:endParaRPr>
          </a:p>
          <a:p>
            <a:pPr marL="0" lvl="0" indent="0" algn="l" rtl="0">
              <a:spcBef>
                <a:spcPts val="0"/>
              </a:spcBef>
              <a:spcAft>
                <a:spcPts val="0"/>
              </a:spcAft>
              <a:buClr>
                <a:schemeClr val="dk1"/>
              </a:buClr>
              <a:buSzPts val="1100"/>
              <a:buFont typeface="Arial"/>
              <a:buNone/>
            </a:pPr>
            <a:r>
              <a:rPr lang="en-US">
                <a:solidFill>
                  <a:schemeClr val="lt1"/>
                </a:solidFill>
                <a:latin typeface="Century Gothic"/>
                <a:ea typeface="Century Gothic"/>
                <a:cs typeface="Century Gothic"/>
                <a:sym typeface="Century Gothic"/>
              </a:rPr>
              <a:t>char5 &lt;- as.character(logi)</a:t>
            </a:r>
            <a:endParaRPr>
              <a:solidFill>
                <a:schemeClr val="lt1"/>
              </a:solidFill>
              <a:latin typeface="Century Gothic"/>
              <a:ea typeface="Century Gothic"/>
              <a:cs typeface="Century Gothic"/>
              <a:sym typeface="Century Gothic"/>
            </a:endParaRPr>
          </a:p>
          <a:p>
            <a:pPr marL="0" lvl="0" indent="0" algn="l" rtl="0">
              <a:spcBef>
                <a:spcPts val="0"/>
              </a:spcBef>
              <a:spcAft>
                <a:spcPts val="0"/>
              </a:spcAft>
              <a:buClr>
                <a:schemeClr val="dk1"/>
              </a:buClr>
              <a:buSzPts val="1100"/>
              <a:buFont typeface="Arial"/>
              <a:buNone/>
            </a:pPr>
            <a:r>
              <a:rPr lang="en-US">
                <a:solidFill>
                  <a:schemeClr val="lt1"/>
                </a:solidFill>
                <a:latin typeface="Century Gothic"/>
                <a:ea typeface="Century Gothic"/>
                <a:cs typeface="Century Gothic"/>
                <a:sym typeface="Century Gothic"/>
              </a:rPr>
              <a:t>char5</a:t>
            </a:r>
            <a:endParaRPr>
              <a:solidFill>
                <a:schemeClr val="lt1"/>
              </a:solidFill>
              <a:latin typeface="Century Gothic"/>
              <a:ea typeface="Century Gothic"/>
              <a:cs typeface="Century Gothic"/>
              <a:sym typeface="Century Gothic"/>
            </a:endParaRPr>
          </a:p>
          <a:p>
            <a:pPr marL="0" lvl="0" indent="0" algn="l" rtl="0">
              <a:spcBef>
                <a:spcPts val="0"/>
              </a:spcBef>
              <a:spcAft>
                <a:spcPts val="0"/>
              </a:spcAft>
              <a:buNone/>
            </a:pPr>
            <a:endParaRPr>
              <a:solidFill>
                <a:schemeClr val="lt1"/>
              </a:solidFill>
              <a:latin typeface="Century Gothic"/>
              <a:ea typeface="Century Gothic"/>
              <a:cs typeface="Century Gothic"/>
              <a:sym typeface="Century Gothic"/>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sp>
        <p:nvSpPr>
          <p:cNvPr id="533" name="Google Shape;533;p62"/>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a:t>Summary</a:t>
            </a:r>
            <a:br>
              <a:rPr lang="en-US"/>
            </a:br>
            <a:endParaRPr/>
          </a:p>
        </p:txBody>
      </p:sp>
      <p:sp>
        <p:nvSpPr>
          <p:cNvPr id="534" name="Google Shape;534;p62"/>
          <p:cNvSpPr txBox="1">
            <a:spLocks noGrp="1"/>
          </p:cNvSpPr>
          <p:nvPr>
            <p:ph type="body" idx="1"/>
          </p:nvPr>
        </p:nvSpPr>
        <p:spPr>
          <a:xfrm>
            <a:off x="770468" y="1278468"/>
            <a:ext cx="9279386" cy="4969932"/>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600"/>
              <a:buChar char="►"/>
            </a:pPr>
            <a:r>
              <a:rPr lang="en-US"/>
              <a:t>We learned about the various types of data that R supports. These data types are the basic building blocks of any kind of data in R programming. They assign meaning to values in R and also tell R how to process and how not to process them.</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38"/>
        <p:cNvGrpSpPr/>
        <p:nvPr/>
      </p:nvGrpSpPr>
      <p:grpSpPr>
        <a:xfrm>
          <a:off x="0" y="0"/>
          <a:ext cx="0" cy="0"/>
          <a:chOff x="0" y="0"/>
          <a:chExt cx="0" cy="0"/>
        </a:xfrm>
      </p:grpSpPr>
      <p:sp>
        <p:nvSpPr>
          <p:cNvPr id="539" name="Google Shape;539;p63"/>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a:t>Data Structures in R</a:t>
            </a:r>
            <a:br>
              <a:rPr lang="en-US"/>
            </a:br>
            <a:endParaRPr/>
          </a:p>
        </p:txBody>
      </p:sp>
      <p:sp>
        <p:nvSpPr>
          <p:cNvPr id="540" name="Google Shape;540;p63"/>
          <p:cNvSpPr txBox="1">
            <a:spLocks noGrp="1"/>
          </p:cNvSpPr>
          <p:nvPr>
            <p:ph type="body" idx="1"/>
          </p:nvPr>
        </p:nvSpPr>
        <p:spPr>
          <a:xfrm>
            <a:off x="787400" y="1193800"/>
            <a:ext cx="11237400" cy="54609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600"/>
              <a:buChar char="►"/>
            </a:pPr>
            <a:r>
              <a:rPr lang="en-US"/>
              <a:t>R has a wide variety of objects for holding data, including scalars, vectors, matrices, arrays, data frames, and lists</a:t>
            </a:r>
            <a:endParaRPr/>
          </a:p>
          <a:p>
            <a:pPr marL="342900" lvl="0" indent="-332740" algn="l" rtl="0">
              <a:spcBef>
                <a:spcPts val="0"/>
              </a:spcBef>
              <a:spcAft>
                <a:spcPts val="0"/>
              </a:spcAft>
              <a:buSzPts val="1440"/>
              <a:buChar char="►"/>
            </a:pPr>
            <a:r>
              <a:rPr lang="en-US"/>
              <a:t>They differ in terms of the type of data they can hold, how they’re created, their structural complexity, and the notation used to identify and access individual elements.</a:t>
            </a:r>
            <a:endParaRPr/>
          </a:p>
          <a:p>
            <a:pPr marL="342900" lvl="0" indent="0" algn="l" rtl="0">
              <a:spcBef>
                <a:spcPts val="1000"/>
              </a:spcBef>
              <a:spcAft>
                <a:spcPts val="0"/>
              </a:spcAft>
              <a:buNone/>
            </a:pPr>
            <a:endParaRPr/>
          </a:p>
          <a:p>
            <a:pPr marL="0" lvl="0" indent="0" algn="l" rtl="0">
              <a:spcBef>
                <a:spcPts val="1000"/>
              </a:spcBef>
              <a:spcAft>
                <a:spcPts val="0"/>
              </a:spcAft>
              <a:buNone/>
            </a:pPr>
            <a:endParaRPr/>
          </a:p>
        </p:txBody>
      </p:sp>
      <p:pic>
        <p:nvPicPr>
          <p:cNvPr id="541" name="Google Shape;541;p63"/>
          <p:cNvPicPr preferRelativeResize="0">
            <a:picLocks noGrp="1"/>
          </p:cNvPicPr>
          <p:nvPr>
            <p:ph type="body" idx="1"/>
          </p:nvPr>
        </p:nvPicPr>
        <p:blipFill rotWithShape="1">
          <a:blip r:embed="rId3">
            <a:alphaModFix/>
          </a:blip>
          <a:srcRect/>
          <a:stretch/>
        </p:blipFill>
        <p:spPr>
          <a:xfrm>
            <a:off x="3079752" y="2616057"/>
            <a:ext cx="8856000" cy="3945300"/>
          </a:xfrm>
          <a:prstGeom prst="rect">
            <a:avLst/>
          </a:prstGeom>
          <a:noFill/>
          <a:ln>
            <a:noFill/>
          </a:ln>
        </p:spPr>
      </p:pic>
      <p:sp>
        <p:nvSpPr>
          <p:cNvPr id="542" name="Google Shape;542;p63"/>
          <p:cNvSpPr txBox="1"/>
          <p:nvPr/>
        </p:nvSpPr>
        <p:spPr>
          <a:xfrm>
            <a:off x="3156852" y="6627292"/>
            <a:ext cx="8778900" cy="2307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900">
                <a:solidFill>
                  <a:schemeClr val="lt1"/>
                </a:solidFill>
                <a:latin typeface="Century Gothic"/>
                <a:ea typeface="Century Gothic"/>
                <a:cs typeface="Century Gothic"/>
                <a:sym typeface="Century Gothic"/>
              </a:rPr>
              <a:t>Source : https://techvidvan.com/tutorials/r-data-structures/</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46"/>
        <p:cNvGrpSpPr/>
        <p:nvPr/>
      </p:nvGrpSpPr>
      <p:grpSpPr>
        <a:xfrm>
          <a:off x="0" y="0"/>
          <a:ext cx="0" cy="0"/>
          <a:chOff x="0" y="0"/>
          <a:chExt cx="0" cy="0"/>
        </a:xfrm>
      </p:grpSpPr>
      <p:sp>
        <p:nvSpPr>
          <p:cNvPr id="547" name="Google Shape;547;p66"/>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a:t>Vector</a:t>
            </a:r>
            <a:br>
              <a:rPr lang="en-US"/>
            </a:br>
            <a:endParaRPr/>
          </a:p>
        </p:txBody>
      </p:sp>
      <p:sp>
        <p:nvSpPr>
          <p:cNvPr id="548" name="Google Shape;548;p66"/>
          <p:cNvSpPr txBox="1">
            <a:spLocks noGrp="1"/>
          </p:cNvSpPr>
          <p:nvPr>
            <p:ph type="body" idx="1"/>
          </p:nvPr>
        </p:nvSpPr>
        <p:spPr>
          <a:xfrm>
            <a:off x="778925" y="1286927"/>
            <a:ext cx="10473300" cy="37767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600"/>
              <a:buChar char="►"/>
            </a:pPr>
            <a:r>
              <a:rPr lang="en-US" dirty="0"/>
              <a:t>Vector is the most basic data structure in R programming language.</a:t>
            </a:r>
            <a:endParaRPr dirty="0"/>
          </a:p>
          <a:p>
            <a:pPr marL="342900" lvl="0" indent="-342900" algn="l" rtl="0">
              <a:spcBef>
                <a:spcPts val="0"/>
              </a:spcBef>
              <a:spcAft>
                <a:spcPts val="0"/>
              </a:spcAft>
              <a:buSzPts val="1600"/>
              <a:buChar char="►"/>
            </a:pPr>
            <a:r>
              <a:rPr lang="en-US" dirty="0"/>
              <a:t>Vectors are one-dimensional arrays that can hold numeric data, character data, or logical data.</a:t>
            </a:r>
            <a:endParaRPr dirty="0"/>
          </a:p>
          <a:p>
            <a:pPr marL="342900" lvl="0" indent="-332740" algn="l" rtl="0">
              <a:spcBef>
                <a:spcPts val="0"/>
              </a:spcBef>
              <a:spcAft>
                <a:spcPts val="0"/>
              </a:spcAft>
              <a:buSzPts val="1440"/>
              <a:buChar char="►"/>
            </a:pPr>
            <a:r>
              <a:rPr lang="en-US" dirty="0"/>
              <a:t>A vector is a collection of elements, all of the same type</a:t>
            </a:r>
            <a:endParaRPr dirty="0"/>
          </a:p>
          <a:p>
            <a:pPr marL="342900" lvl="0" indent="-332740" algn="l" rtl="0">
              <a:spcBef>
                <a:spcPts val="0"/>
              </a:spcBef>
              <a:spcAft>
                <a:spcPts val="0"/>
              </a:spcAft>
              <a:buSzPts val="1440"/>
              <a:buChar char="►"/>
            </a:pPr>
            <a:r>
              <a:rPr lang="en-US" dirty="0"/>
              <a:t>The combine function </a:t>
            </a:r>
            <a:r>
              <a:rPr lang="en-US" dirty="0">
                <a:solidFill>
                  <a:srgbClr val="FF9900"/>
                </a:solidFill>
              </a:rPr>
              <a:t>c()</a:t>
            </a:r>
            <a:r>
              <a:rPr lang="en-US" dirty="0"/>
              <a:t> is used to form the vector</a:t>
            </a:r>
            <a:endParaRPr dirty="0"/>
          </a:p>
          <a:p>
            <a:pPr marL="342900" lvl="0" indent="-241300" algn="l" rtl="0">
              <a:spcBef>
                <a:spcPts val="1000"/>
              </a:spcBef>
              <a:spcAft>
                <a:spcPts val="0"/>
              </a:spcAft>
              <a:buSzPts val="1100"/>
              <a:buNone/>
            </a:pPr>
            <a:r>
              <a:rPr lang="en-US" dirty="0"/>
              <a:t>For instance, </a:t>
            </a:r>
            <a:r>
              <a:rPr lang="en-US" dirty="0">
                <a:solidFill>
                  <a:srgbClr val="FF9900"/>
                </a:solidFill>
              </a:rPr>
              <a:t>a &lt;- c(1, 3, 2,1, 5)</a:t>
            </a:r>
            <a:r>
              <a:rPr lang="en-US" dirty="0"/>
              <a:t> is a vector consisting of the numbers 1; 3; 2; 1; 5, in that order. [NUMERIC VECTOR]</a:t>
            </a:r>
            <a:endParaRPr dirty="0"/>
          </a:p>
          <a:p>
            <a:pPr marL="342900" lvl="0" indent="-241300" algn="l" rtl="0">
              <a:spcBef>
                <a:spcPts val="1000"/>
              </a:spcBef>
              <a:spcAft>
                <a:spcPts val="0"/>
              </a:spcAft>
              <a:buClr>
                <a:schemeClr val="dk1"/>
              </a:buClr>
              <a:buSzPts val="1100"/>
              <a:buFont typeface="Arial"/>
              <a:buNone/>
            </a:pPr>
            <a:r>
              <a:rPr lang="en-US" dirty="0"/>
              <a:t>Similarly, </a:t>
            </a:r>
            <a:r>
              <a:rPr lang="en-US" dirty="0">
                <a:solidFill>
                  <a:srgbClr val="FF9900"/>
                </a:solidFill>
              </a:rPr>
              <a:t>b &lt;- c("R", "Excel", "SAS", "Excel")</a:t>
            </a:r>
            <a:r>
              <a:rPr lang="en-US" dirty="0"/>
              <a:t> is a vector of the character elements,</a:t>
            </a:r>
            <a:endParaRPr dirty="0"/>
          </a:p>
          <a:p>
            <a:pPr marL="342900" lvl="0" indent="-241300" algn="l" rtl="0">
              <a:spcBef>
                <a:spcPts val="1000"/>
              </a:spcBef>
              <a:spcAft>
                <a:spcPts val="0"/>
              </a:spcAft>
              <a:buSzPts val="1600"/>
              <a:buNone/>
            </a:pPr>
            <a:r>
              <a:rPr lang="en-US" dirty="0"/>
              <a:t>“R”, “Excel”, “SAS”, and “Excel”.</a:t>
            </a:r>
            <a:r>
              <a:rPr lang="en-US" dirty="0">
                <a:solidFill>
                  <a:srgbClr val="FF9900"/>
                </a:solidFill>
              </a:rPr>
              <a:t>  [CHARACTER VECTOR]</a:t>
            </a:r>
            <a:endParaRPr dirty="0">
              <a:solidFill>
                <a:srgbClr val="FF9900"/>
              </a:solidFill>
            </a:endParaRPr>
          </a:p>
          <a:p>
            <a:pPr marL="342900" lvl="0" indent="-241300" algn="l" rtl="0">
              <a:spcBef>
                <a:spcPts val="1000"/>
              </a:spcBef>
              <a:spcAft>
                <a:spcPts val="0"/>
              </a:spcAft>
              <a:buSzPts val="1600"/>
              <a:buNone/>
            </a:pPr>
            <a:r>
              <a:rPr lang="en-US" dirty="0">
                <a:solidFill>
                  <a:srgbClr val="FF9900"/>
                </a:solidFill>
              </a:rPr>
              <a:t>A vector cannot be of mixed type.</a:t>
            </a:r>
            <a:endParaRPr dirty="0">
              <a:solidFill>
                <a:srgbClr val="FF9900"/>
              </a:solidFill>
            </a:endParaRPr>
          </a:p>
        </p:txBody>
      </p:sp>
      <p:sp>
        <p:nvSpPr>
          <p:cNvPr id="549" name="Google Shape;549;p66"/>
          <p:cNvSpPr txBox="1"/>
          <p:nvPr/>
        </p:nvSpPr>
        <p:spPr>
          <a:xfrm>
            <a:off x="897200" y="5445150"/>
            <a:ext cx="85389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000">
                <a:solidFill>
                  <a:schemeClr val="lt1"/>
                </a:solidFill>
                <a:latin typeface="Century Gothic"/>
                <a:ea typeface="Century Gothic"/>
                <a:cs typeface="Century Gothic"/>
                <a:sym typeface="Century Gothic"/>
              </a:rPr>
              <a:t>Scalars are one-element vectors </a:t>
            </a:r>
            <a:r>
              <a:rPr lang="en-US" sz="2000">
                <a:solidFill>
                  <a:srgbClr val="FF9900"/>
                </a:solidFill>
                <a:latin typeface="Century Gothic"/>
                <a:ea typeface="Century Gothic"/>
                <a:cs typeface="Century Gothic"/>
                <a:sym typeface="Century Gothic"/>
              </a:rPr>
              <a:t>f &lt;- 3, g &lt;- “boy”, h &lt;- TRUE</a:t>
            </a:r>
            <a:endParaRPr sz="2000">
              <a:solidFill>
                <a:srgbClr val="FF9900"/>
              </a:solidFill>
              <a:latin typeface="Century Gothic"/>
              <a:ea typeface="Century Gothic"/>
              <a:cs typeface="Century Gothic"/>
              <a:sym typeface="Century Gothic"/>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553"/>
        <p:cNvGrpSpPr/>
        <p:nvPr/>
      </p:nvGrpSpPr>
      <p:grpSpPr>
        <a:xfrm>
          <a:off x="0" y="0"/>
          <a:ext cx="0" cy="0"/>
          <a:chOff x="0" y="0"/>
          <a:chExt cx="0" cy="0"/>
        </a:xfrm>
      </p:grpSpPr>
      <p:sp>
        <p:nvSpPr>
          <p:cNvPr id="554" name="Google Shape;554;g145ea7f5fe7_1_250"/>
          <p:cNvSpPr txBox="1">
            <a:spLocks noGrp="1"/>
          </p:cNvSpPr>
          <p:nvPr>
            <p:ph type="title"/>
          </p:nvPr>
        </p:nvSpPr>
        <p:spPr>
          <a:xfrm>
            <a:off x="646100" y="452722"/>
            <a:ext cx="9404700" cy="795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Vector functions</a:t>
            </a:r>
            <a:endParaRPr/>
          </a:p>
        </p:txBody>
      </p:sp>
      <p:sp>
        <p:nvSpPr>
          <p:cNvPr id="555" name="Google Shape;555;g145ea7f5fe7_1_250"/>
          <p:cNvSpPr txBox="1">
            <a:spLocks noGrp="1"/>
          </p:cNvSpPr>
          <p:nvPr>
            <p:ph type="body" idx="1"/>
          </p:nvPr>
        </p:nvSpPr>
        <p:spPr>
          <a:xfrm>
            <a:off x="646098" y="2011675"/>
            <a:ext cx="10429800" cy="41955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a:solidFill>
                  <a:srgbClr val="FF9900"/>
                </a:solidFill>
              </a:rPr>
              <a:t>y &lt;- c(8,3,5,7,6,6,8,9,2,3,9,4,10,4,11)</a:t>
            </a:r>
            <a:endParaRPr>
              <a:solidFill>
                <a:srgbClr val="FF9900"/>
              </a:solidFill>
            </a:endParaRPr>
          </a:p>
          <a:p>
            <a:pPr marL="0" lvl="0" indent="0" algn="l" rtl="0">
              <a:spcBef>
                <a:spcPts val="1000"/>
              </a:spcBef>
              <a:spcAft>
                <a:spcPts val="0"/>
              </a:spcAft>
              <a:buClr>
                <a:schemeClr val="dk1"/>
              </a:buClr>
              <a:buSzPts val="1100"/>
              <a:buFont typeface="Arial"/>
              <a:buNone/>
            </a:pPr>
            <a:r>
              <a:rPr lang="en-US">
                <a:solidFill>
                  <a:srgbClr val="FF9900"/>
                </a:solidFill>
              </a:rPr>
              <a:t>mean(y)</a:t>
            </a:r>
            <a:endParaRPr>
              <a:solidFill>
                <a:srgbClr val="FF9900"/>
              </a:solidFill>
            </a:endParaRPr>
          </a:p>
          <a:p>
            <a:pPr marL="0" lvl="0" indent="0" algn="l" rtl="0">
              <a:spcBef>
                <a:spcPts val="1000"/>
              </a:spcBef>
              <a:spcAft>
                <a:spcPts val="0"/>
              </a:spcAft>
              <a:buNone/>
            </a:pPr>
            <a:r>
              <a:rPr lang="en-US">
                <a:solidFill>
                  <a:srgbClr val="FF9900"/>
                </a:solidFill>
              </a:rPr>
              <a:t>[1] 6.333333</a:t>
            </a:r>
            <a:endParaRPr>
              <a:solidFill>
                <a:srgbClr val="FF9900"/>
              </a:solidFill>
            </a:endParaRPr>
          </a:p>
          <a:p>
            <a:pPr marL="0" lvl="0" indent="0" algn="l" rtl="0">
              <a:spcBef>
                <a:spcPts val="1000"/>
              </a:spcBef>
              <a:spcAft>
                <a:spcPts val="0"/>
              </a:spcAft>
              <a:buClr>
                <a:schemeClr val="dk1"/>
              </a:buClr>
              <a:buSzPts val="1100"/>
              <a:buFont typeface="Arial"/>
              <a:buNone/>
            </a:pPr>
            <a:r>
              <a:rPr lang="en-US">
                <a:solidFill>
                  <a:srgbClr val="FF9900"/>
                </a:solidFill>
              </a:rPr>
              <a:t>range(y)</a:t>
            </a:r>
            <a:endParaRPr>
              <a:solidFill>
                <a:srgbClr val="FF9900"/>
              </a:solidFill>
            </a:endParaRPr>
          </a:p>
          <a:p>
            <a:pPr marL="0" lvl="0" indent="0" algn="l" rtl="0">
              <a:spcBef>
                <a:spcPts val="1000"/>
              </a:spcBef>
              <a:spcAft>
                <a:spcPts val="0"/>
              </a:spcAft>
              <a:buNone/>
            </a:pPr>
            <a:r>
              <a:rPr lang="en-US">
                <a:solidFill>
                  <a:srgbClr val="FF9900"/>
                </a:solidFill>
              </a:rPr>
              <a:t>[1] 2 11</a:t>
            </a:r>
            <a:endParaRPr>
              <a:solidFill>
                <a:srgbClr val="FF9900"/>
              </a:solidFill>
            </a:endParaRPr>
          </a:p>
          <a:p>
            <a:pPr marL="0" lvl="0" indent="0" algn="l" rtl="0">
              <a:spcBef>
                <a:spcPts val="1000"/>
              </a:spcBef>
              <a:spcAft>
                <a:spcPts val="0"/>
              </a:spcAft>
              <a:buNone/>
            </a:pPr>
            <a:endParaRPr>
              <a:solidFill>
                <a:srgbClr val="FF9900"/>
              </a:solidFill>
            </a:endParaRPr>
          </a:p>
        </p:txBody>
      </p:sp>
      <p:sp>
        <p:nvSpPr>
          <p:cNvPr id="556" name="Google Shape;556;g145ea7f5fe7_1_250"/>
          <p:cNvSpPr txBox="1"/>
          <p:nvPr/>
        </p:nvSpPr>
        <p:spPr>
          <a:xfrm>
            <a:off x="503450" y="1149375"/>
            <a:ext cx="114387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000">
                <a:solidFill>
                  <a:schemeClr val="lt1"/>
                </a:solidFill>
              </a:rPr>
              <a:t>One of R’s great strengths is its ability to evaluate functions over entire vectors, thereby avoiding the need for  loops and subscripts.</a:t>
            </a:r>
            <a:endParaRPr>
              <a:solidFill>
                <a:schemeClr val="lt1"/>
              </a:solidFill>
            </a:endParaRPr>
          </a:p>
        </p:txBody>
      </p:sp>
      <p:pic>
        <p:nvPicPr>
          <p:cNvPr id="557" name="Google Shape;557;g145ea7f5fe7_1_250"/>
          <p:cNvPicPr preferRelativeResize="0"/>
          <p:nvPr/>
        </p:nvPicPr>
        <p:blipFill>
          <a:blip r:embed="rId3">
            <a:alphaModFix/>
          </a:blip>
          <a:stretch>
            <a:fillRect/>
          </a:stretch>
        </p:blipFill>
        <p:spPr>
          <a:xfrm>
            <a:off x="5235103" y="1589475"/>
            <a:ext cx="6889598" cy="5268524"/>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561"/>
        <p:cNvGrpSpPr/>
        <p:nvPr/>
      </p:nvGrpSpPr>
      <p:grpSpPr>
        <a:xfrm>
          <a:off x="0" y="0"/>
          <a:ext cx="0" cy="0"/>
          <a:chOff x="0" y="0"/>
          <a:chExt cx="0" cy="0"/>
        </a:xfrm>
      </p:grpSpPr>
      <p:sp>
        <p:nvSpPr>
          <p:cNvPr id="562" name="Google Shape;562;g145ea7f5fe7_1_263"/>
          <p:cNvSpPr txBox="1">
            <a:spLocks noGrp="1"/>
          </p:cNvSpPr>
          <p:nvPr>
            <p:ph type="title"/>
          </p:nvPr>
        </p:nvSpPr>
        <p:spPr>
          <a:xfrm>
            <a:off x="646111" y="452718"/>
            <a:ext cx="9404700" cy="1400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Vector operations</a:t>
            </a:r>
            <a:endParaRPr/>
          </a:p>
        </p:txBody>
      </p:sp>
      <p:sp>
        <p:nvSpPr>
          <p:cNvPr id="563" name="Google Shape;563;g145ea7f5fe7_1_263"/>
          <p:cNvSpPr txBox="1">
            <a:spLocks noGrp="1"/>
          </p:cNvSpPr>
          <p:nvPr>
            <p:ph type="body" idx="1"/>
          </p:nvPr>
        </p:nvSpPr>
        <p:spPr>
          <a:xfrm>
            <a:off x="875162" y="1991043"/>
            <a:ext cx="8946600" cy="41955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Clr>
                <a:schemeClr val="dk1"/>
              </a:buClr>
              <a:buSzPts val="1100"/>
              <a:buFont typeface="Arial"/>
              <a:buNone/>
            </a:pPr>
            <a:r>
              <a:rPr lang="en-US" dirty="0">
                <a:solidFill>
                  <a:srgbClr val="FF9900"/>
                </a:solidFill>
              </a:rPr>
              <a:t>x &lt;- c(1, 2, 3, 4, 5, 6, 7, 8, 9, 10)</a:t>
            </a:r>
            <a:endParaRPr dirty="0">
              <a:solidFill>
                <a:srgbClr val="FF9900"/>
              </a:solidFill>
            </a:endParaRPr>
          </a:p>
          <a:p>
            <a:pPr marL="0" lvl="0" indent="0" algn="l" rtl="0">
              <a:spcBef>
                <a:spcPts val="1000"/>
              </a:spcBef>
              <a:spcAft>
                <a:spcPts val="0"/>
              </a:spcAft>
              <a:buClr>
                <a:schemeClr val="dk1"/>
              </a:buClr>
              <a:buSzPts val="1100"/>
              <a:buFont typeface="Arial"/>
              <a:buNone/>
            </a:pPr>
            <a:r>
              <a:rPr lang="en-US" dirty="0">
                <a:solidFill>
                  <a:srgbClr val="FF9900"/>
                </a:solidFill>
              </a:rPr>
              <a:t>&gt; x</a:t>
            </a:r>
            <a:endParaRPr dirty="0">
              <a:solidFill>
                <a:srgbClr val="FF9900"/>
              </a:solidFill>
            </a:endParaRPr>
          </a:p>
          <a:p>
            <a:pPr marL="0" lvl="0" indent="0" algn="l" rtl="0">
              <a:spcBef>
                <a:spcPts val="1000"/>
              </a:spcBef>
              <a:spcAft>
                <a:spcPts val="0"/>
              </a:spcAft>
              <a:buNone/>
            </a:pPr>
            <a:r>
              <a:rPr lang="en-US" dirty="0">
                <a:solidFill>
                  <a:srgbClr val="FF9900"/>
                </a:solidFill>
              </a:rPr>
              <a:t>[1] 1 2 3 4 5 6 7 8 9 10</a:t>
            </a:r>
            <a:endParaRPr dirty="0">
              <a:solidFill>
                <a:srgbClr val="FF9900"/>
              </a:solidFill>
            </a:endParaRPr>
          </a:p>
          <a:p>
            <a:pPr marL="0" lvl="0" indent="0" algn="l" rtl="0">
              <a:spcBef>
                <a:spcPts val="1000"/>
              </a:spcBef>
              <a:spcAft>
                <a:spcPts val="0"/>
              </a:spcAft>
              <a:buClr>
                <a:schemeClr val="dk1"/>
              </a:buClr>
              <a:buSzPts val="1100"/>
              <a:buFont typeface="Arial"/>
              <a:buNone/>
            </a:pPr>
            <a:r>
              <a:rPr lang="en-US" dirty="0">
                <a:solidFill>
                  <a:srgbClr val="FF9900"/>
                </a:solidFill>
              </a:rPr>
              <a:t>x * 3</a:t>
            </a:r>
            <a:endParaRPr dirty="0">
              <a:solidFill>
                <a:srgbClr val="FF9900"/>
              </a:solidFill>
            </a:endParaRPr>
          </a:p>
          <a:p>
            <a:pPr marL="0" lvl="0" indent="0" algn="l" rtl="0">
              <a:spcBef>
                <a:spcPts val="1000"/>
              </a:spcBef>
              <a:spcAft>
                <a:spcPts val="0"/>
              </a:spcAft>
              <a:buNone/>
            </a:pPr>
            <a:r>
              <a:rPr lang="en-US" dirty="0">
                <a:solidFill>
                  <a:srgbClr val="FF9900"/>
                </a:solidFill>
              </a:rPr>
              <a:t>[1] 3 6 9 12 15 18 21 24 27 30</a:t>
            </a:r>
            <a:endParaRPr dirty="0">
              <a:solidFill>
                <a:srgbClr val="FF9900"/>
              </a:solidFill>
            </a:endParaRPr>
          </a:p>
          <a:p>
            <a:pPr marL="0" lvl="0" indent="0" algn="l" rtl="0">
              <a:spcBef>
                <a:spcPts val="1000"/>
              </a:spcBef>
              <a:spcAft>
                <a:spcPts val="0"/>
              </a:spcAft>
              <a:buNone/>
            </a:pPr>
            <a:r>
              <a:rPr lang="en-US" dirty="0">
                <a:solidFill>
                  <a:srgbClr val="FF9900"/>
                </a:solidFill>
              </a:rPr>
              <a:t>x + 2</a:t>
            </a:r>
            <a:endParaRPr dirty="0">
              <a:solidFill>
                <a:srgbClr val="FF9900"/>
              </a:solidFill>
            </a:endParaRPr>
          </a:p>
          <a:p>
            <a:pPr marL="0" lvl="0" indent="0" algn="l" rtl="0">
              <a:spcBef>
                <a:spcPts val="1000"/>
              </a:spcBef>
              <a:spcAft>
                <a:spcPts val="0"/>
              </a:spcAft>
              <a:buNone/>
            </a:pPr>
            <a:r>
              <a:rPr lang="en-US" dirty="0">
                <a:solidFill>
                  <a:srgbClr val="FF9900"/>
                </a:solidFill>
              </a:rPr>
              <a:t>[1] 3 4 5 6 7 8 9 10 11 12</a:t>
            </a:r>
            <a:endParaRPr dirty="0">
              <a:solidFill>
                <a:srgbClr val="FF9900"/>
              </a:solidFill>
            </a:endParaRPr>
          </a:p>
          <a:p>
            <a:pPr marL="0" lvl="0" indent="0" algn="l" rtl="0">
              <a:spcBef>
                <a:spcPts val="1000"/>
              </a:spcBef>
              <a:spcAft>
                <a:spcPts val="0"/>
              </a:spcAft>
              <a:buNone/>
            </a:pPr>
            <a:r>
              <a:rPr lang="en-US" dirty="0">
                <a:solidFill>
                  <a:srgbClr val="FF9900"/>
                </a:solidFill>
              </a:rPr>
              <a:t>sqrt(x)</a:t>
            </a:r>
            <a:endParaRPr dirty="0">
              <a:solidFill>
                <a:srgbClr val="FF9900"/>
              </a:solidFill>
            </a:endParaRPr>
          </a:p>
          <a:p>
            <a:pPr marL="0" lvl="0" indent="0" algn="l" rtl="0">
              <a:spcBef>
                <a:spcPts val="1000"/>
              </a:spcBef>
              <a:spcAft>
                <a:spcPts val="0"/>
              </a:spcAft>
              <a:buClr>
                <a:schemeClr val="dk1"/>
              </a:buClr>
              <a:buSzPts val="1100"/>
              <a:buFont typeface="Arial"/>
              <a:buNone/>
            </a:pPr>
            <a:r>
              <a:rPr lang="en-US" dirty="0">
                <a:solidFill>
                  <a:srgbClr val="FF9900"/>
                </a:solidFill>
              </a:rPr>
              <a:t>mean(x)</a:t>
            </a:r>
            <a:endParaRPr dirty="0">
              <a:solidFill>
                <a:srgbClr val="FF9900"/>
              </a:solidFill>
            </a:endParaRPr>
          </a:p>
        </p:txBody>
      </p:sp>
      <p:sp>
        <p:nvSpPr>
          <p:cNvPr id="564" name="Google Shape;564;g145ea7f5fe7_1_263"/>
          <p:cNvSpPr txBox="1"/>
          <p:nvPr/>
        </p:nvSpPr>
        <p:spPr>
          <a:xfrm>
            <a:off x="875150" y="1104275"/>
            <a:ext cx="108609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000">
                <a:solidFill>
                  <a:schemeClr val="lt1"/>
                </a:solidFill>
              </a:rPr>
              <a:t>Now that we have a vector of the first ten numbers, we might want to multiply each</a:t>
            </a:r>
            <a:endParaRPr sz="2000">
              <a:solidFill>
                <a:schemeClr val="lt1"/>
              </a:solidFill>
            </a:endParaRPr>
          </a:p>
          <a:p>
            <a:pPr marL="0" lvl="0" indent="0" algn="l" rtl="0">
              <a:spcBef>
                <a:spcPts val="0"/>
              </a:spcBef>
              <a:spcAft>
                <a:spcPts val="0"/>
              </a:spcAft>
              <a:buNone/>
            </a:pPr>
            <a:r>
              <a:rPr lang="en-US" sz="2000">
                <a:solidFill>
                  <a:schemeClr val="lt1"/>
                </a:solidFill>
              </a:rPr>
              <a:t>element by 3.</a:t>
            </a:r>
            <a:endParaRPr>
              <a:solidFill>
                <a:schemeClr val="lt1"/>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68"/>
        <p:cNvGrpSpPr/>
        <p:nvPr/>
      </p:nvGrpSpPr>
      <p:grpSpPr>
        <a:xfrm>
          <a:off x="0" y="0"/>
          <a:ext cx="0" cy="0"/>
          <a:chOff x="0" y="0"/>
          <a:chExt cx="0" cy="0"/>
        </a:xfrm>
      </p:grpSpPr>
      <p:sp>
        <p:nvSpPr>
          <p:cNvPr id="569" name="Google Shape;569;g145ea7f5fe7_1_276"/>
          <p:cNvSpPr txBox="1">
            <a:spLocks noGrp="1"/>
          </p:cNvSpPr>
          <p:nvPr>
            <p:ph type="title"/>
          </p:nvPr>
        </p:nvSpPr>
        <p:spPr>
          <a:xfrm>
            <a:off x="646111" y="452718"/>
            <a:ext cx="9404700" cy="1400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Missing Data</a:t>
            </a:r>
            <a:endParaRPr/>
          </a:p>
        </p:txBody>
      </p:sp>
      <p:sp>
        <p:nvSpPr>
          <p:cNvPr id="570" name="Google Shape;570;g145ea7f5fe7_1_276"/>
          <p:cNvSpPr txBox="1">
            <a:spLocks noGrp="1"/>
          </p:cNvSpPr>
          <p:nvPr>
            <p:ph type="body" idx="1"/>
          </p:nvPr>
        </p:nvSpPr>
        <p:spPr>
          <a:xfrm>
            <a:off x="824875" y="2557576"/>
            <a:ext cx="8946600" cy="3692100"/>
          </a:xfrm>
          <a:prstGeom prst="rect">
            <a:avLst/>
          </a:prstGeom>
        </p:spPr>
        <p:txBody>
          <a:bodyPr spcFirstLastPara="1" wrap="square" lIns="91425" tIns="45700" rIns="91425" bIns="45700" anchor="t" anchorCtr="0">
            <a:normAutofit fontScale="92500" lnSpcReduction="10000"/>
          </a:bodyPr>
          <a:lstStyle/>
          <a:p>
            <a:pPr marL="0" lvl="0" indent="0" algn="l" rtl="0">
              <a:spcBef>
                <a:spcPts val="1000"/>
              </a:spcBef>
              <a:spcAft>
                <a:spcPts val="0"/>
              </a:spcAft>
              <a:buNone/>
            </a:pPr>
            <a:r>
              <a:rPr lang="en-US" dirty="0">
                <a:solidFill>
                  <a:srgbClr val="FF9900"/>
                </a:solidFill>
              </a:rPr>
              <a:t>z &lt;- c(1, 2, NA, 8, 3, NA, 3)</a:t>
            </a:r>
            <a:endParaRPr dirty="0">
              <a:solidFill>
                <a:srgbClr val="FF9900"/>
              </a:solidFill>
            </a:endParaRPr>
          </a:p>
          <a:p>
            <a:pPr marL="0" lvl="0" indent="0" algn="l" rtl="0">
              <a:spcBef>
                <a:spcPts val="1000"/>
              </a:spcBef>
              <a:spcAft>
                <a:spcPts val="0"/>
              </a:spcAft>
              <a:buClr>
                <a:schemeClr val="dk1"/>
              </a:buClr>
              <a:buSzPts val="1100"/>
              <a:buFont typeface="Arial"/>
              <a:buNone/>
            </a:pPr>
            <a:r>
              <a:rPr lang="en-US" dirty="0">
                <a:solidFill>
                  <a:srgbClr val="FF9900"/>
                </a:solidFill>
              </a:rPr>
              <a:t>&gt; z</a:t>
            </a:r>
            <a:endParaRPr dirty="0">
              <a:solidFill>
                <a:srgbClr val="FF9900"/>
              </a:solidFill>
            </a:endParaRPr>
          </a:p>
          <a:p>
            <a:pPr marL="0" lvl="0" indent="0" algn="l" rtl="0">
              <a:spcBef>
                <a:spcPts val="1000"/>
              </a:spcBef>
              <a:spcAft>
                <a:spcPts val="0"/>
              </a:spcAft>
              <a:buClr>
                <a:schemeClr val="dk1"/>
              </a:buClr>
              <a:buSzPts val="1100"/>
              <a:buFont typeface="Arial"/>
              <a:buNone/>
            </a:pPr>
            <a:r>
              <a:rPr lang="en-US" dirty="0">
                <a:solidFill>
                  <a:srgbClr val="FF9900"/>
                </a:solidFill>
              </a:rPr>
              <a:t>[1] 1 2 NA 8 3 NA 3</a:t>
            </a:r>
            <a:endParaRPr dirty="0">
              <a:solidFill>
                <a:srgbClr val="FF9900"/>
              </a:solidFill>
            </a:endParaRPr>
          </a:p>
          <a:p>
            <a:pPr marL="0" lvl="0" indent="0" algn="l" rtl="0">
              <a:spcBef>
                <a:spcPts val="1000"/>
              </a:spcBef>
              <a:spcAft>
                <a:spcPts val="0"/>
              </a:spcAft>
              <a:buClr>
                <a:schemeClr val="dk1"/>
              </a:buClr>
              <a:buSzPts val="1100"/>
              <a:buFont typeface="Arial"/>
              <a:buNone/>
            </a:pPr>
            <a:r>
              <a:rPr lang="en-US" dirty="0">
                <a:solidFill>
                  <a:srgbClr val="FF9900"/>
                </a:solidFill>
              </a:rPr>
              <a:t>&gt; is.na(z)</a:t>
            </a:r>
            <a:endParaRPr dirty="0">
              <a:solidFill>
                <a:srgbClr val="FF9900"/>
              </a:solidFill>
            </a:endParaRPr>
          </a:p>
          <a:p>
            <a:pPr marL="0" lvl="0" indent="0" algn="l" rtl="0">
              <a:spcBef>
                <a:spcPts val="1000"/>
              </a:spcBef>
              <a:spcAft>
                <a:spcPts val="0"/>
              </a:spcAft>
              <a:buNone/>
            </a:pPr>
            <a:r>
              <a:rPr lang="en-US" dirty="0">
                <a:solidFill>
                  <a:srgbClr val="FF9900"/>
                </a:solidFill>
              </a:rPr>
              <a:t>[1] FALSE </a:t>
            </a:r>
            <a:r>
              <a:rPr lang="en-US" dirty="0" err="1">
                <a:solidFill>
                  <a:srgbClr val="FF9900"/>
                </a:solidFill>
              </a:rPr>
              <a:t>FALSE</a:t>
            </a:r>
            <a:r>
              <a:rPr lang="en-US" dirty="0">
                <a:solidFill>
                  <a:srgbClr val="FF9900"/>
                </a:solidFill>
              </a:rPr>
              <a:t> TRUE FALSE </a:t>
            </a:r>
            <a:r>
              <a:rPr lang="en-US" dirty="0" err="1">
                <a:solidFill>
                  <a:srgbClr val="FF9900"/>
                </a:solidFill>
              </a:rPr>
              <a:t>FALSE</a:t>
            </a:r>
            <a:r>
              <a:rPr lang="en-US" dirty="0">
                <a:solidFill>
                  <a:srgbClr val="FF9900"/>
                </a:solidFill>
              </a:rPr>
              <a:t> TRUE FALSE</a:t>
            </a:r>
            <a:endParaRPr dirty="0">
              <a:solidFill>
                <a:srgbClr val="FF9900"/>
              </a:solidFill>
            </a:endParaRPr>
          </a:p>
          <a:p>
            <a:pPr marL="0" lvl="0" indent="0" algn="l" rtl="0">
              <a:spcBef>
                <a:spcPts val="1000"/>
              </a:spcBef>
              <a:spcAft>
                <a:spcPts val="0"/>
              </a:spcAft>
              <a:buClr>
                <a:schemeClr val="dk1"/>
              </a:buClr>
              <a:buSzPts val="1100"/>
              <a:buFont typeface="Arial"/>
              <a:buNone/>
            </a:pPr>
            <a:r>
              <a:rPr lang="en-US" dirty="0">
                <a:solidFill>
                  <a:srgbClr val="FF9900"/>
                </a:solidFill>
              </a:rPr>
              <a:t>&gt; mean(z)</a:t>
            </a:r>
            <a:endParaRPr dirty="0">
              <a:solidFill>
                <a:srgbClr val="FF9900"/>
              </a:solidFill>
            </a:endParaRPr>
          </a:p>
          <a:p>
            <a:pPr marL="0" lvl="0" indent="0" algn="l" rtl="0">
              <a:spcBef>
                <a:spcPts val="1000"/>
              </a:spcBef>
              <a:spcAft>
                <a:spcPts val="0"/>
              </a:spcAft>
              <a:buNone/>
            </a:pPr>
            <a:r>
              <a:rPr lang="en-US" dirty="0">
                <a:solidFill>
                  <a:srgbClr val="FF9900"/>
                </a:solidFill>
              </a:rPr>
              <a:t>[1] NA</a:t>
            </a:r>
            <a:endParaRPr dirty="0">
              <a:solidFill>
                <a:srgbClr val="FF9900"/>
              </a:solidFill>
            </a:endParaRPr>
          </a:p>
          <a:p>
            <a:pPr marL="0" lvl="0" indent="0" algn="l" rtl="0">
              <a:spcBef>
                <a:spcPts val="1000"/>
              </a:spcBef>
              <a:spcAft>
                <a:spcPts val="0"/>
              </a:spcAft>
              <a:buClr>
                <a:schemeClr val="dk1"/>
              </a:buClr>
              <a:buSzPts val="1100"/>
              <a:buFont typeface="Arial"/>
              <a:buNone/>
            </a:pPr>
            <a:r>
              <a:rPr lang="en-US" dirty="0">
                <a:solidFill>
                  <a:srgbClr val="FF9900"/>
                </a:solidFill>
              </a:rPr>
              <a:t>&gt; mean(z, na.rm=TRUE)</a:t>
            </a:r>
            <a:endParaRPr dirty="0">
              <a:solidFill>
                <a:srgbClr val="FF9900"/>
              </a:solidFill>
            </a:endParaRPr>
          </a:p>
          <a:p>
            <a:pPr marL="0" lvl="0" indent="0" algn="l" rtl="0">
              <a:spcBef>
                <a:spcPts val="1000"/>
              </a:spcBef>
              <a:spcAft>
                <a:spcPts val="0"/>
              </a:spcAft>
              <a:buNone/>
            </a:pPr>
            <a:r>
              <a:rPr lang="en-US" dirty="0">
                <a:solidFill>
                  <a:srgbClr val="FF9900"/>
                </a:solidFill>
              </a:rPr>
              <a:t>[1] 3.4</a:t>
            </a:r>
            <a:endParaRPr dirty="0">
              <a:solidFill>
                <a:srgbClr val="FF9900"/>
              </a:solidFill>
            </a:endParaRPr>
          </a:p>
        </p:txBody>
      </p:sp>
      <p:sp>
        <p:nvSpPr>
          <p:cNvPr id="571" name="Google Shape;571;g145ea7f5fe7_1_276"/>
          <p:cNvSpPr txBox="1"/>
          <p:nvPr/>
        </p:nvSpPr>
        <p:spPr>
          <a:xfrm>
            <a:off x="742525" y="1296950"/>
            <a:ext cx="10220100" cy="1108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000">
                <a:solidFill>
                  <a:schemeClr val="lt1"/>
                </a:solidFill>
              </a:rPr>
              <a:t>Often we will have data that has missing values for any number of reasons.</a:t>
            </a:r>
            <a:endParaRPr sz="2000">
              <a:solidFill>
                <a:schemeClr val="lt1"/>
              </a:solidFill>
            </a:endParaRPr>
          </a:p>
          <a:p>
            <a:pPr marL="0" lvl="0" indent="0" algn="l" rtl="0">
              <a:spcBef>
                <a:spcPts val="0"/>
              </a:spcBef>
              <a:spcAft>
                <a:spcPts val="0"/>
              </a:spcAft>
              <a:buClr>
                <a:schemeClr val="dk1"/>
              </a:buClr>
              <a:buSzPts val="1100"/>
              <a:buFont typeface="Arial"/>
              <a:buNone/>
            </a:pPr>
            <a:r>
              <a:rPr lang="en-US" sz="2000">
                <a:solidFill>
                  <a:schemeClr val="lt1"/>
                </a:solidFill>
              </a:rPr>
              <a:t>R uses NA. NA will often be seen as just another element of a vector.</a:t>
            </a:r>
            <a:endParaRPr sz="2000">
              <a:solidFill>
                <a:schemeClr val="lt1"/>
              </a:solidFill>
            </a:endParaRPr>
          </a:p>
          <a:p>
            <a:pPr marL="0" lvl="0" indent="0" algn="l" rtl="0">
              <a:spcBef>
                <a:spcPts val="0"/>
              </a:spcBef>
              <a:spcAft>
                <a:spcPts val="0"/>
              </a:spcAft>
              <a:buNone/>
            </a:pPr>
            <a:r>
              <a:rPr lang="en-US" sz="2000">
                <a:solidFill>
                  <a:srgbClr val="FF9900"/>
                </a:solidFill>
              </a:rPr>
              <a:t>is.na</a:t>
            </a:r>
            <a:r>
              <a:rPr lang="en-US" sz="2000">
                <a:solidFill>
                  <a:schemeClr val="lt1"/>
                </a:solidFill>
              </a:rPr>
              <a:t> tests each element of a vector for missingness.</a:t>
            </a:r>
            <a:endParaRPr sz="2000">
              <a:solidFill>
                <a:schemeClr val="lt1"/>
              </a:solidFill>
            </a:endParaRPr>
          </a:p>
        </p:txBody>
      </p:sp>
      <p:sp>
        <p:nvSpPr>
          <p:cNvPr id="572" name="Google Shape;572;g145ea7f5fe7_1_276"/>
          <p:cNvSpPr txBox="1"/>
          <p:nvPr/>
        </p:nvSpPr>
        <p:spPr>
          <a:xfrm>
            <a:off x="7332375" y="4517000"/>
            <a:ext cx="4300500" cy="1431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700" b="1">
                <a:solidFill>
                  <a:srgbClr val="FF9900"/>
                </a:solidFill>
              </a:rPr>
              <a:t>Try with other functions sum, min, max, var, sd and other functions</a:t>
            </a:r>
            <a:endParaRPr sz="2100" b="1">
              <a:solidFill>
                <a:srgbClr val="FF9900"/>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76"/>
        <p:cNvGrpSpPr/>
        <p:nvPr/>
      </p:nvGrpSpPr>
      <p:grpSpPr>
        <a:xfrm>
          <a:off x="0" y="0"/>
          <a:ext cx="0" cy="0"/>
          <a:chOff x="0" y="0"/>
          <a:chExt cx="0" cy="0"/>
        </a:xfrm>
      </p:grpSpPr>
      <p:sp>
        <p:nvSpPr>
          <p:cNvPr id="577" name="Google Shape;577;p67"/>
          <p:cNvSpPr txBox="1">
            <a:spLocks noGrp="1"/>
          </p:cNvSpPr>
          <p:nvPr>
            <p:ph type="title"/>
          </p:nvPr>
        </p:nvSpPr>
        <p:spPr>
          <a:xfrm>
            <a:off x="646111" y="452718"/>
            <a:ext cx="9404723" cy="76648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a:t>Matrix</a:t>
            </a:r>
            <a:br>
              <a:rPr lang="en-US"/>
            </a:br>
            <a:endParaRPr/>
          </a:p>
        </p:txBody>
      </p:sp>
      <p:sp>
        <p:nvSpPr>
          <p:cNvPr id="578" name="Google Shape;578;p67"/>
          <p:cNvSpPr txBox="1">
            <a:spLocks noGrp="1"/>
          </p:cNvSpPr>
          <p:nvPr>
            <p:ph type="body" idx="1"/>
          </p:nvPr>
        </p:nvSpPr>
        <p:spPr>
          <a:xfrm>
            <a:off x="753525" y="1219200"/>
            <a:ext cx="10634100" cy="56388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600"/>
              <a:buChar char="►"/>
            </a:pPr>
            <a:r>
              <a:rPr lang="en-US" i="1" dirty="0"/>
              <a:t>A matrix is a two-dimensional rectangular data set in which each element has the same mode (numeric, character, or logical)</a:t>
            </a:r>
            <a:endParaRPr i="1" dirty="0"/>
          </a:p>
          <a:p>
            <a:pPr marL="342900" lvl="0" indent="-342900" algn="l" rtl="0">
              <a:spcBef>
                <a:spcPts val="1000"/>
              </a:spcBef>
              <a:spcAft>
                <a:spcPts val="0"/>
              </a:spcAft>
              <a:buSzPts val="1600"/>
              <a:buChar char="►"/>
            </a:pPr>
            <a:r>
              <a:rPr lang="en-US" dirty="0"/>
              <a:t>In addition, a matrix is a collection of numbers arranged into a fixed number of rows and columns. Usually, the numbers are the real numbers.</a:t>
            </a:r>
            <a:endParaRPr dirty="0"/>
          </a:p>
          <a:p>
            <a:pPr marL="342900" lvl="0" indent="-342900" algn="l" rtl="0">
              <a:spcBef>
                <a:spcPts val="1000"/>
              </a:spcBef>
              <a:spcAft>
                <a:spcPts val="0"/>
              </a:spcAft>
              <a:buSzPts val="1600"/>
              <a:buChar char="►"/>
            </a:pPr>
            <a:r>
              <a:rPr lang="en-US" dirty="0"/>
              <a:t>By using a matrix function, we can reproduce a memory representation of the matrix in R. </a:t>
            </a:r>
            <a:endParaRPr dirty="0"/>
          </a:p>
          <a:p>
            <a:pPr marL="342900" lvl="0" indent="0" algn="l" rtl="0">
              <a:spcBef>
                <a:spcPts val="1000"/>
              </a:spcBef>
              <a:spcAft>
                <a:spcPts val="0"/>
              </a:spcAft>
              <a:buNone/>
            </a:pPr>
            <a:r>
              <a:rPr lang="en-US" dirty="0">
                <a:solidFill>
                  <a:srgbClr val="FF9900"/>
                </a:solidFill>
              </a:rPr>
              <a:t># create a 5x2 matrix</a:t>
            </a:r>
            <a:endParaRPr dirty="0">
              <a:solidFill>
                <a:srgbClr val="FF9900"/>
              </a:solidFill>
            </a:endParaRPr>
          </a:p>
          <a:p>
            <a:pPr marL="342900" lvl="0" indent="0" algn="l" rtl="0">
              <a:spcBef>
                <a:spcPts val="1000"/>
              </a:spcBef>
              <a:spcAft>
                <a:spcPts val="0"/>
              </a:spcAft>
              <a:buNone/>
            </a:pPr>
            <a:r>
              <a:rPr lang="en-US" dirty="0">
                <a:solidFill>
                  <a:srgbClr val="FF9900"/>
                </a:solidFill>
              </a:rPr>
              <a:t>A &lt;- matrix(1:10, </a:t>
            </a:r>
            <a:r>
              <a:rPr lang="en-US" dirty="0" err="1">
                <a:solidFill>
                  <a:srgbClr val="FF9900"/>
                </a:solidFill>
              </a:rPr>
              <a:t>nrow</a:t>
            </a:r>
            <a:r>
              <a:rPr lang="en-US" dirty="0">
                <a:solidFill>
                  <a:srgbClr val="FF9900"/>
                </a:solidFill>
              </a:rPr>
              <a:t>=5)</a:t>
            </a:r>
            <a:endParaRPr dirty="0">
              <a:solidFill>
                <a:srgbClr val="FF9900"/>
              </a:solidFill>
            </a:endParaRPr>
          </a:p>
          <a:p>
            <a:pPr marL="342900" lvl="0" indent="0" algn="l" rtl="0">
              <a:spcBef>
                <a:spcPts val="1000"/>
              </a:spcBef>
              <a:spcAft>
                <a:spcPts val="0"/>
              </a:spcAft>
              <a:buNone/>
            </a:pPr>
            <a:r>
              <a:rPr lang="en-US" dirty="0">
                <a:solidFill>
                  <a:srgbClr val="FF9900"/>
                </a:solidFill>
              </a:rPr>
              <a:t>A</a:t>
            </a:r>
            <a:endParaRPr dirty="0">
              <a:solidFill>
                <a:srgbClr val="FF9900"/>
              </a:solidFill>
            </a:endParaRPr>
          </a:p>
          <a:p>
            <a:pPr marL="342900" lvl="0" indent="0" algn="l" rtl="0">
              <a:spcBef>
                <a:spcPts val="1000"/>
              </a:spcBef>
              <a:spcAft>
                <a:spcPts val="0"/>
              </a:spcAft>
              <a:buNone/>
            </a:pPr>
            <a:r>
              <a:rPr lang="en-US" dirty="0">
                <a:solidFill>
                  <a:srgbClr val="FF9900"/>
                </a:solidFill>
              </a:rPr>
              <a:t>B &lt;- matrix(21:30, </a:t>
            </a:r>
            <a:r>
              <a:rPr lang="en-US" dirty="0" err="1">
                <a:solidFill>
                  <a:srgbClr val="FF9900"/>
                </a:solidFill>
              </a:rPr>
              <a:t>nrow</a:t>
            </a:r>
            <a:r>
              <a:rPr lang="en-US" dirty="0">
                <a:solidFill>
                  <a:srgbClr val="FF9900"/>
                </a:solidFill>
              </a:rPr>
              <a:t>=5)</a:t>
            </a:r>
            <a:endParaRPr dirty="0">
              <a:solidFill>
                <a:srgbClr val="FF9900"/>
              </a:solidFill>
            </a:endParaRPr>
          </a:p>
          <a:p>
            <a:pPr marL="342900" lvl="0" indent="0" algn="l" rtl="0">
              <a:spcBef>
                <a:spcPts val="1000"/>
              </a:spcBef>
              <a:spcAft>
                <a:spcPts val="0"/>
              </a:spcAft>
              <a:buNone/>
            </a:pPr>
            <a:r>
              <a:rPr lang="en-US" dirty="0">
                <a:solidFill>
                  <a:srgbClr val="FF9900"/>
                </a:solidFill>
              </a:rPr>
              <a:t>B</a:t>
            </a:r>
            <a:endParaRPr dirty="0">
              <a:solidFill>
                <a:srgbClr val="FF9900"/>
              </a:solidFill>
            </a:endParaRPr>
          </a:p>
          <a:p>
            <a:pPr marL="342900" lvl="0" indent="0" algn="l" rtl="0">
              <a:spcBef>
                <a:spcPts val="1000"/>
              </a:spcBef>
              <a:spcAft>
                <a:spcPts val="0"/>
              </a:spcAft>
              <a:buNone/>
            </a:pPr>
            <a:r>
              <a:rPr lang="en-US" dirty="0" err="1">
                <a:solidFill>
                  <a:srgbClr val="FF9900"/>
                </a:solidFill>
              </a:rPr>
              <a:t>nrow</a:t>
            </a:r>
            <a:r>
              <a:rPr lang="en-US" dirty="0">
                <a:solidFill>
                  <a:srgbClr val="FF9900"/>
                </a:solidFill>
              </a:rPr>
              <a:t> (A)</a:t>
            </a:r>
            <a:endParaRPr dirty="0">
              <a:solidFill>
                <a:srgbClr val="FF9900"/>
              </a:solidFill>
            </a:endParaRPr>
          </a:p>
          <a:p>
            <a:pPr marL="342900" lvl="0" indent="0" algn="l" rtl="0">
              <a:spcBef>
                <a:spcPts val="1000"/>
              </a:spcBef>
              <a:spcAft>
                <a:spcPts val="0"/>
              </a:spcAft>
              <a:buNone/>
            </a:pPr>
            <a:r>
              <a:rPr lang="en-US" dirty="0" err="1">
                <a:solidFill>
                  <a:srgbClr val="FF9900"/>
                </a:solidFill>
              </a:rPr>
              <a:t>ncol</a:t>
            </a:r>
            <a:r>
              <a:rPr lang="en-US" dirty="0">
                <a:solidFill>
                  <a:srgbClr val="FF9900"/>
                </a:solidFill>
              </a:rPr>
              <a:t> (A)</a:t>
            </a:r>
            <a:endParaRPr dirty="0">
              <a:solidFill>
                <a:srgbClr val="FF9900"/>
              </a:solidFill>
            </a:endParaRPr>
          </a:p>
          <a:p>
            <a:pPr marL="342900" lvl="0" indent="0" algn="l" rtl="0">
              <a:spcBef>
                <a:spcPts val="1000"/>
              </a:spcBef>
              <a:spcAft>
                <a:spcPts val="0"/>
              </a:spcAft>
              <a:buNone/>
            </a:pPr>
            <a:r>
              <a:rPr lang="en-US" dirty="0">
                <a:solidFill>
                  <a:srgbClr val="FF9900"/>
                </a:solidFill>
              </a:rPr>
              <a:t>dim (A)</a:t>
            </a:r>
            <a:endParaRPr dirty="0">
              <a:solidFill>
                <a:srgbClr val="FF9900"/>
              </a:solidFill>
            </a:endParaRPr>
          </a:p>
        </p:txBody>
      </p:sp>
      <p:pic>
        <p:nvPicPr>
          <p:cNvPr id="579" name="Google Shape;579;p67"/>
          <p:cNvPicPr preferRelativeResize="0"/>
          <p:nvPr/>
        </p:nvPicPr>
        <p:blipFill>
          <a:blip r:embed="rId3">
            <a:alphaModFix/>
          </a:blip>
          <a:stretch>
            <a:fillRect/>
          </a:stretch>
        </p:blipFill>
        <p:spPr>
          <a:xfrm>
            <a:off x="4961900" y="3488472"/>
            <a:ext cx="7230099" cy="328315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83"/>
        <p:cNvGrpSpPr/>
        <p:nvPr/>
      </p:nvGrpSpPr>
      <p:grpSpPr>
        <a:xfrm>
          <a:off x="0" y="0"/>
          <a:ext cx="0" cy="0"/>
          <a:chOff x="0" y="0"/>
          <a:chExt cx="0" cy="0"/>
        </a:xfrm>
      </p:grpSpPr>
      <p:sp>
        <p:nvSpPr>
          <p:cNvPr id="584" name="Google Shape;584;g145ea7f5fe7_1_296"/>
          <p:cNvSpPr txBox="1">
            <a:spLocks noGrp="1"/>
          </p:cNvSpPr>
          <p:nvPr>
            <p:ph type="title"/>
          </p:nvPr>
        </p:nvSpPr>
        <p:spPr>
          <a:xfrm>
            <a:off x="683636" y="112418"/>
            <a:ext cx="9404700" cy="1400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Matrix</a:t>
            </a:r>
            <a:endParaRPr/>
          </a:p>
        </p:txBody>
      </p:sp>
      <p:sp>
        <p:nvSpPr>
          <p:cNvPr id="585" name="Google Shape;585;g145ea7f5fe7_1_296"/>
          <p:cNvSpPr txBox="1">
            <a:spLocks noGrp="1"/>
          </p:cNvSpPr>
          <p:nvPr>
            <p:ph type="body" idx="1"/>
          </p:nvPr>
        </p:nvSpPr>
        <p:spPr>
          <a:xfrm>
            <a:off x="742525" y="1593625"/>
            <a:ext cx="9307500" cy="5181900"/>
          </a:xfrm>
          <a:prstGeom prst="rect">
            <a:avLst/>
          </a:prstGeom>
        </p:spPr>
        <p:txBody>
          <a:bodyPr spcFirstLastPara="1" wrap="square" lIns="91425" tIns="45700" rIns="91425" bIns="45700" anchor="t" anchorCtr="0">
            <a:noAutofit/>
          </a:bodyPr>
          <a:lstStyle/>
          <a:p>
            <a:pPr marL="0" lvl="0" indent="0" algn="l" rtl="0">
              <a:lnSpc>
                <a:spcPct val="80000"/>
              </a:lnSpc>
              <a:spcBef>
                <a:spcPts val="1000"/>
              </a:spcBef>
              <a:spcAft>
                <a:spcPts val="0"/>
              </a:spcAft>
              <a:buClr>
                <a:schemeClr val="dk1"/>
              </a:buClr>
              <a:buSzPts val="770"/>
              <a:buFont typeface="Arial"/>
              <a:buNone/>
            </a:pPr>
            <a:r>
              <a:rPr lang="en-US" sz="1600" dirty="0">
                <a:solidFill>
                  <a:srgbClr val="FF9900"/>
                </a:solidFill>
              </a:rPr>
              <a:t>&gt; </a:t>
            </a:r>
            <a:r>
              <a:rPr lang="en-US" sz="1600" dirty="0" err="1">
                <a:solidFill>
                  <a:srgbClr val="FF9900"/>
                </a:solidFill>
              </a:rPr>
              <a:t>colnames</a:t>
            </a:r>
            <a:r>
              <a:rPr lang="en-US" sz="1600" dirty="0">
                <a:solidFill>
                  <a:srgbClr val="FF9900"/>
                </a:solidFill>
              </a:rPr>
              <a:t>(A)</a:t>
            </a:r>
            <a:endParaRPr sz="1600" dirty="0">
              <a:solidFill>
                <a:srgbClr val="FF9900"/>
              </a:solidFill>
            </a:endParaRPr>
          </a:p>
          <a:p>
            <a:pPr marL="0" lvl="0" indent="0" algn="l" rtl="0">
              <a:lnSpc>
                <a:spcPct val="80000"/>
              </a:lnSpc>
              <a:spcBef>
                <a:spcPts val="1000"/>
              </a:spcBef>
              <a:spcAft>
                <a:spcPts val="0"/>
              </a:spcAft>
              <a:buClr>
                <a:schemeClr val="dk1"/>
              </a:buClr>
              <a:buSzPts val="770"/>
              <a:buFont typeface="Arial"/>
              <a:buNone/>
            </a:pPr>
            <a:r>
              <a:rPr lang="en-US" sz="1600" dirty="0">
                <a:solidFill>
                  <a:srgbClr val="FF9900"/>
                </a:solidFill>
              </a:rPr>
              <a:t>NULL</a:t>
            </a:r>
            <a:endParaRPr sz="1600" dirty="0">
              <a:solidFill>
                <a:srgbClr val="FF9900"/>
              </a:solidFill>
            </a:endParaRPr>
          </a:p>
          <a:p>
            <a:pPr marL="0" lvl="0" indent="0" algn="l" rtl="0">
              <a:lnSpc>
                <a:spcPct val="80000"/>
              </a:lnSpc>
              <a:spcBef>
                <a:spcPts val="1000"/>
              </a:spcBef>
              <a:spcAft>
                <a:spcPts val="0"/>
              </a:spcAft>
              <a:buClr>
                <a:schemeClr val="dk1"/>
              </a:buClr>
              <a:buSzPts val="770"/>
              <a:buFont typeface="Arial"/>
              <a:buNone/>
            </a:pPr>
            <a:r>
              <a:rPr lang="en-US" sz="1600" dirty="0">
                <a:solidFill>
                  <a:srgbClr val="FF9900"/>
                </a:solidFill>
              </a:rPr>
              <a:t>&gt; </a:t>
            </a:r>
            <a:r>
              <a:rPr lang="en-US" sz="1600" dirty="0" err="1">
                <a:solidFill>
                  <a:srgbClr val="FF9900"/>
                </a:solidFill>
              </a:rPr>
              <a:t>rownames</a:t>
            </a:r>
            <a:r>
              <a:rPr lang="en-US" sz="1600" dirty="0">
                <a:solidFill>
                  <a:srgbClr val="FF9900"/>
                </a:solidFill>
              </a:rPr>
              <a:t>(A)</a:t>
            </a:r>
            <a:endParaRPr sz="1600" dirty="0">
              <a:solidFill>
                <a:srgbClr val="FF9900"/>
              </a:solidFill>
            </a:endParaRPr>
          </a:p>
          <a:p>
            <a:pPr marL="0" lvl="0" indent="0" algn="l" rtl="0">
              <a:lnSpc>
                <a:spcPct val="80000"/>
              </a:lnSpc>
              <a:spcBef>
                <a:spcPts val="1000"/>
              </a:spcBef>
              <a:spcAft>
                <a:spcPts val="0"/>
              </a:spcAft>
              <a:buSzPts val="770"/>
              <a:buNone/>
            </a:pPr>
            <a:r>
              <a:rPr lang="en-US" sz="1600" dirty="0">
                <a:solidFill>
                  <a:srgbClr val="FF9900"/>
                </a:solidFill>
              </a:rPr>
              <a:t>NULL</a:t>
            </a:r>
            <a:endParaRPr sz="1600" dirty="0">
              <a:solidFill>
                <a:srgbClr val="FF9900"/>
              </a:solidFill>
            </a:endParaRPr>
          </a:p>
          <a:p>
            <a:pPr marL="0" lvl="0" indent="0" algn="l" rtl="0">
              <a:lnSpc>
                <a:spcPct val="80000"/>
              </a:lnSpc>
              <a:spcBef>
                <a:spcPts val="1000"/>
              </a:spcBef>
              <a:spcAft>
                <a:spcPts val="0"/>
              </a:spcAft>
              <a:buClr>
                <a:schemeClr val="dk1"/>
              </a:buClr>
              <a:buSzPts val="770"/>
              <a:buFont typeface="Arial"/>
              <a:buNone/>
            </a:pPr>
            <a:r>
              <a:rPr lang="en-US" sz="1600" dirty="0">
                <a:solidFill>
                  <a:srgbClr val="FF9900"/>
                </a:solidFill>
              </a:rPr>
              <a:t>&gt; </a:t>
            </a:r>
            <a:r>
              <a:rPr lang="en-US" sz="1600" dirty="0" err="1">
                <a:solidFill>
                  <a:srgbClr val="FF9900"/>
                </a:solidFill>
              </a:rPr>
              <a:t>colnames</a:t>
            </a:r>
            <a:r>
              <a:rPr lang="en-US" sz="1600" dirty="0">
                <a:solidFill>
                  <a:srgbClr val="FF9900"/>
                </a:solidFill>
              </a:rPr>
              <a:t>(A) &lt;- c("Left", "Right")</a:t>
            </a:r>
            <a:endParaRPr sz="1600" dirty="0">
              <a:solidFill>
                <a:srgbClr val="FF9900"/>
              </a:solidFill>
            </a:endParaRPr>
          </a:p>
          <a:p>
            <a:pPr marL="0" lvl="0" indent="0" algn="l" rtl="0">
              <a:lnSpc>
                <a:spcPct val="80000"/>
              </a:lnSpc>
              <a:spcBef>
                <a:spcPts val="1000"/>
              </a:spcBef>
              <a:spcAft>
                <a:spcPts val="0"/>
              </a:spcAft>
              <a:buSzPts val="770"/>
              <a:buNone/>
            </a:pPr>
            <a:r>
              <a:rPr lang="en-US" sz="1600" dirty="0">
                <a:solidFill>
                  <a:srgbClr val="FF9900"/>
                </a:solidFill>
              </a:rPr>
              <a:t>&gt; </a:t>
            </a:r>
            <a:r>
              <a:rPr lang="en-US" sz="1600" dirty="0" err="1">
                <a:solidFill>
                  <a:srgbClr val="FF9900"/>
                </a:solidFill>
              </a:rPr>
              <a:t>rownames</a:t>
            </a:r>
            <a:r>
              <a:rPr lang="en-US" sz="1600" dirty="0">
                <a:solidFill>
                  <a:srgbClr val="FF9900"/>
                </a:solidFill>
              </a:rPr>
              <a:t>(A) &lt;- c("1st", "2nd", "3rd", "4th", "5th")</a:t>
            </a:r>
            <a:endParaRPr sz="1600" dirty="0">
              <a:solidFill>
                <a:srgbClr val="FF9900"/>
              </a:solidFill>
            </a:endParaRPr>
          </a:p>
          <a:p>
            <a:pPr marL="0" lvl="0" indent="0" algn="l" rtl="0">
              <a:lnSpc>
                <a:spcPct val="80000"/>
              </a:lnSpc>
              <a:spcBef>
                <a:spcPts val="1000"/>
              </a:spcBef>
              <a:spcAft>
                <a:spcPts val="0"/>
              </a:spcAft>
              <a:buClr>
                <a:schemeClr val="dk1"/>
              </a:buClr>
              <a:buSzPts val="770"/>
              <a:buFont typeface="Arial"/>
              <a:buNone/>
            </a:pPr>
            <a:r>
              <a:rPr lang="en-US" sz="1600" dirty="0">
                <a:solidFill>
                  <a:srgbClr val="FF9900"/>
                </a:solidFill>
              </a:rPr>
              <a:t>&gt; </a:t>
            </a:r>
            <a:r>
              <a:rPr lang="en-US" sz="1600" dirty="0" err="1">
                <a:solidFill>
                  <a:srgbClr val="FF9900"/>
                </a:solidFill>
              </a:rPr>
              <a:t>colnames</a:t>
            </a:r>
            <a:r>
              <a:rPr lang="en-US" sz="1600" dirty="0">
                <a:solidFill>
                  <a:srgbClr val="FF9900"/>
                </a:solidFill>
              </a:rPr>
              <a:t>(B)</a:t>
            </a:r>
            <a:endParaRPr sz="1600" dirty="0">
              <a:solidFill>
                <a:srgbClr val="FF9900"/>
              </a:solidFill>
            </a:endParaRPr>
          </a:p>
          <a:p>
            <a:pPr marL="0" lvl="0" indent="0" algn="l" rtl="0">
              <a:lnSpc>
                <a:spcPct val="80000"/>
              </a:lnSpc>
              <a:spcBef>
                <a:spcPts val="1000"/>
              </a:spcBef>
              <a:spcAft>
                <a:spcPts val="0"/>
              </a:spcAft>
              <a:buClr>
                <a:schemeClr val="dk1"/>
              </a:buClr>
              <a:buSzPts val="770"/>
              <a:buFont typeface="Arial"/>
              <a:buNone/>
            </a:pPr>
            <a:r>
              <a:rPr lang="en-US" sz="1600" dirty="0">
                <a:solidFill>
                  <a:srgbClr val="FF9900"/>
                </a:solidFill>
              </a:rPr>
              <a:t>NULL</a:t>
            </a:r>
            <a:endParaRPr sz="1600" dirty="0">
              <a:solidFill>
                <a:srgbClr val="FF9900"/>
              </a:solidFill>
            </a:endParaRPr>
          </a:p>
          <a:p>
            <a:pPr marL="0" lvl="0" indent="0" algn="l" rtl="0">
              <a:lnSpc>
                <a:spcPct val="80000"/>
              </a:lnSpc>
              <a:spcBef>
                <a:spcPts val="1000"/>
              </a:spcBef>
              <a:spcAft>
                <a:spcPts val="0"/>
              </a:spcAft>
              <a:buClr>
                <a:schemeClr val="dk1"/>
              </a:buClr>
              <a:buSzPts val="770"/>
              <a:buFont typeface="Arial"/>
              <a:buNone/>
            </a:pPr>
            <a:r>
              <a:rPr lang="en-US" sz="1600" dirty="0">
                <a:solidFill>
                  <a:srgbClr val="FF9900"/>
                </a:solidFill>
              </a:rPr>
              <a:t>&gt; </a:t>
            </a:r>
            <a:r>
              <a:rPr lang="en-US" sz="1600" dirty="0" err="1">
                <a:solidFill>
                  <a:srgbClr val="FF9900"/>
                </a:solidFill>
              </a:rPr>
              <a:t>rownames</a:t>
            </a:r>
            <a:r>
              <a:rPr lang="en-US" sz="1600" dirty="0">
                <a:solidFill>
                  <a:srgbClr val="FF9900"/>
                </a:solidFill>
              </a:rPr>
              <a:t>(B)</a:t>
            </a:r>
            <a:endParaRPr sz="1600" dirty="0">
              <a:solidFill>
                <a:srgbClr val="FF9900"/>
              </a:solidFill>
            </a:endParaRPr>
          </a:p>
          <a:p>
            <a:pPr marL="0" lvl="0" indent="0" algn="l" rtl="0">
              <a:lnSpc>
                <a:spcPct val="80000"/>
              </a:lnSpc>
              <a:spcBef>
                <a:spcPts val="1000"/>
              </a:spcBef>
              <a:spcAft>
                <a:spcPts val="0"/>
              </a:spcAft>
              <a:buClr>
                <a:schemeClr val="dk1"/>
              </a:buClr>
              <a:buSzPts val="770"/>
              <a:buFont typeface="Arial"/>
              <a:buNone/>
            </a:pPr>
            <a:r>
              <a:rPr lang="en-US" sz="1600" dirty="0">
                <a:solidFill>
                  <a:srgbClr val="FF9900"/>
                </a:solidFill>
              </a:rPr>
              <a:t>NULL</a:t>
            </a:r>
            <a:endParaRPr sz="1600" dirty="0">
              <a:solidFill>
                <a:srgbClr val="FF9900"/>
              </a:solidFill>
            </a:endParaRPr>
          </a:p>
          <a:p>
            <a:pPr marL="0" lvl="0" indent="0" algn="l" rtl="0">
              <a:lnSpc>
                <a:spcPct val="80000"/>
              </a:lnSpc>
              <a:spcBef>
                <a:spcPts val="1000"/>
              </a:spcBef>
              <a:spcAft>
                <a:spcPts val="0"/>
              </a:spcAft>
              <a:buSzPts val="770"/>
              <a:buNone/>
            </a:pPr>
            <a:r>
              <a:rPr lang="en-US" sz="1600" dirty="0">
                <a:solidFill>
                  <a:srgbClr val="FF9900"/>
                </a:solidFill>
              </a:rPr>
              <a:t>&gt; </a:t>
            </a:r>
            <a:r>
              <a:rPr lang="en-US" sz="1600" dirty="0" err="1">
                <a:solidFill>
                  <a:srgbClr val="FF9900"/>
                </a:solidFill>
              </a:rPr>
              <a:t>colnames</a:t>
            </a:r>
            <a:r>
              <a:rPr lang="en-US" sz="1600" dirty="0">
                <a:solidFill>
                  <a:srgbClr val="FF9900"/>
                </a:solidFill>
              </a:rPr>
              <a:t>(B) &lt;- c("First", "Second")</a:t>
            </a:r>
            <a:endParaRPr sz="1600" dirty="0">
              <a:solidFill>
                <a:srgbClr val="FF9900"/>
              </a:solidFill>
            </a:endParaRPr>
          </a:p>
          <a:p>
            <a:pPr marL="0" lvl="0" indent="0" algn="l" rtl="0">
              <a:lnSpc>
                <a:spcPct val="80000"/>
              </a:lnSpc>
              <a:spcBef>
                <a:spcPts val="1000"/>
              </a:spcBef>
              <a:spcAft>
                <a:spcPts val="0"/>
              </a:spcAft>
              <a:buSzPts val="770"/>
              <a:buNone/>
            </a:pPr>
            <a:r>
              <a:rPr lang="en-US" sz="1600" dirty="0">
                <a:solidFill>
                  <a:srgbClr val="FF9900"/>
                </a:solidFill>
              </a:rPr>
              <a:t>&gt; </a:t>
            </a:r>
            <a:r>
              <a:rPr lang="en-US" sz="1600" dirty="0" err="1">
                <a:solidFill>
                  <a:srgbClr val="FF9900"/>
                </a:solidFill>
              </a:rPr>
              <a:t>rownames</a:t>
            </a:r>
            <a:r>
              <a:rPr lang="en-US" sz="1600" dirty="0">
                <a:solidFill>
                  <a:srgbClr val="FF9900"/>
                </a:solidFill>
              </a:rPr>
              <a:t>(B) &lt;- c("One", "Two", "Three", "Four", "Five")</a:t>
            </a:r>
            <a:endParaRPr sz="1600" dirty="0">
              <a:solidFill>
                <a:srgbClr val="FF9900"/>
              </a:solidFill>
            </a:endParaRPr>
          </a:p>
          <a:p>
            <a:pPr marL="0" lvl="0" indent="0" algn="l" rtl="0">
              <a:lnSpc>
                <a:spcPct val="80000"/>
              </a:lnSpc>
              <a:spcBef>
                <a:spcPts val="1000"/>
              </a:spcBef>
              <a:spcAft>
                <a:spcPts val="0"/>
              </a:spcAft>
              <a:buSzPts val="770"/>
              <a:buNone/>
            </a:pPr>
            <a:r>
              <a:rPr lang="en-US" sz="1600" dirty="0"/>
              <a:t># add two matrices </a:t>
            </a:r>
            <a:endParaRPr sz="1600" dirty="0"/>
          </a:p>
          <a:p>
            <a:pPr marL="0" lvl="0" indent="0" algn="l" rtl="0">
              <a:lnSpc>
                <a:spcPct val="80000"/>
              </a:lnSpc>
              <a:spcBef>
                <a:spcPts val="1000"/>
              </a:spcBef>
              <a:spcAft>
                <a:spcPts val="0"/>
              </a:spcAft>
              <a:buSzPts val="770"/>
              <a:buNone/>
            </a:pPr>
            <a:r>
              <a:rPr lang="en-US" sz="1600" dirty="0">
                <a:solidFill>
                  <a:srgbClr val="FF9900"/>
                </a:solidFill>
              </a:rPr>
              <a:t>A+ B</a:t>
            </a:r>
            <a:endParaRPr sz="1600" dirty="0">
              <a:solidFill>
                <a:srgbClr val="FF9900"/>
              </a:solidFill>
            </a:endParaRPr>
          </a:p>
          <a:p>
            <a:pPr marL="0" lvl="0" indent="0" algn="l" rtl="0">
              <a:lnSpc>
                <a:spcPct val="80000"/>
              </a:lnSpc>
              <a:spcBef>
                <a:spcPts val="1000"/>
              </a:spcBef>
              <a:spcAft>
                <a:spcPts val="0"/>
              </a:spcAft>
              <a:buSzPts val="770"/>
              <a:buNone/>
            </a:pPr>
            <a:r>
              <a:rPr lang="en-US" sz="1600" dirty="0"/>
              <a:t>#transpose to flip the row and column names</a:t>
            </a:r>
            <a:endParaRPr sz="1600" dirty="0"/>
          </a:p>
          <a:p>
            <a:pPr marL="0" lvl="0" indent="0" algn="l" rtl="0">
              <a:lnSpc>
                <a:spcPct val="80000"/>
              </a:lnSpc>
              <a:spcBef>
                <a:spcPts val="1000"/>
              </a:spcBef>
              <a:spcAft>
                <a:spcPts val="0"/>
              </a:spcAft>
              <a:buSzPts val="770"/>
              <a:buNone/>
            </a:pPr>
            <a:r>
              <a:rPr lang="en-US" sz="1600" dirty="0">
                <a:solidFill>
                  <a:srgbClr val="FF9900"/>
                </a:solidFill>
              </a:rPr>
              <a:t>t(A)</a:t>
            </a:r>
            <a:endParaRPr sz="1600" dirty="0">
              <a:solidFill>
                <a:srgbClr val="FF9900"/>
              </a:solidFill>
            </a:endParaRPr>
          </a:p>
        </p:txBody>
      </p:sp>
      <p:sp>
        <p:nvSpPr>
          <p:cNvPr id="586" name="Google Shape;586;g145ea7f5fe7_1_296"/>
          <p:cNvSpPr txBox="1"/>
          <p:nvPr/>
        </p:nvSpPr>
        <p:spPr>
          <a:xfrm>
            <a:off x="732225" y="1101025"/>
            <a:ext cx="102201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000">
                <a:solidFill>
                  <a:schemeClr val="lt1"/>
                </a:solidFill>
              </a:rPr>
              <a:t>Matrix can also have row and column names.</a:t>
            </a:r>
            <a:endParaRPr sz="2000">
              <a:solidFill>
                <a:schemeClr val="lt1"/>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590"/>
        <p:cNvGrpSpPr/>
        <p:nvPr/>
      </p:nvGrpSpPr>
      <p:grpSpPr>
        <a:xfrm>
          <a:off x="0" y="0"/>
          <a:ext cx="0" cy="0"/>
          <a:chOff x="0" y="0"/>
          <a:chExt cx="0" cy="0"/>
        </a:xfrm>
      </p:grpSpPr>
      <p:sp>
        <p:nvSpPr>
          <p:cNvPr id="591" name="Google Shape;591;p69"/>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a:t>Uses of Matrices </a:t>
            </a:r>
            <a:endParaRPr/>
          </a:p>
        </p:txBody>
      </p:sp>
      <p:sp>
        <p:nvSpPr>
          <p:cNvPr id="592" name="Google Shape;592;p69"/>
          <p:cNvSpPr txBox="1">
            <a:spLocks noGrp="1"/>
          </p:cNvSpPr>
          <p:nvPr>
            <p:ph type="body" idx="1"/>
          </p:nvPr>
        </p:nvSpPr>
        <p:spPr>
          <a:xfrm>
            <a:off x="645131" y="1295400"/>
            <a:ext cx="10640935" cy="535093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600"/>
              <a:buChar char="►"/>
            </a:pPr>
            <a:r>
              <a:rPr lang="en-US"/>
              <a:t>Adding (mat1 + mat2)</a:t>
            </a:r>
            <a:endParaRPr/>
          </a:p>
          <a:p>
            <a:pPr marL="342900" lvl="0" indent="-342900" algn="l" rtl="0">
              <a:spcBef>
                <a:spcPts val="1000"/>
              </a:spcBef>
              <a:spcAft>
                <a:spcPts val="0"/>
              </a:spcAft>
              <a:buSzPts val="1600"/>
              <a:buChar char="►"/>
            </a:pPr>
            <a:r>
              <a:rPr lang="en-US"/>
              <a:t>Subtracting (mat1-mat2)</a:t>
            </a:r>
            <a:endParaRPr/>
          </a:p>
          <a:p>
            <a:pPr marL="342900" lvl="0" indent="-342900" algn="l" rtl="0">
              <a:spcBef>
                <a:spcPts val="1000"/>
              </a:spcBef>
              <a:spcAft>
                <a:spcPts val="0"/>
              </a:spcAft>
              <a:buSzPts val="1600"/>
              <a:buChar char="►"/>
            </a:pPr>
            <a:r>
              <a:rPr lang="en-US"/>
              <a:t>Multiply by Constant (4 * mat1)</a:t>
            </a:r>
            <a:endParaRPr/>
          </a:p>
          <a:p>
            <a:pPr marL="342900" lvl="0" indent="-342900" algn="l" rtl="0">
              <a:spcBef>
                <a:spcPts val="1000"/>
              </a:spcBef>
              <a:spcAft>
                <a:spcPts val="0"/>
              </a:spcAft>
              <a:buSzPts val="1600"/>
              <a:buChar char="►"/>
            </a:pPr>
            <a:r>
              <a:rPr lang="en-US"/>
              <a:t>Diving (mat1 / mat2)</a:t>
            </a:r>
            <a:endParaRPr/>
          </a:p>
          <a:p>
            <a:pPr marL="342900" lvl="0" indent="-342900" algn="l" rtl="0">
              <a:spcBef>
                <a:spcPts val="1000"/>
              </a:spcBef>
              <a:spcAft>
                <a:spcPts val="0"/>
              </a:spcAft>
              <a:buSzPts val="1600"/>
              <a:buChar char="►"/>
            </a:pPr>
            <a:r>
              <a:rPr lang="en-US"/>
              <a:t>Transposing (t(mat1))</a:t>
            </a:r>
            <a:endParaRPr/>
          </a:p>
          <a:p>
            <a:pPr marL="342900" lvl="0" indent="-342900" algn="l" rtl="0">
              <a:spcBef>
                <a:spcPts val="1000"/>
              </a:spcBef>
              <a:spcAft>
                <a:spcPts val="0"/>
              </a:spcAft>
              <a:buSzPts val="1600"/>
              <a:buChar char="►"/>
            </a:pPr>
            <a:r>
              <a:rPr lang="en-US" b="1"/>
              <a:t>Identity</a:t>
            </a:r>
            <a:r>
              <a:rPr lang="en-US"/>
              <a:t> Matrix (diag(4))</a:t>
            </a:r>
            <a:endParaRPr/>
          </a:p>
          <a:p>
            <a:pPr marL="342900" lvl="0" indent="-241300" algn="l" rtl="0">
              <a:spcBef>
                <a:spcPts val="1000"/>
              </a:spcBef>
              <a:spcAft>
                <a:spcPts val="0"/>
              </a:spcAft>
              <a:buSzPts val="1600"/>
              <a:buNone/>
            </a:pPr>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596"/>
        <p:cNvGrpSpPr/>
        <p:nvPr/>
      </p:nvGrpSpPr>
      <p:grpSpPr>
        <a:xfrm>
          <a:off x="0" y="0"/>
          <a:ext cx="0" cy="0"/>
          <a:chOff x="0" y="0"/>
          <a:chExt cx="0" cy="0"/>
        </a:xfrm>
      </p:grpSpPr>
      <p:sp>
        <p:nvSpPr>
          <p:cNvPr id="597" name="Google Shape;597;p70"/>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a:t>Applications of Matrices</a:t>
            </a:r>
            <a:br>
              <a:rPr lang="en-US"/>
            </a:br>
            <a:endParaRPr/>
          </a:p>
        </p:txBody>
      </p:sp>
      <p:sp>
        <p:nvSpPr>
          <p:cNvPr id="598" name="Google Shape;598;p70"/>
          <p:cNvSpPr txBox="1">
            <a:spLocks noGrp="1"/>
          </p:cNvSpPr>
          <p:nvPr>
            <p:ph type="body" idx="1"/>
          </p:nvPr>
        </p:nvSpPr>
        <p:spPr>
          <a:xfrm>
            <a:off x="645130" y="1168400"/>
            <a:ext cx="10497003" cy="55880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600"/>
              <a:buChar char="►"/>
            </a:pPr>
            <a:r>
              <a:rPr lang="en-US"/>
              <a:t>Matrices are used for</a:t>
            </a:r>
            <a:r>
              <a:rPr lang="en-US" b="1"/>
              <a:t> carrying out geological surveys</a:t>
            </a:r>
            <a:r>
              <a:rPr lang="en-US"/>
              <a:t>. We can represent information in the form of matrices that can be used for</a:t>
            </a:r>
            <a:r>
              <a:rPr lang="en-US" i="1"/>
              <a:t> plotting graphs, performing statistical operations,</a:t>
            </a:r>
            <a:r>
              <a:rPr lang="en-US"/>
              <a:t> etc.</a:t>
            </a:r>
            <a:endParaRPr/>
          </a:p>
          <a:p>
            <a:pPr marL="342900" lvl="0" indent="-342900" algn="l" rtl="0">
              <a:spcBef>
                <a:spcPts val="1000"/>
              </a:spcBef>
              <a:spcAft>
                <a:spcPts val="0"/>
              </a:spcAft>
              <a:buSzPts val="1600"/>
              <a:buChar char="►"/>
            </a:pPr>
            <a:r>
              <a:rPr lang="en-US"/>
              <a:t>To </a:t>
            </a:r>
            <a:r>
              <a:rPr lang="en-US" b="1"/>
              <a:t>represent the real-world data</a:t>
            </a:r>
            <a:r>
              <a:rPr lang="en-US"/>
              <a:t> is like traits of people’s population. They are the best representation method for plotting common survey things.</a:t>
            </a:r>
            <a:endParaRPr/>
          </a:p>
          <a:p>
            <a:pPr marL="342900" lvl="0" indent="-342900" algn="l" rtl="0">
              <a:spcBef>
                <a:spcPts val="1000"/>
              </a:spcBef>
              <a:spcAft>
                <a:spcPts val="0"/>
              </a:spcAft>
              <a:buSzPts val="1600"/>
              <a:buChar char="►"/>
            </a:pPr>
            <a:r>
              <a:rPr lang="en-US"/>
              <a:t>In robotics and automation, matrices are the </a:t>
            </a:r>
            <a:r>
              <a:rPr lang="en-US" b="1"/>
              <a:t>best elements for the robot movements</a:t>
            </a:r>
            <a:r>
              <a:rPr lang="en-US"/>
              <a:t>.</a:t>
            </a:r>
            <a:endParaRPr/>
          </a:p>
          <a:p>
            <a:pPr marL="342900" lvl="0" indent="-342900" algn="l" rtl="0">
              <a:spcBef>
                <a:spcPts val="1000"/>
              </a:spcBef>
              <a:spcAft>
                <a:spcPts val="0"/>
              </a:spcAft>
              <a:buSzPts val="1600"/>
              <a:buChar char="►"/>
            </a:pPr>
            <a:r>
              <a:rPr lang="en-US"/>
              <a:t>Matrices are used in </a:t>
            </a:r>
            <a:r>
              <a:rPr lang="en-US" b="1"/>
              <a:t>calculating the gross domestic products</a:t>
            </a:r>
            <a:r>
              <a:rPr lang="en-US"/>
              <a:t> in economics. Therefore, it helps in calculating goods product efficiency.</a:t>
            </a:r>
            <a:endParaRPr/>
          </a:p>
          <a:p>
            <a:pPr marL="342900" lvl="0" indent="-342900" algn="l" rtl="0">
              <a:spcBef>
                <a:spcPts val="1000"/>
              </a:spcBef>
              <a:spcAft>
                <a:spcPts val="0"/>
              </a:spcAft>
              <a:buSzPts val="1600"/>
              <a:buChar char="►"/>
            </a:pPr>
            <a:r>
              <a:rPr lang="en-US"/>
              <a:t>In computer-based applications, matrices play a vital role in the </a:t>
            </a:r>
            <a:r>
              <a:rPr lang="en-US" b="1"/>
              <a:t>projection of a three-dimensional image into a two-dimensional screen</a:t>
            </a:r>
            <a:r>
              <a:rPr lang="en-US"/>
              <a:t> creating realistic seeming motions.</a:t>
            </a:r>
            <a:endParaRPr/>
          </a:p>
          <a:p>
            <a:pPr marL="342900" lvl="0" indent="-342900" algn="l" rtl="0">
              <a:spcBef>
                <a:spcPts val="1000"/>
              </a:spcBef>
              <a:spcAft>
                <a:spcPts val="0"/>
              </a:spcAft>
              <a:buSzPts val="1600"/>
              <a:buChar char="►"/>
            </a:pPr>
            <a:r>
              <a:rPr lang="en-US"/>
              <a:t>In physical related applications, matrices can be applied in the </a:t>
            </a:r>
            <a:r>
              <a:rPr lang="en-US" b="1"/>
              <a:t>study of an electrical circuit</a:t>
            </a:r>
            <a:r>
              <a:rPr lang="en-US"/>
              <a:t>.</a:t>
            </a:r>
            <a:endParaRPr/>
          </a:p>
          <a:p>
            <a:pPr marL="342900" lvl="0" indent="-241300" algn="l" rtl="0">
              <a:spcBef>
                <a:spcPts val="1000"/>
              </a:spcBef>
              <a:spcAft>
                <a:spcPts val="0"/>
              </a:spcAft>
              <a:buSzPts val="1600"/>
              <a:buNone/>
            </a:pPr>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602"/>
        <p:cNvGrpSpPr/>
        <p:nvPr/>
      </p:nvGrpSpPr>
      <p:grpSpPr>
        <a:xfrm>
          <a:off x="0" y="0"/>
          <a:ext cx="0" cy="0"/>
          <a:chOff x="0" y="0"/>
          <a:chExt cx="0" cy="0"/>
        </a:xfrm>
      </p:grpSpPr>
      <p:sp>
        <p:nvSpPr>
          <p:cNvPr id="603" name="Google Shape;603;p71"/>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a:t>R Array</a:t>
            </a:r>
            <a:br>
              <a:rPr lang="en-US"/>
            </a:br>
            <a:endParaRPr/>
          </a:p>
        </p:txBody>
      </p:sp>
      <p:sp>
        <p:nvSpPr>
          <p:cNvPr id="604" name="Google Shape;604;p71"/>
          <p:cNvSpPr txBox="1">
            <a:spLocks noGrp="1"/>
          </p:cNvSpPr>
          <p:nvPr>
            <p:ph type="body" idx="1"/>
          </p:nvPr>
        </p:nvSpPr>
        <p:spPr>
          <a:xfrm>
            <a:off x="645130" y="1329268"/>
            <a:ext cx="10624003" cy="5325532"/>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600"/>
              <a:buChar char="►"/>
            </a:pPr>
            <a:r>
              <a:rPr lang="en-US"/>
              <a:t>In R Programming, arrays are multi-dimensional Data structures.</a:t>
            </a:r>
            <a:endParaRPr/>
          </a:p>
          <a:p>
            <a:pPr marL="342900" lvl="0" indent="-342900" algn="l" rtl="0">
              <a:spcBef>
                <a:spcPts val="1000"/>
              </a:spcBef>
              <a:spcAft>
                <a:spcPts val="0"/>
              </a:spcAft>
              <a:buSzPts val="1600"/>
              <a:buChar char="►"/>
            </a:pPr>
            <a:r>
              <a:rPr lang="en-US"/>
              <a:t>In an array, data is stored in the form of matrices, row, and as well as in columns. We can use the </a:t>
            </a:r>
            <a:r>
              <a:rPr lang="en-US" i="1"/>
              <a:t>matrix level, row index, and column index</a:t>
            </a:r>
            <a:r>
              <a:rPr lang="en-US"/>
              <a:t> to access the matrix elements.</a:t>
            </a:r>
            <a:endParaRPr/>
          </a:p>
          <a:p>
            <a:pPr marL="342900" lvl="0" indent="-342900" algn="l" rtl="0">
              <a:spcBef>
                <a:spcPts val="1000"/>
              </a:spcBef>
              <a:spcAft>
                <a:spcPts val="0"/>
              </a:spcAft>
              <a:buSzPts val="1600"/>
              <a:buChar char="►"/>
            </a:pPr>
            <a:r>
              <a:rPr lang="en-US"/>
              <a:t>Arrays in R are the data objects which can store data in more than two dimensions. </a:t>
            </a:r>
            <a:endParaRPr/>
          </a:p>
          <a:p>
            <a:pPr marL="342900" lvl="0" indent="-342900" algn="l" rtl="0">
              <a:spcBef>
                <a:spcPts val="1000"/>
              </a:spcBef>
              <a:spcAft>
                <a:spcPts val="0"/>
              </a:spcAft>
              <a:buSzPts val="1600"/>
              <a:buChar char="►"/>
            </a:pPr>
            <a:r>
              <a:rPr lang="en-US"/>
              <a:t>An array is created using the </a:t>
            </a:r>
            <a:r>
              <a:rPr lang="en-US" i="1"/>
              <a:t>array()</a:t>
            </a:r>
            <a:r>
              <a:rPr lang="en-US"/>
              <a:t> function. </a:t>
            </a:r>
            <a:endParaRPr/>
          </a:p>
          <a:p>
            <a:pPr marL="342900" lvl="0" indent="-342900" algn="l" rtl="0">
              <a:spcBef>
                <a:spcPts val="1000"/>
              </a:spcBef>
              <a:spcAft>
                <a:spcPts val="0"/>
              </a:spcAft>
              <a:buSzPts val="1600"/>
              <a:buChar char="►"/>
            </a:pPr>
            <a:r>
              <a:rPr lang="en-US"/>
              <a:t>We can use vectors as input. To create an array, we can use these values in the dim parameter.</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608"/>
        <p:cNvGrpSpPr/>
        <p:nvPr/>
      </p:nvGrpSpPr>
      <p:grpSpPr>
        <a:xfrm>
          <a:off x="0" y="0"/>
          <a:ext cx="0" cy="0"/>
          <a:chOff x="0" y="0"/>
          <a:chExt cx="0" cy="0"/>
        </a:xfrm>
      </p:grpSpPr>
      <p:sp>
        <p:nvSpPr>
          <p:cNvPr id="609" name="Google Shape;609;p72"/>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a:t>R Array Examples </a:t>
            </a:r>
            <a:endParaRPr/>
          </a:p>
        </p:txBody>
      </p:sp>
      <p:sp>
        <p:nvSpPr>
          <p:cNvPr id="610" name="Google Shape;610;p72"/>
          <p:cNvSpPr txBox="1">
            <a:spLocks noGrp="1"/>
          </p:cNvSpPr>
          <p:nvPr>
            <p:ph type="body" idx="1"/>
          </p:nvPr>
        </p:nvSpPr>
        <p:spPr>
          <a:xfrm>
            <a:off x="829733" y="1202267"/>
            <a:ext cx="10236199" cy="5469465"/>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600"/>
              <a:buChar char="►"/>
            </a:pPr>
            <a:r>
              <a:rPr lang="en-US" dirty="0"/>
              <a:t>An array is essentially a multidimensional vector. Similar to matrix but have more than two dimensions. It must all be of the same type, and individual elements are accessed in a similar fashion using square brackets. The first element is the row index, the second is the column index and the remaining elements are for outer dimensions.</a:t>
            </a:r>
            <a:endParaRPr dirty="0"/>
          </a:p>
          <a:p>
            <a:pPr marL="342900" lvl="0" indent="-332740" algn="l" rtl="0">
              <a:spcBef>
                <a:spcPts val="0"/>
              </a:spcBef>
              <a:spcAft>
                <a:spcPts val="0"/>
              </a:spcAft>
              <a:buSzPts val="1440"/>
              <a:buChar char="►"/>
            </a:pPr>
            <a:r>
              <a:rPr lang="en-US" dirty="0" err="1"/>
              <a:t>myarray</a:t>
            </a:r>
            <a:r>
              <a:rPr lang="en-US" dirty="0"/>
              <a:t> &lt;- array(vector, dimensions, </a:t>
            </a:r>
            <a:r>
              <a:rPr lang="en-US" dirty="0" err="1"/>
              <a:t>dimnames</a:t>
            </a:r>
            <a:r>
              <a:rPr lang="en-US" dirty="0"/>
              <a:t>)</a:t>
            </a:r>
            <a:endParaRPr dirty="0"/>
          </a:p>
          <a:p>
            <a:pPr marL="0" lvl="0" indent="0" algn="l" rtl="0">
              <a:spcBef>
                <a:spcPts val="0"/>
              </a:spcBef>
              <a:spcAft>
                <a:spcPts val="0"/>
              </a:spcAft>
              <a:buNone/>
            </a:pPr>
            <a:r>
              <a:rPr lang="en-US" dirty="0" err="1">
                <a:solidFill>
                  <a:srgbClr val="FF9900"/>
                </a:solidFill>
              </a:rPr>
              <a:t>theArray</a:t>
            </a:r>
            <a:r>
              <a:rPr lang="en-US" dirty="0">
                <a:solidFill>
                  <a:srgbClr val="FF9900"/>
                </a:solidFill>
              </a:rPr>
              <a:t> &lt;- array(1:12, dim=c(2, 3, 2))</a:t>
            </a:r>
            <a:endParaRPr dirty="0">
              <a:solidFill>
                <a:srgbClr val="FF9900"/>
              </a:solidFill>
            </a:endParaRPr>
          </a:p>
          <a:p>
            <a:pPr marL="0" lvl="0" indent="0" algn="l" rtl="0">
              <a:spcBef>
                <a:spcPts val="0"/>
              </a:spcBef>
              <a:spcAft>
                <a:spcPts val="0"/>
              </a:spcAft>
              <a:buNone/>
            </a:pPr>
            <a:r>
              <a:rPr lang="en-US" dirty="0">
                <a:solidFill>
                  <a:srgbClr val="FF9900"/>
                </a:solidFill>
              </a:rPr>
              <a:t>&gt; </a:t>
            </a:r>
            <a:r>
              <a:rPr lang="en-US" dirty="0" err="1">
                <a:solidFill>
                  <a:srgbClr val="FF9900"/>
                </a:solidFill>
              </a:rPr>
              <a:t>theArray</a:t>
            </a:r>
            <a:endParaRPr dirty="0">
              <a:solidFill>
                <a:srgbClr val="FF9900"/>
              </a:solidFill>
            </a:endParaRPr>
          </a:p>
          <a:p>
            <a:pPr marL="0" lvl="0" indent="0" algn="l" rtl="0">
              <a:spcBef>
                <a:spcPts val="0"/>
              </a:spcBef>
              <a:spcAft>
                <a:spcPts val="0"/>
              </a:spcAft>
              <a:buNone/>
            </a:pPr>
            <a:r>
              <a:rPr lang="en-US" dirty="0">
                <a:solidFill>
                  <a:srgbClr val="FF9900"/>
                </a:solidFill>
              </a:rPr>
              <a:t>, , 1</a:t>
            </a:r>
            <a:endParaRPr dirty="0">
              <a:solidFill>
                <a:srgbClr val="FF9900"/>
              </a:solidFill>
            </a:endParaRPr>
          </a:p>
          <a:p>
            <a:pPr marL="0" lvl="0" indent="0" algn="l" rtl="0">
              <a:spcBef>
                <a:spcPts val="0"/>
              </a:spcBef>
              <a:spcAft>
                <a:spcPts val="0"/>
              </a:spcAft>
              <a:buNone/>
            </a:pPr>
            <a:r>
              <a:rPr lang="en-US" dirty="0">
                <a:solidFill>
                  <a:srgbClr val="FF9900"/>
                </a:solidFill>
              </a:rPr>
              <a:t>[,1] [,2] [,3]</a:t>
            </a:r>
            <a:endParaRPr dirty="0">
              <a:solidFill>
                <a:srgbClr val="FF9900"/>
              </a:solidFill>
            </a:endParaRPr>
          </a:p>
          <a:p>
            <a:pPr marL="0" lvl="0" indent="0" algn="l" rtl="0">
              <a:spcBef>
                <a:spcPts val="0"/>
              </a:spcBef>
              <a:spcAft>
                <a:spcPts val="0"/>
              </a:spcAft>
              <a:buNone/>
            </a:pPr>
            <a:r>
              <a:rPr lang="en-US" dirty="0">
                <a:solidFill>
                  <a:srgbClr val="FF9900"/>
                </a:solidFill>
              </a:rPr>
              <a:t>[1,] 1 3 5</a:t>
            </a:r>
            <a:endParaRPr dirty="0">
              <a:solidFill>
                <a:srgbClr val="FF9900"/>
              </a:solidFill>
            </a:endParaRPr>
          </a:p>
          <a:p>
            <a:pPr marL="0" lvl="0" indent="0" algn="l" rtl="0">
              <a:spcBef>
                <a:spcPts val="0"/>
              </a:spcBef>
              <a:spcAft>
                <a:spcPts val="0"/>
              </a:spcAft>
              <a:buNone/>
            </a:pPr>
            <a:r>
              <a:rPr lang="en-US" dirty="0">
                <a:solidFill>
                  <a:srgbClr val="FF9900"/>
                </a:solidFill>
              </a:rPr>
              <a:t>[2,] 2 4 6</a:t>
            </a:r>
            <a:endParaRPr dirty="0">
              <a:solidFill>
                <a:srgbClr val="FF9900"/>
              </a:solidFill>
            </a:endParaRPr>
          </a:p>
          <a:p>
            <a:pPr marL="0" lvl="0" indent="0" algn="l" rtl="0">
              <a:spcBef>
                <a:spcPts val="0"/>
              </a:spcBef>
              <a:spcAft>
                <a:spcPts val="0"/>
              </a:spcAft>
              <a:buClr>
                <a:schemeClr val="dk1"/>
              </a:buClr>
              <a:buSzPts val="1100"/>
              <a:buFont typeface="Arial"/>
              <a:buNone/>
            </a:pPr>
            <a:r>
              <a:rPr lang="en-US" dirty="0">
                <a:solidFill>
                  <a:srgbClr val="FF9900"/>
                </a:solidFill>
              </a:rPr>
              <a:t>, 2</a:t>
            </a:r>
            <a:endParaRPr dirty="0">
              <a:solidFill>
                <a:srgbClr val="FF9900"/>
              </a:solidFill>
            </a:endParaRPr>
          </a:p>
          <a:p>
            <a:pPr marL="0" lvl="0" indent="0" algn="l" rtl="0">
              <a:spcBef>
                <a:spcPts val="0"/>
              </a:spcBef>
              <a:spcAft>
                <a:spcPts val="0"/>
              </a:spcAft>
              <a:buClr>
                <a:schemeClr val="dk1"/>
              </a:buClr>
              <a:buSzPts val="1100"/>
              <a:buFont typeface="Arial"/>
              <a:buNone/>
            </a:pPr>
            <a:r>
              <a:rPr lang="en-US" dirty="0">
                <a:solidFill>
                  <a:srgbClr val="FF9900"/>
                </a:solidFill>
              </a:rPr>
              <a:t>[,1] [,2] [,3]</a:t>
            </a:r>
            <a:endParaRPr dirty="0">
              <a:solidFill>
                <a:srgbClr val="FF9900"/>
              </a:solidFill>
            </a:endParaRPr>
          </a:p>
          <a:p>
            <a:pPr marL="0" lvl="0" indent="0" algn="l" rtl="0">
              <a:spcBef>
                <a:spcPts val="0"/>
              </a:spcBef>
              <a:spcAft>
                <a:spcPts val="0"/>
              </a:spcAft>
              <a:buClr>
                <a:schemeClr val="dk1"/>
              </a:buClr>
              <a:buSzPts val="1100"/>
              <a:buFont typeface="Arial"/>
              <a:buNone/>
            </a:pPr>
            <a:r>
              <a:rPr lang="en-US" dirty="0">
                <a:solidFill>
                  <a:srgbClr val="FF9900"/>
                </a:solidFill>
              </a:rPr>
              <a:t>[1,] 7 9 11</a:t>
            </a:r>
            <a:endParaRPr dirty="0">
              <a:solidFill>
                <a:srgbClr val="FF9900"/>
              </a:solidFill>
            </a:endParaRPr>
          </a:p>
          <a:p>
            <a:pPr marL="0" lvl="0" indent="0" algn="l" rtl="0">
              <a:spcBef>
                <a:spcPts val="0"/>
              </a:spcBef>
              <a:spcAft>
                <a:spcPts val="0"/>
              </a:spcAft>
              <a:buNone/>
            </a:pPr>
            <a:r>
              <a:rPr lang="en-US" dirty="0">
                <a:solidFill>
                  <a:srgbClr val="FF9900"/>
                </a:solidFill>
              </a:rPr>
              <a:t>[2,] 8 10 12</a:t>
            </a:r>
            <a:endParaRPr dirty="0">
              <a:solidFill>
                <a:srgbClr val="FF9900"/>
              </a:solidFill>
            </a:endParaRPr>
          </a:p>
        </p:txBody>
      </p:sp>
      <p:pic>
        <p:nvPicPr>
          <p:cNvPr id="611" name="Google Shape;611;p72"/>
          <p:cNvPicPr preferRelativeResize="0"/>
          <p:nvPr/>
        </p:nvPicPr>
        <p:blipFill rotWithShape="1">
          <a:blip r:embed="rId3">
            <a:alphaModFix/>
          </a:blip>
          <a:srcRect l="7980" t="16756" r="2549" b="20837"/>
          <a:stretch/>
        </p:blipFill>
        <p:spPr>
          <a:xfrm>
            <a:off x="5589525" y="3230175"/>
            <a:ext cx="6558924" cy="3535001"/>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615"/>
        <p:cNvGrpSpPr/>
        <p:nvPr/>
      </p:nvGrpSpPr>
      <p:grpSpPr>
        <a:xfrm>
          <a:off x="0" y="0"/>
          <a:ext cx="0" cy="0"/>
          <a:chOff x="0" y="0"/>
          <a:chExt cx="0" cy="0"/>
        </a:xfrm>
      </p:grpSpPr>
      <p:sp>
        <p:nvSpPr>
          <p:cNvPr id="616" name="Google Shape;616;p76"/>
          <p:cNvSpPr txBox="1">
            <a:spLocks noGrp="1"/>
          </p:cNvSpPr>
          <p:nvPr>
            <p:ph type="title"/>
          </p:nvPr>
        </p:nvSpPr>
        <p:spPr>
          <a:xfrm>
            <a:off x="656411" y="133018"/>
            <a:ext cx="9404700" cy="6987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a:t>Data Frame </a:t>
            </a:r>
            <a:endParaRPr/>
          </a:p>
        </p:txBody>
      </p:sp>
      <p:sp>
        <p:nvSpPr>
          <p:cNvPr id="617" name="Google Shape;617;p76"/>
          <p:cNvSpPr txBox="1">
            <a:spLocks noGrp="1"/>
          </p:cNvSpPr>
          <p:nvPr>
            <p:ph type="body" idx="1"/>
          </p:nvPr>
        </p:nvSpPr>
        <p:spPr>
          <a:xfrm>
            <a:off x="762000" y="876575"/>
            <a:ext cx="10371600" cy="5981400"/>
          </a:xfrm>
          <a:prstGeom prst="rect">
            <a:avLst/>
          </a:prstGeom>
          <a:noFill/>
          <a:ln>
            <a:noFill/>
          </a:ln>
        </p:spPr>
        <p:txBody>
          <a:bodyPr spcFirstLastPara="1" wrap="square" lIns="91425" tIns="45700" rIns="91425" bIns="45700" anchor="t" anchorCtr="0">
            <a:normAutofit/>
          </a:bodyPr>
          <a:lstStyle/>
          <a:p>
            <a:pPr marL="342900" lvl="0" indent="-342900" algn="l" rtl="0">
              <a:spcBef>
                <a:spcPts val="1000"/>
              </a:spcBef>
              <a:spcAft>
                <a:spcPts val="0"/>
              </a:spcAft>
              <a:buSzPts val="1600"/>
              <a:buChar char="►"/>
            </a:pPr>
            <a:r>
              <a:rPr lang="en-US"/>
              <a:t>It generally refers to </a:t>
            </a:r>
            <a:r>
              <a:rPr lang="en-US" i="1"/>
              <a:t>tabular data: a data structure representing the cases (rows), each of which consists of numbers of observation or measurement (columns).</a:t>
            </a:r>
            <a:endParaRPr/>
          </a:p>
          <a:p>
            <a:pPr marL="342900" lvl="0" indent="-342900" algn="l" rtl="0">
              <a:spcBef>
                <a:spcPts val="1000"/>
              </a:spcBef>
              <a:spcAft>
                <a:spcPts val="0"/>
              </a:spcAft>
              <a:buSzPts val="1600"/>
              <a:buChar char="►"/>
            </a:pPr>
            <a:r>
              <a:rPr lang="en-US"/>
              <a:t>A data frame is more general than </a:t>
            </a:r>
            <a:r>
              <a:rPr lang="en-US">
                <a:solidFill>
                  <a:srgbClr val="FF9900"/>
                </a:solidFill>
              </a:rPr>
              <a:t>a matrix in that different columns can contain different modes of data (numeric, character, and so on)</a:t>
            </a:r>
            <a:r>
              <a:rPr lang="en-US"/>
              <a:t>. (</a:t>
            </a:r>
            <a:r>
              <a:rPr lang="en-US" sz="1800" b="1"/>
              <a:t>matrices can only contain a single class of data !!)</a:t>
            </a:r>
            <a:endParaRPr/>
          </a:p>
          <a:p>
            <a:pPr marL="342900" lvl="0" indent="-332740" algn="l" rtl="0">
              <a:spcBef>
                <a:spcPts val="1000"/>
              </a:spcBef>
              <a:spcAft>
                <a:spcPts val="0"/>
              </a:spcAft>
              <a:buSzPts val="1440"/>
              <a:buChar char="►"/>
            </a:pPr>
            <a:r>
              <a:rPr lang="en-US"/>
              <a:t>It’s similar to the dataset you’d typically see in SAS, SPSS, and Stata, excel. Data frames are the most common data structure you’ll deal with in R.</a:t>
            </a:r>
            <a:endParaRPr/>
          </a:p>
          <a:p>
            <a:pPr marL="342900" lvl="0" indent="-353060" algn="l" rtl="0">
              <a:spcBef>
                <a:spcPts val="1000"/>
              </a:spcBef>
              <a:spcAft>
                <a:spcPts val="0"/>
              </a:spcAft>
              <a:buSzPts val="1600"/>
              <a:buChar char="►"/>
            </a:pPr>
            <a:r>
              <a:rPr lang="en-US" b="1"/>
              <a:t>Characteristics of a Data Frame:</a:t>
            </a:r>
            <a:endParaRPr/>
          </a:p>
          <a:p>
            <a:pPr marL="342900" lvl="0" indent="-353060" algn="l" rtl="0">
              <a:spcBef>
                <a:spcPts val="1000"/>
              </a:spcBef>
              <a:spcAft>
                <a:spcPts val="0"/>
              </a:spcAft>
              <a:buSzPts val="1600"/>
              <a:buChar char="►"/>
            </a:pPr>
            <a:r>
              <a:rPr lang="en-US"/>
              <a:t>The column names should be non-empty.</a:t>
            </a:r>
            <a:endParaRPr/>
          </a:p>
          <a:p>
            <a:pPr marL="342900" lvl="0" indent="-353060" algn="l" rtl="0">
              <a:spcBef>
                <a:spcPts val="1000"/>
              </a:spcBef>
              <a:spcAft>
                <a:spcPts val="0"/>
              </a:spcAft>
              <a:buSzPts val="1600"/>
              <a:buChar char="►"/>
            </a:pPr>
            <a:r>
              <a:rPr lang="en-US"/>
              <a:t>The row names should be unique.</a:t>
            </a:r>
            <a:endParaRPr/>
          </a:p>
          <a:p>
            <a:pPr marL="342900" lvl="0" indent="-353060" algn="l" rtl="0">
              <a:spcBef>
                <a:spcPts val="1000"/>
              </a:spcBef>
              <a:spcAft>
                <a:spcPts val="0"/>
              </a:spcAft>
              <a:buSzPts val="1600"/>
              <a:buChar char="►"/>
            </a:pPr>
            <a:r>
              <a:rPr lang="en-US"/>
              <a:t>The data stored in a data frame can be of </a:t>
            </a:r>
            <a:r>
              <a:rPr lang="en-US" i="1"/>
              <a:t>numeric, factor or character type.</a:t>
            </a:r>
            <a:endParaRPr/>
          </a:p>
          <a:p>
            <a:pPr marL="342900" lvl="0" indent="-353060" algn="l" rtl="0">
              <a:spcBef>
                <a:spcPts val="1000"/>
              </a:spcBef>
              <a:spcAft>
                <a:spcPts val="0"/>
              </a:spcAft>
              <a:buSzPts val="1600"/>
              <a:buChar char="►"/>
            </a:pPr>
            <a:r>
              <a:rPr lang="en-US"/>
              <a:t>Each column should contain the same number of data items.</a:t>
            </a:r>
            <a:endParaRPr/>
          </a:p>
          <a:p>
            <a:pPr marL="342900" lvl="0" indent="-353060" algn="l" rtl="0">
              <a:spcBef>
                <a:spcPts val="1000"/>
              </a:spcBef>
              <a:spcAft>
                <a:spcPts val="0"/>
              </a:spcAft>
              <a:buSzPts val="1600"/>
              <a:buChar char="►"/>
            </a:pPr>
            <a:r>
              <a:rPr lang="en-US"/>
              <a:t>Datasets imported in R are stored as data frames by default.</a:t>
            </a:r>
            <a:endParaRPr/>
          </a:p>
          <a:p>
            <a:pPr marL="342900" lvl="0" indent="-241300" algn="l" rtl="0">
              <a:spcBef>
                <a:spcPts val="1000"/>
              </a:spcBef>
              <a:spcAft>
                <a:spcPts val="0"/>
              </a:spcAft>
              <a:buSzPts val="1600"/>
              <a:buNone/>
            </a:pPr>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621"/>
        <p:cNvGrpSpPr/>
        <p:nvPr/>
      </p:nvGrpSpPr>
      <p:grpSpPr>
        <a:xfrm>
          <a:off x="0" y="0"/>
          <a:ext cx="0" cy="0"/>
          <a:chOff x="0" y="0"/>
          <a:chExt cx="0" cy="0"/>
        </a:xfrm>
      </p:grpSpPr>
      <p:sp>
        <p:nvSpPr>
          <p:cNvPr id="622" name="Google Shape;622;g145ea7f5fe7_1_344"/>
          <p:cNvSpPr txBox="1">
            <a:spLocks noGrp="1"/>
          </p:cNvSpPr>
          <p:nvPr>
            <p:ph type="title"/>
          </p:nvPr>
        </p:nvSpPr>
        <p:spPr>
          <a:xfrm>
            <a:off x="646111" y="452718"/>
            <a:ext cx="9404700" cy="1400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Data frame</a:t>
            </a:r>
            <a:endParaRPr/>
          </a:p>
        </p:txBody>
      </p:sp>
      <p:sp>
        <p:nvSpPr>
          <p:cNvPr id="623" name="Google Shape;623;g145ea7f5fe7_1_344"/>
          <p:cNvSpPr txBox="1">
            <a:spLocks noGrp="1"/>
          </p:cNvSpPr>
          <p:nvPr>
            <p:ph type="body" idx="1"/>
          </p:nvPr>
        </p:nvSpPr>
        <p:spPr>
          <a:xfrm>
            <a:off x="1103312" y="2052918"/>
            <a:ext cx="8946600" cy="4195500"/>
          </a:xfrm>
          <a:prstGeom prst="rect">
            <a:avLst/>
          </a:prstGeom>
        </p:spPr>
        <p:txBody>
          <a:bodyPr spcFirstLastPara="1" wrap="square" lIns="91425" tIns="45700" rIns="91425" bIns="45700" anchor="t" anchorCtr="0">
            <a:normAutofit fontScale="92500" lnSpcReduction="20000"/>
          </a:bodyPr>
          <a:lstStyle/>
          <a:p>
            <a:pPr marL="0" lvl="0" indent="0" algn="l" rtl="0">
              <a:spcBef>
                <a:spcPts val="1000"/>
              </a:spcBef>
              <a:spcAft>
                <a:spcPts val="0"/>
              </a:spcAft>
              <a:buClr>
                <a:schemeClr val="dk1"/>
              </a:buClr>
              <a:buSzPct val="55000"/>
              <a:buFont typeface="Arial"/>
              <a:buNone/>
            </a:pPr>
            <a:r>
              <a:rPr lang="en-US">
                <a:solidFill>
                  <a:srgbClr val="FF9900"/>
                </a:solidFill>
              </a:rPr>
              <a:t>patientID &lt;- c(1, 2, 3, 4)</a:t>
            </a:r>
            <a:endParaRPr>
              <a:solidFill>
                <a:srgbClr val="FF9900"/>
              </a:solidFill>
            </a:endParaRPr>
          </a:p>
          <a:p>
            <a:pPr marL="0" lvl="0" indent="0" algn="l" rtl="0">
              <a:spcBef>
                <a:spcPts val="1000"/>
              </a:spcBef>
              <a:spcAft>
                <a:spcPts val="0"/>
              </a:spcAft>
              <a:buClr>
                <a:schemeClr val="dk1"/>
              </a:buClr>
              <a:buSzPct val="55000"/>
              <a:buFont typeface="Arial"/>
              <a:buNone/>
            </a:pPr>
            <a:r>
              <a:rPr lang="en-US">
                <a:solidFill>
                  <a:srgbClr val="FF9900"/>
                </a:solidFill>
              </a:rPr>
              <a:t>&gt; age &lt;- c(25, 34, 28, 52)</a:t>
            </a:r>
            <a:endParaRPr>
              <a:solidFill>
                <a:srgbClr val="FF9900"/>
              </a:solidFill>
            </a:endParaRPr>
          </a:p>
          <a:p>
            <a:pPr marL="0" lvl="0" indent="0" algn="l" rtl="0">
              <a:spcBef>
                <a:spcPts val="1000"/>
              </a:spcBef>
              <a:spcAft>
                <a:spcPts val="0"/>
              </a:spcAft>
              <a:buClr>
                <a:schemeClr val="dk1"/>
              </a:buClr>
              <a:buSzPct val="55000"/>
              <a:buFont typeface="Arial"/>
              <a:buNone/>
            </a:pPr>
            <a:r>
              <a:rPr lang="en-US">
                <a:solidFill>
                  <a:srgbClr val="FF9900"/>
                </a:solidFill>
              </a:rPr>
              <a:t>&gt; diabetes &lt;- c("Type1", "Type2", "Type1", "Type1")</a:t>
            </a:r>
            <a:endParaRPr>
              <a:solidFill>
                <a:srgbClr val="FF9900"/>
              </a:solidFill>
            </a:endParaRPr>
          </a:p>
          <a:p>
            <a:pPr marL="0" lvl="0" indent="0" algn="l" rtl="0">
              <a:spcBef>
                <a:spcPts val="1000"/>
              </a:spcBef>
              <a:spcAft>
                <a:spcPts val="0"/>
              </a:spcAft>
              <a:buClr>
                <a:schemeClr val="dk1"/>
              </a:buClr>
              <a:buSzPct val="55000"/>
              <a:buFont typeface="Arial"/>
              <a:buNone/>
            </a:pPr>
            <a:r>
              <a:rPr lang="en-US">
                <a:solidFill>
                  <a:srgbClr val="FF9900"/>
                </a:solidFill>
              </a:rPr>
              <a:t>&gt; status &lt;- c("Poor", "Improved", "Excellent", "Poor")</a:t>
            </a:r>
            <a:endParaRPr>
              <a:solidFill>
                <a:srgbClr val="FF9900"/>
              </a:solidFill>
            </a:endParaRPr>
          </a:p>
          <a:p>
            <a:pPr marL="0" lvl="0" indent="0" algn="l" rtl="0">
              <a:spcBef>
                <a:spcPts val="1000"/>
              </a:spcBef>
              <a:spcAft>
                <a:spcPts val="0"/>
              </a:spcAft>
              <a:buClr>
                <a:schemeClr val="dk1"/>
              </a:buClr>
              <a:buSzPct val="55000"/>
              <a:buFont typeface="Arial"/>
              <a:buNone/>
            </a:pPr>
            <a:r>
              <a:rPr lang="en-US">
                <a:solidFill>
                  <a:srgbClr val="FF9900"/>
                </a:solidFill>
              </a:rPr>
              <a:t>&gt; patientdata &lt;- data.frame(patientID, age, diabetes, status)</a:t>
            </a:r>
            <a:endParaRPr>
              <a:solidFill>
                <a:srgbClr val="FF9900"/>
              </a:solidFill>
            </a:endParaRPr>
          </a:p>
          <a:p>
            <a:pPr marL="0" lvl="0" indent="0" algn="l" rtl="0">
              <a:spcBef>
                <a:spcPts val="1000"/>
              </a:spcBef>
              <a:spcAft>
                <a:spcPts val="0"/>
              </a:spcAft>
              <a:buClr>
                <a:schemeClr val="dk1"/>
              </a:buClr>
              <a:buSzPct val="55000"/>
              <a:buFont typeface="Arial"/>
              <a:buNone/>
            </a:pPr>
            <a:r>
              <a:rPr lang="en-US">
                <a:solidFill>
                  <a:srgbClr val="FF9900"/>
                </a:solidFill>
              </a:rPr>
              <a:t>&gt; patientdata</a:t>
            </a:r>
            <a:endParaRPr>
              <a:solidFill>
                <a:srgbClr val="FF9900"/>
              </a:solidFill>
            </a:endParaRPr>
          </a:p>
          <a:p>
            <a:pPr marL="0" lvl="0" indent="0" algn="l" rtl="0">
              <a:spcBef>
                <a:spcPts val="1000"/>
              </a:spcBef>
              <a:spcAft>
                <a:spcPts val="0"/>
              </a:spcAft>
              <a:buClr>
                <a:schemeClr val="dk1"/>
              </a:buClr>
              <a:buSzPct val="55000"/>
              <a:buFont typeface="Arial"/>
              <a:buNone/>
            </a:pPr>
            <a:r>
              <a:rPr lang="en-US">
                <a:solidFill>
                  <a:srgbClr val="FF9900"/>
                </a:solidFill>
              </a:rPr>
              <a:t>patientID age diabetes status</a:t>
            </a:r>
            <a:endParaRPr>
              <a:solidFill>
                <a:srgbClr val="FF9900"/>
              </a:solidFill>
            </a:endParaRPr>
          </a:p>
          <a:p>
            <a:pPr marL="0" lvl="0" indent="0" algn="l" rtl="0">
              <a:spcBef>
                <a:spcPts val="1000"/>
              </a:spcBef>
              <a:spcAft>
                <a:spcPts val="0"/>
              </a:spcAft>
              <a:buClr>
                <a:schemeClr val="dk1"/>
              </a:buClr>
              <a:buSzPct val="55000"/>
              <a:buFont typeface="Arial"/>
              <a:buNone/>
            </a:pPr>
            <a:r>
              <a:rPr lang="en-US">
                <a:solidFill>
                  <a:srgbClr val="FF9900"/>
                </a:solidFill>
              </a:rPr>
              <a:t>1 1 25 Type1 Poor</a:t>
            </a:r>
            <a:endParaRPr>
              <a:solidFill>
                <a:srgbClr val="FF9900"/>
              </a:solidFill>
            </a:endParaRPr>
          </a:p>
          <a:p>
            <a:pPr marL="0" lvl="0" indent="0" algn="l" rtl="0">
              <a:spcBef>
                <a:spcPts val="1000"/>
              </a:spcBef>
              <a:spcAft>
                <a:spcPts val="0"/>
              </a:spcAft>
              <a:buClr>
                <a:schemeClr val="dk1"/>
              </a:buClr>
              <a:buSzPct val="55000"/>
              <a:buFont typeface="Arial"/>
              <a:buNone/>
            </a:pPr>
            <a:r>
              <a:rPr lang="en-US">
                <a:solidFill>
                  <a:srgbClr val="FF9900"/>
                </a:solidFill>
              </a:rPr>
              <a:t>2 2 34 Type2 Improved</a:t>
            </a:r>
            <a:endParaRPr>
              <a:solidFill>
                <a:srgbClr val="FF9900"/>
              </a:solidFill>
            </a:endParaRPr>
          </a:p>
          <a:p>
            <a:pPr marL="0" lvl="0" indent="0" algn="l" rtl="0">
              <a:spcBef>
                <a:spcPts val="1000"/>
              </a:spcBef>
              <a:spcAft>
                <a:spcPts val="0"/>
              </a:spcAft>
              <a:buClr>
                <a:schemeClr val="dk1"/>
              </a:buClr>
              <a:buSzPct val="55000"/>
              <a:buFont typeface="Arial"/>
              <a:buNone/>
            </a:pPr>
            <a:r>
              <a:rPr lang="en-US">
                <a:solidFill>
                  <a:srgbClr val="FF9900"/>
                </a:solidFill>
              </a:rPr>
              <a:t>3 3 28 Type1 Excellent</a:t>
            </a:r>
            <a:endParaRPr>
              <a:solidFill>
                <a:srgbClr val="FF9900"/>
              </a:solidFill>
            </a:endParaRPr>
          </a:p>
          <a:p>
            <a:pPr marL="0" lvl="0" indent="0" algn="l" rtl="0">
              <a:spcBef>
                <a:spcPts val="1000"/>
              </a:spcBef>
              <a:spcAft>
                <a:spcPts val="0"/>
              </a:spcAft>
              <a:buClr>
                <a:schemeClr val="dk1"/>
              </a:buClr>
              <a:buSzPct val="55000"/>
              <a:buFont typeface="Arial"/>
              <a:buNone/>
            </a:pPr>
            <a:r>
              <a:rPr lang="en-US">
                <a:solidFill>
                  <a:srgbClr val="FF9900"/>
                </a:solidFill>
              </a:rPr>
              <a:t>4 4 52 Type1 Poor</a:t>
            </a:r>
            <a:endParaRPr>
              <a:solidFill>
                <a:srgbClr val="FF9900"/>
              </a:solidFill>
            </a:endParaRPr>
          </a:p>
          <a:p>
            <a:pPr marL="342900" lvl="0" indent="-241300" algn="l" rtl="0">
              <a:spcBef>
                <a:spcPts val="1000"/>
              </a:spcBef>
              <a:spcAft>
                <a:spcPts val="0"/>
              </a:spcAft>
              <a:buClr>
                <a:schemeClr val="dk1"/>
              </a:buClr>
              <a:buSzPct val="80000"/>
              <a:buFont typeface="Arial"/>
              <a:buNone/>
            </a:pPr>
            <a:endParaRPr/>
          </a:p>
          <a:p>
            <a:pPr marL="0" lvl="0" indent="0" algn="l" rtl="0">
              <a:spcBef>
                <a:spcPts val="1000"/>
              </a:spcBef>
              <a:spcAft>
                <a:spcPts val="0"/>
              </a:spcAft>
              <a:buNone/>
            </a:pPr>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627"/>
        <p:cNvGrpSpPr/>
        <p:nvPr/>
      </p:nvGrpSpPr>
      <p:grpSpPr>
        <a:xfrm>
          <a:off x="0" y="0"/>
          <a:ext cx="0" cy="0"/>
          <a:chOff x="0" y="0"/>
          <a:chExt cx="0" cy="0"/>
        </a:xfrm>
      </p:grpSpPr>
      <p:sp>
        <p:nvSpPr>
          <p:cNvPr id="628" name="Google Shape;628;g145ea7f5fe7_1_321"/>
          <p:cNvSpPr txBox="1">
            <a:spLocks noGrp="1"/>
          </p:cNvSpPr>
          <p:nvPr>
            <p:ph type="title"/>
          </p:nvPr>
        </p:nvSpPr>
        <p:spPr>
          <a:xfrm>
            <a:off x="646111" y="452718"/>
            <a:ext cx="9404700" cy="1400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Data Frame</a:t>
            </a:r>
            <a:endParaRPr/>
          </a:p>
        </p:txBody>
      </p:sp>
      <p:sp>
        <p:nvSpPr>
          <p:cNvPr id="629" name="Google Shape;629;g145ea7f5fe7_1_321"/>
          <p:cNvSpPr txBox="1">
            <a:spLocks noGrp="1"/>
          </p:cNvSpPr>
          <p:nvPr>
            <p:ph type="body" idx="1"/>
          </p:nvPr>
        </p:nvSpPr>
        <p:spPr>
          <a:xfrm>
            <a:off x="701275" y="1278775"/>
            <a:ext cx="11096700" cy="5476200"/>
          </a:xfrm>
          <a:prstGeom prst="rect">
            <a:avLst/>
          </a:prstGeom>
        </p:spPr>
        <p:txBody>
          <a:bodyPr spcFirstLastPara="1" wrap="square" lIns="91425" tIns="45700" rIns="91425" bIns="45700" anchor="t" anchorCtr="0">
            <a:normAutofit fontScale="92500" lnSpcReduction="20000"/>
          </a:bodyPr>
          <a:lstStyle/>
          <a:p>
            <a:pPr marL="0" lvl="0" indent="0" algn="l" rtl="0">
              <a:spcBef>
                <a:spcPts val="1000"/>
              </a:spcBef>
              <a:spcAft>
                <a:spcPts val="0"/>
              </a:spcAft>
              <a:buNone/>
            </a:pPr>
            <a:r>
              <a:rPr lang="en-US">
                <a:solidFill>
                  <a:srgbClr val="FF9900"/>
                </a:solidFill>
              </a:rPr>
              <a:t>patientdata[1:2]</a:t>
            </a:r>
            <a:endParaRPr>
              <a:solidFill>
                <a:srgbClr val="FF9900"/>
              </a:solidFill>
            </a:endParaRPr>
          </a:p>
          <a:p>
            <a:pPr marL="0" lvl="0" indent="0" algn="l" rtl="0">
              <a:spcBef>
                <a:spcPts val="1000"/>
              </a:spcBef>
              <a:spcAft>
                <a:spcPts val="0"/>
              </a:spcAft>
              <a:buNone/>
            </a:pPr>
            <a:r>
              <a:rPr lang="en-US">
                <a:solidFill>
                  <a:srgbClr val="FF9900"/>
                </a:solidFill>
              </a:rPr>
              <a:t>patientID age</a:t>
            </a:r>
            <a:endParaRPr>
              <a:solidFill>
                <a:srgbClr val="FF9900"/>
              </a:solidFill>
            </a:endParaRPr>
          </a:p>
          <a:p>
            <a:pPr marL="0" lvl="0" indent="0" algn="l" rtl="0">
              <a:spcBef>
                <a:spcPts val="1000"/>
              </a:spcBef>
              <a:spcAft>
                <a:spcPts val="0"/>
              </a:spcAft>
              <a:buNone/>
            </a:pPr>
            <a:r>
              <a:rPr lang="en-US">
                <a:solidFill>
                  <a:srgbClr val="FF9900"/>
                </a:solidFill>
              </a:rPr>
              <a:t>1 1 25</a:t>
            </a:r>
            <a:endParaRPr>
              <a:solidFill>
                <a:srgbClr val="FF9900"/>
              </a:solidFill>
            </a:endParaRPr>
          </a:p>
          <a:p>
            <a:pPr marL="0" lvl="0" indent="0" algn="l" rtl="0">
              <a:spcBef>
                <a:spcPts val="1000"/>
              </a:spcBef>
              <a:spcAft>
                <a:spcPts val="0"/>
              </a:spcAft>
              <a:buNone/>
            </a:pPr>
            <a:r>
              <a:rPr lang="en-US">
                <a:solidFill>
                  <a:srgbClr val="FF9900"/>
                </a:solidFill>
              </a:rPr>
              <a:t>2 2 34</a:t>
            </a:r>
            <a:endParaRPr>
              <a:solidFill>
                <a:srgbClr val="FF9900"/>
              </a:solidFill>
            </a:endParaRPr>
          </a:p>
          <a:p>
            <a:pPr marL="0" lvl="0" indent="0" algn="l" rtl="0">
              <a:spcBef>
                <a:spcPts val="1000"/>
              </a:spcBef>
              <a:spcAft>
                <a:spcPts val="0"/>
              </a:spcAft>
              <a:buNone/>
            </a:pPr>
            <a:r>
              <a:rPr lang="en-US">
                <a:solidFill>
                  <a:srgbClr val="FF9900"/>
                </a:solidFill>
              </a:rPr>
              <a:t>3 3 28</a:t>
            </a:r>
            <a:endParaRPr>
              <a:solidFill>
                <a:srgbClr val="FF9900"/>
              </a:solidFill>
            </a:endParaRPr>
          </a:p>
          <a:p>
            <a:pPr marL="0" lvl="0" indent="0" algn="l" rtl="0">
              <a:spcBef>
                <a:spcPts val="1000"/>
              </a:spcBef>
              <a:spcAft>
                <a:spcPts val="0"/>
              </a:spcAft>
              <a:buNone/>
            </a:pPr>
            <a:r>
              <a:rPr lang="en-US">
                <a:solidFill>
                  <a:srgbClr val="FF9900"/>
                </a:solidFill>
              </a:rPr>
              <a:t>4 4 52</a:t>
            </a:r>
            <a:endParaRPr>
              <a:solidFill>
                <a:srgbClr val="FF9900"/>
              </a:solidFill>
            </a:endParaRPr>
          </a:p>
          <a:p>
            <a:pPr marL="0" lvl="0" indent="0" algn="l" rtl="0">
              <a:spcBef>
                <a:spcPts val="1000"/>
              </a:spcBef>
              <a:spcAft>
                <a:spcPts val="0"/>
              </a:spcAft>
              <a:buNone/>
            </a:pPr>
            <a:r>
              <a:rPr lang="en-US">
                <a:solidFill>
                  <a:srgbClr val="FF9900"/>
                </a:solidFill>
              </a:rPr>
              <a:t>&gt; patientdata[c("diabetes", "status")]</a:t>
            </a:r>
            <a:endParaRPr>
              <a:solidFill>
                <a:srgbClr val="FF9900"/>
              </a:solidFill>
            </a:endParaRPr>
          </a:p>
          <a:p>
            <a:pPr marL="0" lvl="0" indent="0" algn="l" rtl="0">
              <a:spcBef>
                <a:spcPts val="1000"/>
              </a:spcBef>
              <a:spcAft>
                <a:spcPts val="0"/>
              </a:spcAft>
              <a:buNone/>
            </a:pPr>
            <a:r>
              <a:rPr lang="en-US">
                <a:solidFill>
                  <a:srgbClr val="FF9900"/>
                </a:solidFill>
              </a:rPr>
              <a:t>diabetes status</a:t>
            </a:r>
            <a:endParaRPr>
              <a:solidFill>
                <a:srgbClr val="FF9900"/>
              </a:solidFill>
            </a:endParaRPr>
          </a:p>
          <a:p>
            <a:pPr marL="0" lvl="0" indent="0" algn="l" rtl="0">
              <a:spcBef>
                <a:spcPts val="1000"/>
              </a:spcBef>
              <a:spcAft>
                <a:spcPts val="0"/>
              </a:spcAft>
              <a:buNone/>
            </a:pPr>
            <a:r>
              <a:rPr lang="en-US">
                <a:solidFill>
                  <a:srgbClr val="FF9900"/>
                </a:solidFill>
              </a:rPr>
              <a:t>1 Type1 Poor</a:t>
            </a:r>
            <a:endParaRPr>
              <a:solidFill>
                <a:srgbClr val="FF9900"/>
              </a:solidFill>
            </a:endParaRPr>
          </a:p>
          <a:p>
            <a:pPr marL="0" lvl="0" indent="0" algn="l" rtl="0">
              <a:spcBef>
                <a:spcPts val="1000"/>
              </a:spcBef>
              <a:spcAft>
                <a:spcPts val="0"/>
              </a:spcAft>
              <a:buNone/>
            </a:pPr>
            <a:r>
              <a:rPr lang="en-US">
                <a:solidFill>
                  <a:srgbClr val="FF9900"/>
                </a:solidFill>
              </a:rPr>
              <a:t>2 Type2 Improved</a:t>
            </a:r>
            <a:endParaRPr>
              <a:solidFill>
                <a:srgbClr val="FF9900"/>
              </a:solidFill>
            </a:endParaRPr>
          </a:p>
          <a:p>
            <a:pPr marL="0" lvl="0" indent="0" algn="l" rtl="0">
              <a:spcBef>
                <a:spcPts val="1000"/>
              </a:spcBef>
              <a:spcAft>
                <a:spcPts val="0"/>
              </a:spcAft>
              <a:buNone/>
            </a:pPr>
            <a:r>
              <a:rPr lang="en-US">
                <a:solidFill>
                  <a:srgbClr val="FF9900"/>
                </a:solidFill>
              </a:rPr>
              <a:t>3 Type1 Excellent</a:t>
            </a:r>
            <a:endParaRPr>
              <a:solidFill>
                <a:srgbClr val="FF9900"/>
              </a:solidFill>
            </a:endParaRPr>
          </a:p>
          <a:p>
            <a:pPr marL="0" lvl="0" indent="0" algn="l" rtl="0">
              <a:spcBef>
                <a:spcPts val="1000"/>
              </a:spcBef>
              <a:spcAft>
                <a:spcPts val="0"/>
              </a:spcAft>
              <a:buNone/>
            </a:pPr>
            <a:r>
              <a:rPr lang="en-US">
                <a:solidFill>
                  <a:srgbClr val="FF9900"/>
                </a:solidFill>
              </a:rPr>
              <a:t>4 Type1 Poor</a:t>
            </a:r>
            <a:endParaRPr>
              <a:solidFill>
                <a:srgbClr val="FF9900"/>
              </a:solidFill>
            </a:endParaRPr>
          </a:p>
          <a:p>
            <a:pPr marL="0" lvl="0" indent="0" algn="l" rtl="0">
              <a:spcBef>
                <a:spcPts val="1000"/>
              </a:spcBef>
              <a:spcAft>
                <a:spcPts val="0"/>
              </a:spcAft>
              <a:buNone/>
            </a:pPr>
            <a:r>
              <a:rPr lang="en-US">
                <a:solidFill>
                  <a:srgbClr val="FF9900"/>
                </a:solidFill>
              </a:rPr>
              <a:t>&gt; patientdata$age</a:t>
            </a:r>
            <a:endParaRPr>
              <a:solidFill>
                <a:srgbClr val="FF9900"/>
              </a:solidFill>
            </a:endParaRPr>
          </a:p>
          <a:p>
            <a:pPr marL="0" lvl="0" indent="0" algn="l" rtl="0">
              <a:spcBef>
                <a:spcPts val="1000"/>
              </a:spcBef>
              <a:spcAft>
                <a:spcPts val="0"/>
              </a:spcAft>
              <a:buNone/>
            </a:pPr>
            <a:r>
              <a:rPr lang="en-US">
                <a:solidFill>
                  <a:srgbClr val="FF9900"/>
                </a:solidFill>
              </a:rPr>
              <a:t>[1] 25 34 28 52</a:t>
            </a:r>
            <a:endParaRPr>
              <a:solidFill>
                <a:srgbClr val="FF9900"/>
              </a:solidFill>
            </a:endParaRPr>
          </a:p>
        </p:txBody>
      </p:sp>
      <p:sp>
        <p:nvSpPr>
          <p:cNvPr id="630" name="Google Shape;630;g145ea7f5fe7_1_321"/>
          <p:cNvSpPr txBox="1"/>
          <p:nvPr/>
        </p:nvSpPr>
        <p:spPr>
          <a:xfrm>
            <a:off x="6352675" y="1969750"/>
            <a:ext cx="5703000" cy="1154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100">
                <a:solidFill>
                  <a:schemeClr val="lt1"/>
                </a:solidFill>
              </a:rPr>
              <a:t>The $ notation in the third example is new. It’s used to indicate a particular variable from a given data frame.</a:t>
            </a:r>
            <a:endParaRPr sz="1500">
              <a:solidFill>
                <a:schemeClr val="lt1"/>
              </a:solidFil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634"/>
        <p:cNvGrpSpPr/>
        <p:nvPr/>
      </p:nvGrpSpPr>
      <p:grpSpPr>
        <a:xfrm>
          <a:off x="0" y="0"/>
          <a:ext cx="0" cy="0"/>
          <a:chOff x="0" y="0"/>
          <a:chExt cx="0" cy="0"/>
        </a:xfrm>
      </p:grpSpPr>
      <p:sp>
        <p:nvSpPr>
          <p:cNvPr id="635" name="Google Shape;635;g145ea7f5fe7_1_332"/>
          <p:cNvSpPr txBox="1">
            <a:spLocks noGrp="1"/>
          </p:cNvSpPr>
          <p:nvPr>
            <p:ph type="title"/>
          </p:nvPr>
        </p:nvSpPr>
        <p:spPr>
          <a:xfrm>
            <a:off x="646111" y="452718"/>
            <a:ext cx="9404700" cy="1400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Data frame</a:t>
            </a:r>
            <a:endParaRPr/>
          </a:p>
        </p:txBody>
      </p:sp>
      <p:sp>
        <p:nvSpPr>
          <p:cNvPr id="636" name="Google Shape;636;g145ea7f5fe7_1_332"/>
          <p:cNvSpPr txBox="1">
            <a:spLocks noGrp="1"/>
          </p:cNvSpPr>
          <p:nvPr>
            <p:ph type="body" idx="1"/>
          </p:nvPr>
        </p:nvSpPr>
        <p:spPr>
          <a:xfrm>
            <a:off x="752850" y="2088900"/>
            <a:ext cx="5671800" cy="44547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dirty="0">
                <a:solidFill>
                  <a:srgbClr val="FF9900"/>
                </a:solidFill>
              </a:rPr>
              <a:t>#</a:t>
            </a:r>
            <a:r>
              <a:rPr lang="en-US" dirty="0" err="1">
                <a:solidFill>
                  <a:srgbClr val="FF9900"/>
                </a:solidFill>
              </a:rPr>
              <a:t>Excercise</a:t>
            </a:r>
            <a:endParaRPr dirty="0">
              <a:solidFill>
                <a:srgbClr val="FF9900"/>
              </a:solidFill>
            </a:endParaRPr>
          </a:p>
          <a:p>
            <a:pPr marL="0" lvl="0" indent="0" algn="l" rtl="0">
              <a:spcBef>
                <a:spcPts val="1000"/>
              </a:spcBef>
              <a:spcAft>
                <a:spcPts val="0"/>
              </a:spcAft>
              <a:buNone/>
            </a:pPr>
            <a:r>
              <a:rPr lang="en-US" dirty="0" err="1">
                <a:solidFill>
                  <a:srgbClr val="FF9900"/>
                </a:solidFill>
              </a:rPr>
              <a:t>mtcars</a:t>
            </a:r>
            <a:endParaRPr dirty="0">
              <a:solidFill>
                <a:srgbClr val="FF9900"/>
              </a:solidFill>
            </a:endParaRPr>
          </a:p>
          <a:p>
            <a:pPr marL="0" lvl="0" indent="0" algn="l" rtl="0">
              <a:spcBef>
                <a:spcPts val="1000"/>
              </a:spcBef>
              <a:spcAft>
                <a:spcPts val="0"/>
              </a:spcAft>
              <a:buClr>
                <a:schemeClr val="dk1"/>
              </a:buClr>
              <a:buSzPts val="1100"/>
              <a:buFont typeface="Arial"/>
              <a:buNone/>
            </a:pPr>
            <a:r>
              <a:rPr lang="en-US" dirty="0">
                <a:solidFill>
                  <a:srgbClr val="FF9900"/>
                </a:solidFill>
              </a:rPr>
              <a:t>summary(</a:t>
            </a:r>
            <a:r>
              <a:rPr lang="en-US" dirty="0" err="1">
                <a:solidFill>
                  <a:srgbClr val="FF9900"/>
                </a:solidFill>
              </a:rPr>
              <a:t>mtcars$mpg</a:t>
            </a:r>
            <a:r>
              <a:rPr lang="en-US" dirty="0">
                <a:solidFill>
                  <a:srgbClr val="FF9900"/>
                </a:solidFill>
              </a:rPr>
              <a:t>)</a:t>
            </a:r>
            <a:endParaRPr dirty="0">
              <a:solidFill>
                <a:srgbClr val="FF9900"/>
              </a:solidFill>
            </a:endParaRPr>
          </a:p>
          <a:p>
            <a:pPr marL="0" lvl="0" indent="0" algn="l" rtl="0">
              <a:spcBef>
                <a:spcPts val="1000"/>
              </a:spcBef>
              <a:spcAft>
                <a:spcPts val="0"/>
              </a:spcAft>
              <a:buClr>
                <a:schemeClr val="dk1"/>
              </a:buClr>
              <a:buSzPts val="1100"/>
              <a:buFont typeface="Arial"/>
              <a:buNone/>
            </a:pPr>
            <a:r>
              <a:rPr lang="en-US" dirty="0">
                <a:solidFill>
                  <a:srgbClr val="FF9900"/>
                </a:solidFill>
              </a:rPr>
              <a:t>plot(</a:t>
            </a:r>
            <a:r>
              <a:rPr lang="en-US" dirty="0" err="1">
                <a:solidFill>
                  <a:srgbClr val="FF9900"/>
                </a:solidFill>
              </a:rPr>
              <a:t>mtcars$mpg</a:t>
            </a:r>
            <a:r>
              <a:rPr lang="en-US" dirty="0">
                <a:solidFill>
                  <a:srgbClr val="FF9900"/>
                </a:solidFill>
              </a:rPr>
              <a:t>, </a:t>
            </a:r>
            <a:r>
              <a:rPr lang="en-US" dirty="0" err="1">
                <a:solidFill>
                  <a:srgbClr val="FF9900"/>
                </a:solidFill>
              </a:rPr>
              <a:t>mtcars$disp</a:t>
            </a:r>
            <a:r>
              <a:rPr lang="en-US" dirty="0">
                <a:solidFill>
                  <a:srgbClr val="FF9900"/>
                </a:solidFill>
              </a:rPr>
              <a:t>)</a:t>
            </a:r>
            <a:endParaRPr dirty="0">
              <a:solidFill>
                <a:srgbClr val="FF9900"/>
              </a:solidFill>
            </a:endParaRPr>
          </a:p>
          <a:p>
            <a:pPr marL="0" lvl="0" indent="0" algn="l" rtl="0">
              <a:spcBef>
                <a:spcPts val="1000"/>
              </a:spcBef>
              <a:spcAft>
                <a:spcPts val="0"/>
              </a:spcAft>
              <a:buNone/>
            </a:pPr>
            <a:r>
              <a:rPr lang="en-US" dirty="0">
                <a:solidFill>
                  <a:srgbClr val="FF9900"/>
                </a:solidFill>
              </a:rPr>
              <a:t>plot(</a:t>
            </a:r>
            <a:r>
              <a:rPr lang="en-US" dirty="0" err="1">
                <a:solidFill>
                  <a:srgbClr val="FF9900"/>
                </a:solidFill>
              </a:rPr>
              <a:t>mtcars$mpg</a:t>
            </a:r>
            <a:r>
              <a:rPr lang="en-US" dirty="0">
                <a:solidFill>
                  <a:srgbClr val="FF9900"/>
                </a:solidFill>
              </a:rPr>
              <a:t>, </a:t>
            </a:r>
            <a:r>
              <a:rPr lang="en-US" dirty="0" err="1">
                <a:solidFill>
                  <a:srgbClr val="FF9900"/>
                </a:solidFill>
              </a:rPr>
              <a:t>mtcars$wt</a:t>
            </a:r>
            <a:r>
              <a:rPr lang="en-US" dirty="0">
                <a:solidFill>
                  <a:srgbClr val="FF9900"/>
                </a:solidFill>
              </a:rPr>
              <a:t>)</a:t>
            </a:r>
            <a:endParaRPr dirty="0">
              <a:solidFill>
                <a:srgbClr val="FF9900"/>
              </a:solidFill>
            </a:endParaRPr>
          </a:p>
          <a:p>
            <a:pPr marL="0" lvl="0" indent="0" algn="l" rtl="0">
              <a:spcBef>
                <a:spcPts val="1000"/>
              </a:spcBef>
              <a:spcAft>
                <a:spcPts val="0"/>
              </a:spcAft>
              <a:buNone/>
            </a:pPr>
            <a:endParaRPr dirty="0">
              <a:solidFill>
                <a:srgbClr val="FF9900"/>
              </a:solidFill>
            </a:endParaRPr>
          </a:p>
          <a:p>
            <a:pPr marL="0" lvl="0" indent="0" algn="l" rtl="0">
              <a:spcBef>
                <a:spcPts val="1000"/>
              </a:spcBef>
              <a:spcAft>
                <a:spcPts val="0"/>
              </a:spcAft>
              <a:buNone/>
            </a:pPr>
            <a:endParaRPr dirty="0">
              <a:solidFill>
                <a:srgbClr val="FF9900"/>
              </a:solidFill>
            </a:endParaRPr>
          </a:p>
          <a:p>
            <a:pPr marL="0" lvl="0" indent="0" algn="l" rtl="0">
              <a:spcBef>
                <a:spcPts val="1000"/>
              </a:spcBef>
              <a:spcAft>
                <a:spcPts val="0"/>
              </a:spcAft>
              <a:buClr>
                <a:schemeClr val="dk1"/>
              </a:buClr>
              <a:buSzPts val="1100"/>
              <a:buFont typeface="Arial"/>
              <a:buNone/>
            </a:pPr>
            <a:r>
              <a:rPr lang="en-US" dirty="0">
                <a:solidFill>
                  <a:srgbClr val="FF9900"/>
                </a:solidFill>
              </a:rPr>
              <a:t>library(</a:t>
            </a:r>
            <a:r>
              <a:rPr lang="en-US" dirty="0" err="1">
                <a:solidFill>
                  <a:srgbClr val="FF9900"/>
                </a:solidFill>
              </a:rPr>
              <a:t>dplyr</a:t>
            </a:r>
            <a:r>
              <a:rPr lang="en-US" dirty="0">
                <a:solidFill>
                  <a:srgbClr val="FF9900"/>
                </a:solidFill>
              </a:rPr>
              <a:t>)</a:t>
            </a:r>
            <a:endParaRPr dirty="0">
              <a:solidFill>
                <a:srgbClr val="FF9900"/>
              </a:solidFill>
            </a:endParaRPr>
          </a:p>
          <a:p>
            <a:pPr marL="0" lvl="0" indent="0" algn="l" rtl="0">
              <a:spcBef>
                <a:spcPts val="1000"/>
              </a:spcBef>
              <a:spcAft>
                <a:spcPts val="0"/>
              </a:spcAft>
              <a:buClr>
                <a:schemeClr val="dk1"/>
              </a:buClr>
              <a:buSzPts val="1100"/>
              <a:buFont typeface="Arial"/>
              <a:buNone/>
            </a:pPr>
            <a:r>
              <a:rPr lang="en-US" dirty="0">
                <a:solidFill>
                  <a:srgbClr val="FF9900"/>
                </a:solidFill>
              </a:rPr>
              <a:t>library(explore)</a:t>
            </a:r>
            <a:endParaRPr dirty="0">
              <a:solidFill>
                <a:srgbClr val="FF9900"/>
              </a:solidFill>
            </a:endParaRPr>
          </a:p>
          <a:p>
            <a:pPr marL="0" lvl="0" indent="0" algn="l" rtl="0">
              <a:spcBef>
                <a:spcPts val="1000"/>
              </a:spcBef>
              <a:spcAft>
                <a:spcPts val="0"/>
              </a:spcAft>
              <a:buClr>
                <a:schemeClr val="dk1"/>
              </a:buClr>
              <a:buSzPts val="1100"/>
              <a:buFont typeface="Arial"/>
              <a:buNone/>
            </a:pPr>
            <a:endParaRPr dirty="0">
              <a:solidFill>
                <a:srgbClr val="FF9900"/>
              </a:solidFill>
            </a:endParaRPr>
          </a:p>
          <a:p>
            <a:pPr marL="0" lvl="0" indent="0" algn="l" rtl="0">
              <a:spcBef>
                <a:spcPts val="1000"/>
              </a:spcBef>
              <a:spcAft>
                <a:spcPts val="0"/>
              </a:spcAft>
              <a:buNone/>
            </a:pPr>
            <a:endParaRPr dirty="0">
              <a:solidFill>
                <a:srgbClr val="FF9900"/>
              </a:solidFill>
            </a:endParaRPr>
          </a:p>
        </p:txBody>
      </p:sp>
      <p:sp>
        <p:nvSpPr>
          <p:cNvPr id="637" name="Google Shape;637;g145ea7f5fe7_1_332"/>
          <p:cNvSpPr txBox="1"/>
          <p:nvPr/>
        </p:nvSpPr>
        <p:spPr>
          <a:xfrm>
            <a:off x="690950" y="1154750"/>
            <a:ext cx="107151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000">
                <a:solidFill>
                  <a:schemeClr val="lt1"/>
                </a:solidFill>
              </a:rPr>
              <a:t>The mtcars dataset is a built-in dataset in R. It comprises 11 features (variables) of 32 automobiles (observations) from the 1974 </a:t>
            </a:r>
            <a:r>
              <a:rPr lang="en-US" sz="2000" i="1">
                <a:solidFill>
                  <a:schemeClr val="lt1"/>
                </a:solidFill>
              </a:rPr>
              <a:t>Motor Trend</a:t>
            </a:r>
            <a:r>
              <a:rPr lang="en-US" sz="2000">
                <a:solidFill>
                  <a:schemeClr val="lt1"/>
                </a:solidFill>
              </a:rPr>
              <a:t> US magazine</a:t>
            </a:r>
            <a:endParaRPr>
              <a:solidFill>
                <a:schemeClr val="lt1"/>
              </a:solidFill>
            </a:endParaRPr>
          </a:p>
        </p:txBody>
      </p:sp>
      <p:pic>
        <p:nvPicPr>
          <p:cNvPr id="638" name="Google Shape;638;g145ea7f5fe7_1_332"/>
          <p:cNvPicPr preferRelativeResize="0"/>
          <p:nvPr/>
        </p:nvPicPr>
        <p:blipFill>
          <a:blip r:embed="rId3">
            <a:alphaModFix/>
          </a:blip>
          <a:stretch>
            <a:fillRect/>
          </a:stretch>
        </p:blipFill>
        <p:spPr>
          <a:xfrm>
            <a:off x="6532600" y="2076600"/>
            <a:ext cx="4563950" cy="4454700"/>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642"/>
        <p:cNvGrpSpPr/>
        <p:nvPr/>
      </p:nvGrpSpPr>
      <p:grpSpPr>
        <a:xfrm>
          <a:off x="0" y="0"/>
          <a:ext cx="0" cy="0"/>
          <a:chOff x="0" y="0"/>
          <a:chExt cx="0" cy="0"/>
        </a:xfrm>
      </p:grpSpPr>
      <p:sp>
        <p:nvSpPr>
          <p:cNvPr id="643" name="Google Shape;643;p75"/>
          <p:cNvSpPr txBox="1">
            <a:spLocks noGrp="1"/>
          </p:cNvSpPr>
          <p:nvPr>
            <p:ph type="title"/>
          </p:nvPr>
        </p:nvSpPr>
        <p:spPr>
          <a:xfrm>
            <a:off x="646111" y="452718"/>
            <a:ext cx="9404723" cy="74108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a:t>List</a:t>
            </a:r>
            <a:br>
              <a:rPr lang="en-US"/>
            </a:br>
            <a:endParaRPr/>
          </a:p>
        </p:txBody>
      </p:sp>
      <p:sp>
        <p:nvSpPr>
          <p:cNvPr id="644" name="Google Shape;644;p75"/>
          <p:cNvSpPr txBox="1">
            <a:spLocks noGrp="1"/>
          </p:cNvSpPr>
          <p:nvPr>
            <p:ph type="body" idx="1"/>
          </p:nvPr>
        </p:nvSpPr>
        <p:spPr>
          <a:xfrm>
            <a:off x="804334" y="1193800"/>
            <a:ext cx="10320866" cy="53340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600"/>
              <a:buChar char="►"/>
            </a:pPr>
            <a:r>
              <a:rPr lang="en-US"/>
              <a:t>Lists are the most complex of the R data types. Basically, a list is an ordered collection of objects (components)</a:t>
            </a:r>
            <a:endParaRPr/>
          </a:p>
          <a:p>
            <a:pPr marL="342900" lvl="0" indent="-342900" algn="l" rtl="0">
              <a:spcBef>
                <a:spcPts val="0"/>
              </a:spcBef>
              <a:spcAft>
                <a:spcPts val="0"/>
              </a:spcAft>
              <a:buSzPts val="1600"/>
              <a:buChar char="►"/>
            </a:pPr>
            <a:r>
              <a:rPr lang="en-US"/>
              <a:t>A list may contain a combination of vectors, matrices, data frames, and even other lists</a:t>
            </a:r>
            <a:endParaRPr/>
          </a:p>
          <a:p>
            <a:pPr marL="342900" lvl="0" indent="-342900" algn="l" rtl="0">
              <a:spcBef>
                <a:spcPts val="1000"/>
              </a:spcBef>
              <a:spcAft>
                <a:spcPts val="0"/>
              </a:spcAft>
              <a:buSzPts val="1600"/>
              <a:buChar char="►"/>
            </a:pPr>
            <a:r>
              <a:rPr lang="en-US"/>
              <a:t>A list is created using the list() function.</a:t>
            </a:r>
            <a:endParaRPr/>
          </a:p>
          <a:p>
            <a:pPr marL="342900" lvl="0" indent="-241300" algn="l" rtl="0">
              <a:spcBef>
                <a:spcPts val="1000"/>
              </a:spcBef>
              <a:spcAft>
                <a:spcPts val="0"/>
              </a:spcAft>
              <a:buSzPts val="1600"/>
              <a:buNone/>
            </a:pPr>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648"/>
        <p:cNvGrpSpPr/>
        <p:nvPr/>
      </p:nvGrpSpPr>
      <p:grpSpPr>
        <a:xfrm>
          <a:off x="0" y="0"/>
          <a:ext cx="0" cy="0"/>
          <a:chOff x="0" y="0"/>
          <a:chExt cx="0" cy="0"/>
        </a:xfrm>
      </p:grpSpPr>
      <p:sp>
        <p:nvSpPr>
          <p:cNvPr id="649" name="Google Shape;649;g145ea7f5fe7_1_353"/>
          <p:cNvSpPr txBox="1">
            <a:spLocks noGrp="1"/>
          </p:cNvSpPr>
          <p:nvPr>
            <p:ph type="body" idx="1"/>
          </p:nvPr>
        </p:nvSpPr>
        <p:spPr>
          <a:xfrm>
            <a:off x="1103300" y="92825"/>
            <a:ext cx="8946600" cy="6765000"/>
          </a:xfrm>
          <a:prstGeom prst="rect">
            <a:avLst/>
          </a:prstGeom>
        </p:spPr>
        <p:txBody>
          <a:bodyPr spcFirstLastPara="1" wrap="square" lIns="91425" tIns="45700" rIns="91425" bIns="45700" anchor="t" anchorCtr="0">
            <a:normAutofit fontScale="55000" lnSpcReduction="20000"/>
          </a:bodyPr>
          <a:lstStyle/>
          <a:p>
            <a:pPr marL="0" lvl="0" indent="0" algn="l" rtl="0">
              <a:spcBef>
                <a:spcPts val="1000"/>
              </a:spcBef>
              <a:spcAft>
                <a:spcPts val="0"/>
              </a:spcAft>
              <a:buClr>
                <a:schemeClr val="dk1"/>
              </a:buClr>
              <a:buSzPct val="50925"/>
              <a:buFont typeface="Arial"/>
              <a:buNone/>
            </a:pPr>
            <a:r>
              <a:rPr lang="en-US" sz="2160">
                <a:solidFill>
                  <a:srgbClr val="FF9900"/>
                </a:solidFill>
              </a:rPr>
              <a:t>&gt; g &lt;- "My First List"</a:t>
            </a:r>
            <a:endParaRPr sz="2160">
              <a:solidFill>
                <a:srgbClr val="FF9900"/>
              </a:solidFill>
            </a:endParaRPr>
          </a:p>
          <a:p>
            <a:pPr marL="0" lvl="0" indent="0" algn="l" rtl="0">
              <a:spcBef>
                <a:spcPts val="1000"/>
              </a:spcBef>
              <a:spcAft>
                <a:spcPts val="0"/>
              </a:spcAft>
              <a:buClr>
                <a:schemeClr val="dk1"/>
              </a:buClr>
              <a:buSzPct val="50925"/>
              <a:buFont typeface="Arial"/>
              <a:buNone/>
            </a:pPr>
            <a:r>
              <a:rPr lang="en-US" sz="2160">
                <a:solidFill>
                  <a:srgbClr val="FF9900"/>
                </a:solidFill>
              </a:rPr>
              <a:t>&gt; h &lt;- c(25, 26, 18, 39)</a:t>
            </a:r>
            <a:endParaRPr sz="2160">
              <a:solidFill>
                <a:srgbClr val="FF9900"/>
              </a:solidFill>
            </a:endParaRPr>
          </a:p>
          <a:p>
            <a:pPr marL="0" lvl="0" indent="0" algn="l" rtl="0">
              <a:spcBef>
                <a:spcPts val="1000"/>
              </a:spcBef>
              <a:spcAft>
                <a:spcPts val="0"/>
              </a:spcAft>
              <a:buClr>
                <a:schemeClr val="dk1"/>
              </a:buClr>
              <a:buSzPct val="50925"/>
              <a:buFont typeface="Arial"/>
              <a:buNone/>
            </a:pPr>
            <a:r>
              <a:rPr lang="en-US" sz="2160">
                <a:solidFill>
                  <a:srgbClr val="FF9900"/>
                </a:solidFill>
              </a:rPr>
              <a:t>&gt; j &lt;- matrix(1:10, nrow=5)</a:t>
            </a:r>
            <a:endParaRPr sz="2160">
              <a:solidFill>
                <a:srgbClr val="FF9900"/>
              </a:solidFill>
            </a:endParaRPr>
          </a:p>
          <a:p>
            <a:pPr marL="0" lvl="0" indent="0" algn="l" rtl="0">
              <a:spcBef>
                <a:spcPts val="1000"/>
              </a:spcBef>
              <a:spcAft>
                <a:spcPts val="0"/>
              </a:spcAft>
              <a:buClr>
                <a:schemeClr val="dk1"/>
              </a:buClr>
              <a:buSzPct val="50925"/>
              <a:buFont typeface="Arial"/>
              <a:buNone/>
            </a:pPr>
            <a:r>
              <a:rPr lang="en-US" sz="2160">
                <a:solidFill>
                  <a:srgbClr val="FF9900"/>
                </a:solidFill>
              </a:rPr>
              <a:t>&gt; k &lt;- c("one", "two", "three")</a:t>
            </a:r>
            <a:endParaRPr sz="2160">
              <a:solidFill>
                <a:srgbClr val="FF9900"/>
              </a:solidFill>
            </a:endParaRPr>
          </a:p>
          <a:p>
            <a:pPr marL="0" lvl="0" indent="0" algn="l" rtl="0">
              <a:spcBef>
                <a:spcPts val="1000"/>
              </a:spcBef>
              <a:spcAft>
                <a:spcPts val="0"/>
              </a:spcAft>
              <a:buClr>
                <a:schemeClr val="dk1"/>
              </a:buClr>
              <a:buSzPct val="50925"/>
              <a:buFont typeface="Arial"/>
              <a:buNone/>
            </a:pPr>
            <a:r>
              <a:rPr lang="en-US" sz="2160">
                <a:solidFill>
                  <a:srgbClr val="FF9900"/>
                </a:solidFill>
              </a:rPr>
              <a:t>&gt; mylist &lt;- list(title=g, ages=h, j, k)</a:t>
            </a:r>
            <a:endParaRPr sz="2160">
              <a:solidFill>
                <a:srgbClr val="FF9900"/>
              </a:solidFill>
            </a:endParaRPr>
          </a:p>
          <a:p>
            <a:pPr marL="0" lvl="0" indent="0" algn="l" rtl="0">
              <a:spcBef>
                <a:spcPts val="1000"/>
              </a:spcBef>
              <a:spcAft>
                <a:spcPts val="0"/>
              </a:spcAft>
              <a:buClr>
                <a:schemeClr val="dk1"/>
              </a:buClr>
              <a:buSzPct val="50925"/>
              <a:buFont typeface="Arial"/>
              <a:buNone/>
            </a:pPr>
            <a:r>
              <a:rPr lang="en-US" sz="2160">
                <a:solidFill>
                  <a:srgbClr val="FF9900"/>
                </a:solidFill>
              </a:rPr>
              <a:t>&gt; mylist</a:t>
            </a:r>
            <a:endParaRPr sz="2160">
              <a:solidFill>
                <a:srgbClr val="FF9900"/>
              </a:solidFill>
            </a:endParaRPr>
          </a:p>
          <a:p>
            <a:pPr marL="0" lvl="0" indent="0" algn="l" rtl="0">
              <a:spcBef>
                <a:spcPts val="1000"/>
              </a:spcBef>
              <a:spcAft>
                <a:spcPts val="0"/>
              </a:spcAft>
              <a:buClr>
                <a:schemeClr val="dk1"/>
              </a:buClr>
              <a:buSzPct val="50925"/>
              <a:buFont typeface="Arial"/>
              <a:buNone/>
            </a:pPr>
            <a:r>
              <a:rPr lang="en-US" sz="2160">
                <a:solidFill>
                  <a:srgbClr val="FF9900"/>
                </a:solidFill>
              </a:rPr>
              <a:t>$title</a:t>
            </a:r>
            <a:endParaRPr sz="2160">
              <a:solidFill>
                <a:srgbClr val="FF9900"/>
              </a:solidFill>
            </a:endParaRPr>
          </a:p>
          <a:p>
            <a:pPr marL="0" lvl="0" indent="0" algn="l" rtl="0">
              <a:spcBef>
                <a:spcPts val="1000"/>
              </a:spcBef>
              <a:spcAft>
                <a:spcPts val="0"/>
              </a:spcAft>
              <a:buClr>
                <a:schemeClr val="dk1"/>
              </a:buClr>
              <a:buSzPct val="50925"/>
              <a:buFont typeface="Arial"/>
              <a:buNone/>
            </a:pPr>
            <a:r>
              <a:rPr lang="en-US" sz="2160">
                <a:solidFill>
                  <a:srgbClr val="FF9900"/>
                </a:solidFill>
              </a:rPr>
              <a:t>[1] "My First List"</a:t>
            </a:r>
            <a:endParaRPr sz="2160">
              <a:solidFill>
                <a:srgbClr val="FF9900"/>
              </a:solidFill>
            </a:endParaRPr>
          </a:p>
          <a:p>
            <a:pPr marL="0" lvl="0" indent="0" algn="l" rtl="0">
              <a:spcBef>
                <a:spcPts val="1000"/>
              </a:spcBef>
              <a:spcAft>
                <a:spcPts val="0"/>
              </a:spcAft>
              <a:buClr>
                <a:schemeClr val="dk1"/>
              </a:buClr>
              <a:buSzPct val="50925"/>
              <a:buFont typeface="Arial"/>
              <a:buNone/>
            </a:pPr>
            <a:r>
              <a:rPr lang="en-US" sz="2160">
                <a:solidFill>
                  <a:srgbClr val="FF9900"/>
                </a:solidFill>
              </a:rPr>
              <a:t>$ages</a:t>
            </a:r>
            <a:endParaRPr sz="2160">
              <a:solidFill>
                <a:srgbClr val="FF9900"/>
              </a:solidFill>
            </a:endParaRPr>
          </a:p>
          <a:p>
            <a:pPr marL="0" lvl="0" indent="0" algn="l" rtl="0">
              <a:spcBef>
                <a:spcPts val="1000"/>
              </a:spcBef>
              <a:spcAft>
                <a:spcPts val="0"/>
              </a:spcAft>
              <a:buClr>
                <a:schemeClr val="dk1"/>
              </a:buClr>
              <a:buSzPct val="50925"/>
              <a:buFont typeface="Arial"/>
              <a:buNone/>
            </a:pPr>
            <a:r>
              <a:rPr lang="en-US" sz="2160">
                <a:solidFill>
                  <a:srgbClr val="FF9900"/>
                </a:solidFill>
              </a:rPr>
              <a:t>[1] 25 26 18 39</a:t>
            </a:r>
            <a:endParaRPr sz="2160">
              <a:solidFill>
                <a:srgbClr val="FF9900"/>
              </a:solidFill>
            </a:endParaRPr>
          </a:p>
          <a:p>
            <a:pPr marL="0" lvl="0" indent="0" algn="l" rtl="0">
              <a:spcBef>
                <a:spcPts val="1000"/>
              </a:spcBef>
              <a:spcAft>
                <a:spcPts val="0"/>
              </a:spcAft>
              <a:buClr>
                <a:schemeClr val="dk1"/>
              </a:buClr>
              <a:buSzPct val="50925"/>
              <a:buFont typeface="Arial"/>
              <a:buNone/>
            </a:pPr>
            <a:r>
              <a:rPr lang="en-US" sz="2160">
                <a:solidFill>
                  <a:srgbClr val="FF9900"/>
                </a:solidFill>
              </a:rPr>
              <a:t>[[3]]</a:t>
            </a:r>
            <a:endParaRPr sz="2160">
              <a:solidFill>
                <a:srgbClr val="FF9900"/>
              </a:solidFill>
            </a:endParaRPr>
          </a:p>
          <a:p>
            <a:pPr marL="0" lvl="0" indent="0" algn="l" rtl="0">
              <a:spcBef>
                <a:spcPts val="1000"/>
              </a:spcBef>
              <a:spcAft>
                <a:spcPts val="0"/>
              </a:spcAft>
              <a:buClr>
                <a:schemeClr val="dk1"/>
              </a:buClr>
              <a:buSzPct val="50925"/>
              <a:buFont typeface="Arial"/>
              <a:buNone/>
            </a:pPr>
            <a:r>
              <a:rPr lang="en-US" sz="2160">
                <a:solidFill>
                  <a:srgbClr val="FF9900"/>
                </a:solidFill>
              </a:rPr>
              <a:t>[,1] [,2]</a:t>
            </a:r>
            <a:endParaRPr sz="2160">
              <a:solidFill>
                <a:srgbClr val="FF9900"/>
              </a:solidFill>
            </a:endParaRPr>
          </a:p>
          <a:p>
            <a:pPr marL="0" lvl="0" indent="0" algn="l" rtl="0">
              <a:spcBef>
                <a:spcPts val="1000"/>
              </a:spcBef>
              <a:spcAft>
                <a:spcPts val="0"/>
              </a:spcAft>
              <a:buClr>
                <a:schemeClr val="dk1"/>
              </a:buClr>
              <a:buSzPct val="50925"/>
              <a:buFont typeface="Arial"/>
              <a:buNone/>
            </a:pPr>
            <a:r>
              <a:rPr lang="en-US" sz="2160">
                <a:solidFill>
                  <a:srgbClr val="FF9900"/>
                </a:solidFill>
              </a:rPr>
              <a:t>[1,] 1 6</a:t>
            </a:r>
            <a:endParaRPr sz="2160">
              <a:solidFill>
                <a:srgbClr val="FF9900"/>
              </a:solidFill>
            </a:endParaRPr>
          </a:p>
          <a:p>
            <a:pPr marL="0" lvl="0" indent="0" algn="l" rtl="0">
              <a:spcBef>
                <a:spcPts val="1000"/>
              </a:spcBef>
              <a:spcAft>
                <a:spcPts val="0"/>
              </a:spcAft>
              <a:buClr>
                <a:schemeClr val="dk1"/>
              </a:buClr>
              <a:buSzPct val="50925"/>
              <a:buFont typeface="Arial"/>
              <a:buNone/>
            </a:pPr>
            <a:r>
              <a:rPr lang="en-US" sz="2160">
                <a:solidFill>
                  <a:srgbClr val="FF9900"/>
                </a:solidFill>
              </a:rPr>
              <a:t>[2,] 2 7</a:t>
            </a:r>
            <a:endParaRPr sz="2160">
              <a:solidFill>
                <a:srgbClr val="FF9900"/>
              </a:solidFill>
            </a:endParaRPr>
          </a:p>
          <a:p>
            <a:pPr marL="0" lvl="0" indent="0" algn="l" rtl="0">
              <a:spcBef>
                <a:spcPts val="1000"/>
              </a:spcBef>
              <a:spcAft>
                <a:spcPts val="0"/>
              </a:spcAft>
              <a:buClr>
                <a:schemeClr val="dk1"/>
              </a:buClr>
              <a:buSzPct val="50925"/>
              <a:buFont typeface="Arial"/>
              <a:buNone/>
            </a:pPr>
            <a:r>
              <a:rPr lang="en-US" sz="2160">
                <a:solidFill>
                  <a:srgbClr val="FF9900"/>
                </a:solidFill>
              </a:rPr>
              <a:t>[3,] 3 8</a:t>
            </a:r>
            <a:endParaRPr sz="2160">
              <a:solidFill>
                <a:srgbClr val="FF9900"/>
              </a:solidFill>
            </a:endParaRPr>
          </a:p>
          <a:p>
            <a:pPr marL="0" lvl="0" indent="0" algn="l" rtl="0">
              <a:spcBef>
                <a:spcPts val="1000"/>
              </a:spcBef>
              <a:spcAft>
                <a:spcPts val="0"/>
              </a:spcAft>
              <a:buClr>
                <a:schemeClr val="dk1"/>
              </a:buClr>
              <a:buSzPct val="50925"/>
              <a:buFont typeface="Arial"/>
              <a:buNone/>
            </a:pPr>
            <a:r>
              <a:rPr lang="en-US" sz="2160">
                <a:solidFill>
                  <a:srgbClr val="FF9900"/>
                </a:solidFill>
              </a:rPr>
              <a:t>[4,] 4 9</a:t>
            </a:r>
            <a:endParaRPr sz="2160">
              <a:solidFill>
                <a:srgbClr val="FF9900"/>
              </a:solidFill>
            </a:endParaRPr>
          </a:p>
          <a:p>
            <a:pPr marL="0" lvl="0" indent="0" algn="l" rtl="0">
              <a:spcBef>
                <a:spcPts val="1000"/>
              </a:spcBef>
              <a:spcAft>
                <a:spcPts val="0"/>
              </a:spcAft>
              <a:buClr>
                <a:schemeClr val="dk1"/>
              </a:buClr>
              <a:buSzPct val="50925"/>
              <a:buFont typeface="Arial"/>
              <a:buNone/>
            </a:pPr>
            <a:r>
              <a:rPr lang="en-US" sz="2160">
                <a:solidFill>
                  <a:srgbClr val="FF9900"/>
                </a:solidFill>
              </a:rPr>
              <a:t>[5,] 5 10</a:t>
            </a:r>
            <a:endParaRPr sz="2160">
              <a:solidFill>
                <a:srgbClr val="FF9900"/>
              </a:solidFill>
            </a:endParaRPr>
          </a:p>
          <a:p>
            <a:pPr marL="0" lvl="0" indent="0" algn="l" rtl="0">
              <a:spcBef>
                <a:spcPts val="1000"/>
              </a:spcBef>
              <a:spcAft>
                <a:spcPts val="0"/>
              </a:spcAft>
              <a:buClr>
                <a:schemeClr val="dk1"/>
              </a:buClr>
              <a:buSzPct val="50925"/>
              <a:buFont typeface="Arial"/>
              <a:buNone/>
            </a:pPr>
            <a:r>
              <a:rPr lang="en-US" sz="2160">
                <a:solidFill>
                  <a:srgbClr val="FF9900"/>
                </a:solidFill>
              </a:rPr>
              <a:t>[[4]]</a:t>
            </a:r>
            <a:endParaRPr sz="2160">
              <a:solidFill>
                <a:srgbClr val="FF9900"/>
              </a:solidFill>
            </a:endParaRPr>
          </a:p>
          <a:p>
            <a:pPr marL="0" lvl="0" indent="0" algn="l" rtl="0">
              <a:spcBef>
                <a:spcPts val="1000"/>
              </a:spcBef>
              <a:spcAft>
                <a:spcPts val="0"/>
              </a:spcAft>
              <a:buClr>
                <a:schemeClr val="dk1"/>
              </a:buClr>
              <a:buSzPct val="50925"/>
              <a:buFont typeface="Arial"/>
              <a:buNone/>
            </a:pPr>
            <a:r>
              <a:rPr lang="en-US" sz="2160">
                <a:solidFill>
                  <a:srgbClr val="FF9900"/>
                </a:solidFill>
              </a:rPr>
              <a:t>[1] "one" "two" "three"</a:t>
            </a:r>
            <a:endParaRPr sz="2160">
              <a:solidFill>
                <a:srgbClr val="FF9900"/>
              </a:solidFill>
            </a:endParaRPr>
          </a:p>
          <a:p>
            <a:pPr marL="0" lvl="0" indent="0" algn="l" rtl="0">
              <a:spcBef>
                <a:spcPts val="1000"/>
              </a:spcBef>
              <a:spcAft>
                <a:spcPts val="0"/>
              </a:spcAft>
              <a:buClr>
                <a:schemeClr val="dk1"/>
              </a:buClr>
              <a:buSzPct val="50925"/>
              <a:buFont typeface="Arial"/>
              <a:buNone/>
            </a:pPr>
            <a:r>
              <a:rPr lang="en-US" sz="2160">
                <a:solidFill>
                  <a:srgbClr val="FF9900"/>
                </a:solidFill>
              </a:rPr>
              <a:t>&gt; mylist[[2]]</a:t>
            </a:r>
            <a:endParaRPr sz="2160">
              <a:solidFill>
                <a:srgbClr val="FF9900"/>
              </a:solidFill>
            </a:endParaRPr>
          </a:p>
          <a:p>
            <a:pPr marL="0" lvl="0" indent="0" algn="l" rtl="0">
              <a:spcBef>
                <a:spcPts val="1000"/>
              </a:spcBef>
              <a:spcAft>
                <a:spcPts val="0"/>
              </a:spcAft>
              <a:buClr>
                <a:schemeClr val="dk1"/>
              </a:buClr>
              <a:buSzPct val="50925"/>
              <a:buFont typeface="Arial"/>
              <a:buNone/>
            </a:pPr>
            <a:r>
              <a:rPr lang="en-US" sz="2160">
                <a:solidFill>
                  <a:srgbClr val="FF9900"/>
                </a:solidFill>
              </a:rPr>
              <a:t>[1] 25 26 18 39</a:t>
            </a:r>
            <a:endParaRPr sz="2160">
              <a:solidFill>
                <a:srgbClr val="FF9900"/>
              </a:solidFill>
            </a:endParaRPr>
          </a:p>
          <a:p>
            <a:pPr marL="0" lvl="0" indent="0" algn="l" rtl="0">
              <a:spcBef>
                <a:spcPts val="1000"/>
              </a:spcBef>
              <a:spcAft>
                <a:spcPts val="0"/>
              </a:spcAft>
              <a:buClr>
                <a:schemeClr val="dk1"/>
              </a:buClr>
              <a:buSzPct val="50925"/>
              <a:buFont typeface="Arial"/>
              <a:buNone/>
            </a:pPr>
            <a:r>
              <a:rPr lang="en-US" sz="2160">
                <a:solidFill>
                  <a:srgbClr val="FF9900"/>
                </a:solidFill>
              </a:rPr>
              <a:t>&gt; mylist[["ages"]]</a:t>
            </a:r>
            <a:endParaRPr sz="2160">
              <a:solidFill>
                <a:srgbClr val="FF9900"/>
              </a:solidFill>
            </a:endParaRPr>
          </a:p>
          <a:p>
            <a:pPr marL="0" lvl="0" indent="0" algn="l" rtl="0">
              <a:spcBef>
                <a:spcPts val="1000"/>
              </a:spcBef>
              <a:spcAft>
                <a:spcPts val="0"/>
              </a:spcAft>
              <a:buNone/>
            </a:pPr>
            <a:r>
              <a:rPr lang="en-US" sz="2160">
                <a:solidFill>
                  <a:srgbClr val="FF9900"/>
                </a:solidFill>
              </a:rPr>
              <a:t>[[1] 25 26 18 39</a:t>
            </a:r>
            <a:endParaRPr sz="2320">
              <a:solidFill>
                <a:srgbClr val="FF9900"/>
              </a:solidFill>
            </a:endParaRPr>
          </a:p>
        </p:txBody>
      </p:sp>
      <p:sp>
        <p:nvSpPr>
          <p:cNvPr id="650" name="Google Shape;650;g145ea7f5fe7_1_353"/>
          <p:cNvSpPr txBox="1"/>
          <p:nvPr/>
        </p:nvSpPr>
        <p:spPr>
          <a:xfrm>
            <a:off x="5950475" y="2062550"/>
            <a:ext cx="5043000" cy="1600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300">
                <a:solidFill>
                  <a:schemeClr val="lt1"/>
                </a:solidFill>
              </a:rPr>
              <a:t>In this example, you create a list with four components: a string, a numeric vector, a matrix, and a character vector.</a:t>
            </a:r>
            <a:endParaRPr sz="2300">
              <a:solidFill>
                <a:schemeClr val="lt1"/>
              </a:solidFill>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654"/>
        <p:cNvGrpSpPr/>
        <p:nvPr/>
      </p:nvGrpSpPr>
      <p:grpSpPr>
        <a:xfrm>
          <a:off x="0" y="0"/>
          <a:ext cx="0" cy="0"/>
          <a:chOff x="0" y="0"/>
          <a:chExt cx="0" cy="0"/>
        </a:xfrm>
      </p:grpSpPr>
      <p:sp>
        <p:nvSpPr>
          <p:cNvPr id="655" name="Google Shape;655;g145ea7f5fe7_1_381"/>
          <p:cNvSpPr txBox="1">
            <a:spLocks noGrp="1"/>
          </p:cNvSpPr>
          <p:nvPr>
            <p:ph type="title"/>
          </p:nvPr>
        </p:nvSpPr>
        <p:spPr>
          <a:xfrm>
            <a:off x="697686" y="215543"/>
            <a:ext cx="9404700" cy="1400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Pipes</a:t>
            </a:r>
            <a:endParaRPr/>
          </a:p>
        </p:txBody>
      </p:sp>
      <p:sp>
        <p:nvSpPr>
          <p:cNvPr id="656" name="Google Shape;656;g145ea7f5fe7_1_381"/>
          <p:cNvSpPr txBox="1">
            <a:spLocks noGrp="1"/>
          </p:cNvSpPr>
          <p:nvPr>
            <p:ph type="body" idx="1"/>
          </p:nvPr>
        </p:nvSpPr>
        <p:spPr>
          <a:xfrm>
            <a:off x="875150" y="2988900"/>
            <a:ext cx="8946600" cy="3792900"/>
          </a:xfrm>
          <a:prstGeom prst="rect">
            <a:avLst/>
          </a:prstGeom>
        </p:spPr>
        <p:txBody>
          <a:bodyPr spcFirstLastPara="1" wrap="square" lIns="91425" tIns="45700" rIns="91425" bIns="45700" anchor="t" anchorCtr="0">
            <a:normAutofit fontScale="55000" lnSpcReduction="20000"/>
          </a:bodyPr>
          <a:lstStyle/>
          <a:p>
            <a:pPr marL="0" lvl="0" indent="0" algn="l" rtl="0">
              <a:spcBef>
                <a:spcPts val="1000"/>
              </a:spcBef>
              <a:spcAft>
                <a:spcPts val="0"/>
              </a:spcAft>
              <a:buClr>
                <a:schemeClr val="dk1"/>
              </a:buClr>
              <a:buSzPct val="55000"/>
              <a:buFont typeface="Arial"/>
              <a:buNone/>
            </a:pPr>
            <a:r>
              <a:rPr lang="en-US">
                <a:solidFill>
                  <a:srgbClr val="FF9900"/>
                </a:solidFill>
              </a:rPr>
              <a:t>library(magrittr)</a:t>
            </a:r>
            <a:endParaRPr>
              <a:solidFill>
                <a:srgbClr val="FF9900"/>
              </a:solidFill>
            </a:endParaRPr>
          </a:p>
          <a:p>
            <a:pPr marL="0" lvl="0" indent="0" algn="l" rtl="0">
              <a:spcBef>
                <a:spcPts val="1000"/>
              </a:spcBef>
              <a:spcAft>
                <a:spcPts val="0"/>
              </a:spcAft>
              <a:buClr>
                <a:schemeClr val="dk1"/>
              </a:buClr>
              <a:buSzPct val="55000"/>
              <a:buFont typeface="Arial"/>
              <a:buNone/>
            </a:pPr>
            <a:r>
              <a:rPr lang="en-US">
                <a:solidFill>
                  <a:srgbClr val="FF9900"/>
                </a:solidFill>
              </a:rPr>
              <a:t>&gt; x &lt;- 1:10</a:t>
            </a:r>
            <a:endParaRPr>
              <a:solidFill>
                <a:srgbClr val="FF9900"/>
              </a:solidFill>
            </a:endParaRPr>
          </a:p>
          <a:p>
            <a:pPr marL="0" lvl="0" indent="0" algn="l" rtl="0">
              <a:spcBef>
                <a:spcPts val="1000"/>
              </a:spcBef>
              <a:spcAft>
                <a:spcPts val="0"/>
              </a:spcAft>
              <a:buClr>
                <a:schemeClr val="dk1"/>
              </a:buClr>
              <a:buSzPct val="55000"/>
              <a:buFont typeface="Arial"/>
              <a:buNone/>
            </a:pPr>
            <a:r>
              <a:rPr lang="en-US">
                <a:solidFill>
                  <a:srgbClr val="FF9900"/>
                </a:solidFill>
              </a:rPr>
              <a:t>&gt; mean(x)</a:t>
            </a:r>
            <a:endParaRPr>
              <a:solidFill>
                <a:srgbClr val="FF9900"/>
              </a:solidFill>
            </a:endParaRPr>
          </a:p>
          <a:p>
            <a:pPr marL="0" lvl="0" indent="0" algn="l" rtl="0">
              <a:spcBef>
                <a:spcPts val="1000"/>
              </a:spcBef>
              <a:spcAft>
                <a:spcPts val="0"/>
              </a:spcAft>
              <a:buClr>
                <a:schemeClr val="dk1"/>
              </a:buClr>
              <a:buSzPct val="55000"/>
              <a:buFont typeface="Arial"/>
              <a:buNone/>
            </a:pPr>
            <a:r>
              <a:rPr lang="en-US">
                <a:solidFill>
                  <a:srgbClr val="FF9900"/>
                </a:solidFill>
              </a:rPr>
              <a:t>[1] 5.5</a:t>
            </a:r>
            <a:endParaRPr>
              <a:solidFill>
                <a:srgbClr val="FF9900"/>
              </a:solidFill>
            </a:endParaRPr>
          </a:p>
          <a:p>
            <a:pPr marL="0" lvl="0" indent="0" algn="l" rtl="0">
              <a:spcBef>
                <a:spcPts val="1000"/>
              </a:spcBef>
              <a:spcAft>
                <a:spcPts val="0"/>
              </a:spcAft>
              <a:buClr>
                <a:schemeClr val="dk1"/>
              </a:buClr>
              <a:buSzPct val="55000"/>
              <a:buFont typeface="Arial"/>
              <a:buNone/>
            </a:pPr>
            <a:r>
              <a:rPr lang="en-US">
                <a:solidFill>
                  <a:srgbClr val="FF9900"/>
                </a:solidFill>
              </a:rPr>
              <a:t>&gt; x %&gt;% mean</a:t>
            </a:r>
            <a:endParaRPr>
              <a:solidFill>
                <a:srgbClr val="FF9900"/>
              </a:solidFill>
            </a:endParaRPr>
          </a:p>
          <a:p>
            <a:pPr marL="0" lvl="0" indent="0" algn="l" rtl="0">
              <a:spcBef>
                <a:spcPts val="1000"/>
              </a:spcBef>
              <a:spcAft>
                <a:spcPts val="0"/>
              </a:spcAft>
              <a:buNone/>
            </a:pPr>
            <a:r>
              <a:rPr lang="en-US">
                <a:solidFill>
                  <a:srgbClr val="FF9900"/>
                </a:solidFill>
              </a:rPr>
              <a:t>[1] 5.5</a:t>
            </a:r>
            <a:endParaRPr>
              <a:solidFill>
                <a:srgbClr val="FF9900"/>
              </a:solidFill>
            </a:endParaRPr>
          </a:p>
          <a:p>
            <a:pPr marL="0" lvl="0" indent="0" algn="l" rtl="0">
              <a:spcBef>
                <a:spcPts val="1000"/>
              </a:spcBef>
              <a:spcAft>
                <a:spcPts val="0"/>
              </a:spcAft>
              <a:buClr>
                <a:schemeClr val="dk1"/>
              </a:buClr>
              <a:buSzPct val="55000"/>
              <a:buFont typeface="Arial"/>
              <a:buNone/>
            </a:pPr>
            <a:r>
              <a:rPr lang="en-US">
                <a:solidFill>
                  <a:srgbClr val="FF9900"/>
                </a:solidFill>
              </a:rPr>
              <a:t>&gt; z &lt;- c(1, 2, NA, 8, 3, NA, 3)</a:t>
            </a:r>
            <a:endParaRPr>
              <a:solidFill>
                <a:srgbClr val="FF9900"/>
              </a:solidFill>
            </a:endParaRPr>
          </a:p>
          <a:p>
            <a:pPr marL="0" lvl="0" indent="0" algn="l" rtl="0">
              <a:spcBef>
                <a:spcPts val="1000"/>
              </a:spcBef>
              <a:spcAft>
                <a:spcPts val="0"/>
              </a:spcAft>
              <a:buClr>
                <a:schemeClr val="dk1"/>
              </a:buClr>
              <a:buSzPct val="55000"/>
              <a:buFont typeface="Arial"/>
              <a:buNone/>
            </a:pPr>
            <a:r>
              <a:rPr lang="en-US">
                <a:solidFill>
                  <a:srgbClr val="FF9900"/>
                </a:solidFill>
              </a:rPr>
              <a:t>&gt; sum(is.na(z))</a:t>
            </a:r>
            <a:endParaRPr>
              <a:solidFill>
                <a:srgbClr val="FF9900"/>
              </a:solidFill>
            </a:endParaRPr>
          </a:p>
          <a:p>
            <a:pPr marL="0" lvl="0" indent="0" algn="l" rtl="0">
              <a:spcBef>
                <a:spcPts val="1000"/>
              </a:spcBef>
              <a:spcAft>
                <a:spcPts val="0"/>
              </a:spcAft>
              <a:buClr>
                <a:schemeClr val="dk1"/>
              </a:buClr>
              <a:buSzPct val="55000"/>
              <a:buFont typeface="Arial"/>
              <a:buNone/>
            </a:pPr>
            <a:r>
              <a:rPr lang="en-US">
                <a:solidFill>
                  <a:srgbClr val="FF9900"/>
                </a:solidFill>
              </a:rPr>
              <a:t>[1] 2</a:t>
            </a:r>
            <a:endParaRPr>
              <a:solidFill>
                <a:srgbClr val="FF9900"/>
              </a:solidFill>
            </a:endParaRPr>
          </a:p>
          <a:p>
            <a:pPr marL="0" lvl="0" indent="0" algn="l" rtl="0">
              <a:spcBef>
                <a:spcPts val="1000"/>
              </a:spcBef>
              <a:spcAft>
                <a:spcPts val="0"/>
              </a:spcAft>
              <a:buClr>
                <a:schemeClr val="dk1"/>
              </a:buClr>
              <a:buSzPct val="55000"/>
              <a:buFont typeface="Arial"/>
              <a:buNone/>
            </a:pPr>
            <a:r>
              <a:rPr lang="en-US">
                <a:solidFill>
                  <a:srgbClr val="FF9900"/>
                </a:solidFill>
              </a:rPr>
              <a:t>This can also be done using pipes.</a:t>
            </a:r>
            <a:endParaRPr>
              <a:solidFill>
                <a:srgbClr val="FF9900"/>
              </a:solidFill>
            </a:endParaRPr>
          </a:p>
          <a:p>
            <a:pPr marL="0" lvl="0" indent="0" algn="l" rtl="0">
              <a:spcBef>
                <a:spcPts val="1000"/>
              </a:spcBef>
              <a:spcAft>
                <a:spcPts val="0"/>
              </a:spcAft>
              <a:buClr>
                <a:schemeClr val="dk1"/>
              </a:buClr>
              <a:buSzPct val="55000"/>
              <a:buFont typeface="Arial"/>
              <a:buNone/>
            </a:pPr>
            <a:r>
              <a:rPr lang="en-US">
                <a:solidFill>
                  <a:srgbClr val="FF9900"/>
                </a:solidFill>
              </a:rPr>
              <a:t>&gt; z %&gt;% is.na %&gt;% sum</a:t>
            </a:r>
            <a:endParaRPr>
              <a:solidFill>
                <a:srgbClr val="FF9900"/>
              </a:solidFill>
            </a:endParaRPr>
          </a:p>
          <a:p>
            <a:pPr marL="0" lvl="0" indent="0" algn="l" rtl="0">
              <a:spcBef>
                <a:spcPts val="1000"/>
              </a:spcBef>
              <a:spcAft>
                <a:spcPts val="0"/>
              </a:spcAft>
              <a:buClr>
                <a:schemeClr val="dk1"/>
              </a:buClr>
              <a:buSzPct val="55000"/>
              <a:buFont typeface="Arial"/>
              <a:buNone/>
            </a:pPr>
            <a:r>
              <a:rPr lang="en-US">
                <a:solidFill>
                  <a:srgbClr val="FF9900"/>
                </a:solidFill>
              </a:rPr>
              <a:t>[1] 2</a:t>
            </a:r>
            <a:endParaRPr>
              <a:solidFill>
                <a:srgbClr val="FF9900"/>
              </a:solidFill>
            </a:endParaRPr>
          </a:p>
          <a:p>
            <a:pPr marL="0" lvl="0" indent="0" algn="l" rtl="0">
              <a:spcBef>
                <a:spcPts val="1000"/>
              </a:spcBef>
              <a:spcAft>
                <a:spcPts val="0"/>
              </a:spcAft>
              <a:buNone/>
            </a:pPr>
            <a:r>
              <a:rPr lang="en-US">
                <a:solidFill>
                  <a:srgbClr val="FF9900"/>
                </a:solidFill>
              </a:rPr>
              <a:t>Pipes read</a:t>
            </a:r>
            <a:endParaRPr>
              <a:solidFill>
                <a:srgbClr val="FF9900"/>
              </a:solidFill>
            </a:endParaRPr>
          </a:p>
        </p:txBody>
      </p:sp>
      <p:sp>
        <p:nvSpPr>
          <p:cNvPr id="657" name="Google Shape;657;g145ea7f5fe7_1_381"/>
          <p:cNvSpPr txBox="1"/>
          <p:nvPr/>
        </p:nvSpPr>
        <p:spPr>
          <a:xfrm>
            <a:off x="783775" y="1185975"/>
            <a:ext cx="11230500" cy="1600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300">
                <a:solidFill>
                  <a:schemeClr val="lt1"/>
                </a:solidFill>
              </a:rPr>
              <a:t>A new paradigm for calling functions in R is the pipe. The pipe from the magrittr package works by </a:t>
            </a:r>
            <a:r>
              <a:rPr lang="en-US" sz="2300" u="sng">
                <a:solidFill>
                  <a:schemeClr val="lt1"/>
                </a:solidFill>
              </a:rPr>
              <a:t>taking the value or object on the left-hand side</a:t>
            </a:r>
            <a:r>
              <a:rPr lang="en-US" sz="2300">
                <a:solidFill>
                  <a:schemeClr val="lt1"/>
                </a:solidFill>
              </a:rPr>
              <a:t> of the pipe and i</a:t>
            </a:r>
            <a:r>
              <a:rPr lang="en-US" sz="2300" u="sng">
                <a:solidFill>
                  <a:schemeClr val="lt1"/>
                </a:solidFill>
              </a:rPr>
              <a:t>nserting it into the first argument of the function that is on the right-hand side of the pipe</a:t>
            </a:r>
            <a:r>
              <a:rPr lang="en-US" sz="2300">
                <a:solidFill>
                  <a:schemeClr val="lt1"/>
                </a:solidFill>
              </a:rPr>
              <a:t>.</a:t>
            </a:r>
            <a:endParaRPr sz="2300">
              <a:solidFill>
                <a:schemeClr val="lt1"/>
              </a:solidFill>
            </a:endParaRPr>
          </a:p>
        </p:txBody>
      </p:sp>
      <p:sp>
        <p:nvSpPr>
          <p:cNvPr id="658" name="Google Shape;658;g145ea7f5fe7_1_381"/>
          <p:cNvSpPr txBox="1"/>
          <p:nvPr/>
        </p:nvSpPr>
        <p:spPr>
          <a:xfrm>
            <a:off x="5012575" y="3353975"/>
            <a:ext cx="70017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800">
                <a:solidFill>
                  <a:schemeClr val="lt1"/>
                </a:solidFill>
              </a:rPr>
              <a:t>Pipes read more naturally in a left-to-right fashion, making the code easier to comprehend.</a:t>
            </a:r>
            <a:endParaRPr sz="1800">
              <a:solidFill>
                <a:schemeClr val="lt1"/>
              </a:solidFill>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662"/>
        <p:cNvGrpSpPr/>
        <p:nvPr/>
      </p:nvGrpSpPr>
      <p:grpSpPr>
        <a:xfrm>
          <a:off x="0" y="0"/>
          <a:ext cx="0" cy="0"/>
          <a:chOff x="0" y="0"/>
          <a:chExt cx="0" cy="0"/>
        </a:xfrm>
      </p:grpSpPr>
      <p:sp>
        <p:nvSpPr>
          <p:cNvPr id="663" name="Google Shape;663;g145ea7f5fe7_1_365"/>
          <p:cNvSpPr txBox="1">
            <a:spLocks noGrp="1"/>
          </p:cNvSpPr>
          <p:nvPr>
            <p:ph type="title"/>
          </p:nvPr>
        </p:nvSpPr>
        <p:spPr>
          <a:xfrm>
            <a:off x="646111" y="452718"/>
            <a:ext cx="9404700" cy="1400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Tips</a:t>
            </a:r>
            <a:endParaRPr/>
          </a:p>
        </p:txBody>
      </p:sp>
      <p:sp>
        <p:nvSpPr>
          <p:cNvPr id="664" name="Google Shape;664;g145ea7f5fe7_1_365"/>
          <p:cNvSpPr txBox="1">
            <a:spLocks noGrp="1"/>
          </p:cNvSpPr>
          <p:nvPr>
            <p:ph type="body" idx="1"/>
          </p:nvPr>
        </p:nvSpPr>
        <p:spPr>
          <a:xfrm>
            <a:off x="721737" y="1331243"/>
            <a:ext cx="8946600" cy="4195500"/>
          </a:xfrm>
          <a:prstGeom prst="rect">
            <a:avLst/>
          </a:prstGeom>
        </p:spPr>
        <p:txBody>
          <a:bodyPr spcFirstLastPara="1" wrap="square" lIns="91425" tIns="45700" rIns="91425" bIns="45700" anchor="t" anchorCtr="0">
            <a:normAutofit/>
          </a:bodyPr>
          <a:lstStyle/>
          <a:p>
            <a:pPr marL="457200" lvl="0" indent="-320040" algn="l" rtl="0">
              <a:lnSpc>
                <a:spcPct val="115000"/>
              </a:lnSpc>
              <a:spcBef>
                <a:spcPts val="1000"/>
              </a:spcBef>
              <a:spcAft>
                <a:spcPts val="0"/>
              </a:spcAft>
              <a:buSzPts val="1440"/>
              <a:buChar char="►"/>
            </a:pPr>
            <a:r>
              <a:rPr lang="en-US"/>
              <a:t>The period (.) has no special significance in object names.</a:t>
            </a:r>
            <a:endParaRPr/>
          </a:p>
          <a:p>
            <a:pPr marL="457200" lvl="0" indent="-320040" algn="l" rtl="0">
              <a:lnSpc>
                <a:spcPct val="115000"/>
              </a:lnSpc>
              <a:spcBef>
                <a:spcPts val="0"/>
              </a:spcBef>
              <a:spcAft>
                <a:spcPts val="0"/>
              </a:spcAft>
              <a:buSzPts val="1440"/>
              <a:buChar char="►"/>
            </a:pPr>
            <a:r>
              <a:rPr lang="en-US"/>
              <a:t>The dollar sign ($) is used to identify the parts of a data frame or list</a:t>
            </a:r>
            <a:endParaRPr/>
          </a:p>
          <a:p>
            <a:pPr marL="457200" lvl="0" indent="-320040" algn="l" rtl="0">
              <a:lnSpc>
                <a:spcPct val="115000"/>
              </a:lnSpc>
              <a:spcBef>
                <a:spcPts val="0"/>
              </a:spcBef>
              <a:spcAft>
                <a:spcPts val="0"/>
              </a:spcAft>
              <a:buSzPts val="1440"/>
              <a:buChar char="►"/>
            </a:pPr>
            <a:r>
              <a:rPr lang="en-US"/>
              <a:t>R doesn’t provide multiline or block comments. You must start each line of a multiline comment with #.</a:t>
            </a:r>
            <a:endParaRPr/>
          </a:p>
          <a:p>
            <a:pPr marL="457200" lvl="0" indent="-320040" algn="l" rtl="0">
              <a:lnSpc>
                <a:spcPct val="115000"/>
              </a:lnSpc>
              <a:spcBef>
                <a:spcPts val="0"/>
              </a:spcBef>
              <a:spcAft>
                <a:spcPts val="0"/>
              </a:spcAft>
              <a:buSzPts val="1440"/>
              <a:buChar char="►"/>
            </a:pPr>
            <a:r>
              <a:rPr lang="en-US"/>
              <a:t>Indices in R start at 1, not at 0</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668"/>
        <p:cNvGrpSpPr/>
        <p:nvPr/>
      </p:nvGrpSpPr>
      <p:grpSpPr>
        <a:xfrm>
          <a:off x="0" y="0"/>
          <a:ext cx="0" cy="0"/>
          <a:chOff x="0" y="0"/>
          <a:chExt cx="0" cy="0"/>
        </a:xfrm>
      </p:grpSpPr>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672"/>
        <p:cNvGrpSpPr/>
        <p:nvPr/>
      </p:nvGrpSpPr>
      <p:grpSpPr>
        <a:xfrm>
          <a:off x="0" y="0"/>
          <a:ext cx="0" cy="0"/>
          <a:chOff x="0" y="0"/>
          <a:chExt cx="0" cy="0"/>
        </a:xfrm>
      </p:grpSpPr>
      <p:sp>
        <p:nvSpPr>
          <p:cNvPr id="673" name="Google Shape;673;g145ea7f5fe7_1_393"/>
          <p:cNvSpPr txBox="1">
            <a:spLocks noGrp="1"/>
          </p:cNvSpPr>
          <p:nvPr>
            <p:ph type="title"/>
          </p:nvPr>
        </p:nvSpPr>
        <p:spPr>
          <a:xfrm>
            <a:off x="646111" y="452718"/>
            <a:ext cx="9404700" cy="1400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Reading data into R</a:t>
            </a:r>
            <a:endParaRPr/>
          </a:p>
        </p:txBody>
      </p:sp>
      <p:sp>
        <p:nvSpPr>
          <p:cNvPr id="674" name="Google Shape;674;g145ea7f5fe7_1_393"/>
          <p:cNvSpPr txBox="1">
            <a:spLocks noGrp="1"/>
          </p:cNvSpPr>
          <p:nvPr>
            <p:ph type="body" idx="1"/>
          </p:nvPr>
        </p:nvSpPr>
        <p:spPr>
          <a:xfrm>
            <a:off x="646100" y="1248500"/>
            <a:ext cx="9276600" cy="9069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a:t>There are numerous ways to get data, and in numerous formats. The most common one is reading comma separated values (CSV). </a:t>
            </a:r>
            <a:endParaRPr/>
          </a:p>
        </p:txBody>
      </p:sp>
      <p:pic>
        <p:nvPicPr>
          <p:cNvPr id="675" name="Google Shape;675;g145ea7f5fe7_1_393"/>
          <p:cNvPicPr preferRelativeResize="0"/>
          <p:nvPr/>
        </p:nvPicPr>
        <p:blipFill>
          <a:blip r:embed="rId3">
            <a:alphaModFix/>
          </a:blip>
          <a:stretch>
            <a:fillRect/>
          </a:stretch>
        </p:blipFill>
        <p:spPr>
          <a:xfrm>
            <a:off x="646100" y="2101550"/>
            <a:ext cx="8743950" cy="3638550"/>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679"/>
        <p:cNvGrpSpPr/>
        <p:nvPr/>
      </p:nvGrpSpPr>
      <p:grpSpPr>
        <a:xfrm>
          <a:off x="0" y="0"/>
          <a:ext cx="0" cy="0"/>
          <a:chOff x="0" y="0"/>
          <a:chExt cx="0" cy="0"/>
        </a:xfrm>
      </p:grpSpPr>
      <p:sp>
        <p:nvSpPr>
          <p:cNvPr id="680" name="Google Shape;680;g145ea7f5fe7_1_398"/>
          <p:cNvSpPr txBox="1">
            <a:spLocks noGrp="1"/>
          </p:cNvSpPr>
          <p:nvPr>
            <p:ph type="title"/>
          </p:nvPr>
        </p:nvSpPr>
        <p:spPr>
          <a:xfrm>
            <a:off x="646111" y="452718"/>
            <a:ext cx="9404700" cy="1400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Entering data from the keyboard</a:t>
            </a:r>
            <a:endParaRPr/>
          </a:p>
        </p:txBody>
      </p:sp>
      <p:sp>
        <p:nvSpPr>
          <p:cNvPr id="681" name="Google Shape;681;g145ea7f5fe7_1_398"/>
          <p:cNvSpPr txBox="1">
            <a:spLocks noGrp="1"/>
          </p:cNvSpPr>
          <p:nvPr>
            <p:ph type="body" idx="1"/>
          </p:nvPr>
        </p:nvSpPr>
        <p:spPr>
          <a:xfrm>
            <a:off x="773312" y="1166018"/>
            <a:ext cx="8946600" cy="41955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Clr>
                <a:schemeClr val="dk1"/>
              </a:buClr>
              <a:buSzPts val="1100"/>
              <a:buFont typeface="Arial"/>
              <a:buNone/>
            </a:pPr>
            <a:r>
              <a:rPr lang="en-US"/>
              <a:t>The edit() function in R invokes a text editor that lets you enter data manually.</a:t>
            </a:r>
            <a:endParaRPr/>
          </a:p>
          <a:p>
            <a:pPr marL="0" lvl="0" indent="0" algn="l" rtl="0">
              <a:spcBef>
                <a:spcPts val="1000"/>
              </a:spcBef>
              <a:spcAft>
                <a:spcPts val="0"/>
              </a:spcAft>
              <a:buClr>
                <a:schemeClr val="dk1"/>
              </a:buClr>
              <a:buSzPts val="1100"/>
              <a:buFont typeface="Arial"/>
              <a:buNone/>
            </a:pPr>
            <a:r>
              <a:rPr lang="en-US"/>
              <a:t>Here are the steps:</a:t>
            </a:r>
            <a:endParaRPr/>
          </a:p>
          <a:p>
            <a:pPr marL="0" lvl="0" indent="0" algn="l" rtl="0">
              <a:spcBef>
                <a:spcPts val="1000"/>
              </a:spcBef>
              <a:spcAft>
                <a:spcPts val="0"/>
              </a:spcAft>
              <a:buClr>
                <a:schemeClr val="dk1"/>
              </a:buClr>
              <a:buSzPts val="1100"/>
              <a:buFont typeface="Arial"/>
              <a:buNone/>
            </a:pPr>
            <a:r>
              <a:rPr lang="en-US"/>
              <a:t>1 Create an empty data frame (or matrix) with the variable names and modes you want to have in the final dataset.</a:t>
            </a:r>
            <a:endParaRPr/>
          </a:p>
          <a:p>
            <a:pPr marL="0" lvl="0" indent="0" algn="l" rtl="0">
              <a:spcBef>
                <a:spcPts val="1000"/>
              </a:spcBef>
              <a:spcAft>
                <a:spcPts val="0"/>
              </a:spcAft>
              <a:buNone/>
            </a:pPr>
            <a:r>
              <a:rPr lang="en-US"/>
              <a:t>2 Invoke the text editor on this data object, enter your data, and save the results to the data object.</a:t>
            </a:r>
            <a:endParaRPr/>
          </a:p>
          <a:p>
            <a:pPr marL="0" lvl="0" indent="0" algn="l" rtl="0">
              <a:spcBef>
                <a:spcPts val="1000"/>
              </a:spcBef>
              <a:spcAft>
                <a:spcPts val="0"/>
              </a:spcAft>
              <a:buNone/>
            </a:pPr>
            <a:r>
              <a:rPr lang="en-US">
                <a:solidFill>
                  <a:srgbClr val="FF9900"/>
                </a:solidFill>
              </a:rPr>
              <a:t>mydata &lt;- data.frame(age=numeric(0),</a:t>
            </a:r>
            <a:endParaRPr>
              <a:solidFill>
                <a:srgbClr val="FF9900"/>
              </a:solidFill>
            </a:endParaRPr>
          </a:p>
          <a:p>
            <a:pPr marL="0" lvl="0" indent="0" algn="l" rtl="0">
              <a:spcBef>
                <a:spcPts val="1000"/>
              </a:spcBef>
              <a:spcAft>
                <a:spcPts val="0"/>
              </a:spcAft>
              <a:buNone/>
            </a:pPr>
            <a:r>
              <a:rPr lang="en-US">
                <a:solidFill>
                  <a:srgbClr val="FF9900"/>
                </a:solidFill>
              </a:rPr>
              <a:t>gender=character(0), weight=numeric(0))</a:t>
            </a:r>
            <a:endParaRPr>
              <a:solidFill>
                <a:srgbClr val="FF9900"/>
              </a:solidFill>
            </a:endParaRPr>
          </a:p>
          <a:p>
            <a:pPr marL="0" lvl="0" indent="0" algn="l" rtl="0">
              <a:spcBef>
                <a:spcPts val="1000"/>
              </a:spcBef>
              <a:spcAft>
                <a:spcPts val="0"/>
              </a:spcAft>
              <a:buNone/>
            </a:pPr>
            <a:r>
              <a:rPr lang="en-US">
                <a:solidFill>
                  <a:srgbClr val="FF9900"/>
                </a:solidFill>
              </a:rPr>
              <a:t>mydata &lt;- edit(mydata)</a:t>
            </a:r>
            <a:endParaRPr>
              <a:solidFill>
                <a:srgbClr val="FF9900"/>
              </a:solidFill>
            </a:endParaRPr>
          </a:p>
        </p:txBody>
      </p:sp>
      <p:sp>
        <p:nvSpPr>
          <p:cNvPr id="682" name="Google Shape;682;g145ea7f5fe7_1_398"/>
          <p:cNvSpPr txBox="1"/>
          <p:nvPr/>
        </p:nvSpPr>
        <p:spPr>
          <a:xfrm>
            <a:off x="7518025" y="4073550"/>
            <a:ext cx="4330200" cy="1108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000">
                <a:solidFill>
                  <a:schemeClr val="lt1"/>
                </a:solidFill>
              </a:rPr>
              <a:t>Assignments like age=numeric(0) create a variable of a specific mode, but without actual data</a:t>
            </a:r>
            <a:endParaRPr>
              <a:solidFill>
                <a:schemeClr val="lt1"/>
              </a:solidFill>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686"/>
        <p:cNvGrpSpPr/>
        <p:nvPr/>
      </p:nvGrpSpPr>
      <p:grpSpPr>
        <a:xfrm>
          <a:off x="0" y="0"/>
          <a:ext cx="0" cy="0"/>
          <a:chOff x="0" y="0"/>
          <a:chExt cx="0" cy="0"/>
        </a:xfrm>
      </p:grpSpPr>
      <p:sp>
        <p:nvSpPr>
          <p:cNvPr id="687" name="Google Shape;687;g145ea7f5fe7_1_410"/>
          <p:cNvSpPr txBox="1">
            <a:spLocks noGrp="1"/>
          </p:cNvSpPr>
          <p:nvPr>
            <p:ph type="title"/>
          </p:nvPr>
        </p:nvSpPr>
        <p:spPr>
          <a:xfrm>
            <a:off x="646111" y="452718"/>
            <a:ext cx="9404700" cy="1400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Importing data from a delimited text file</a:t>
            </a:r>
            <a:endParaRPr dirty="0"/>
          </a:p>
        </p:txBody>
      </p:sp>
      <p:sp>
        <p:nvSpPr>
          <p:cNvPr id="688" name="Google Shape;688;g145ea7f5fe7_1_410"/>
          <p:cNvSpPr txBox="1">
            <a:spLocks noGrp="1"/>
          </p:cNvSpPr>
          <p:nvPr>
            <p:ph type="body" idx="1"/>
          </p:nvPr>
        </p:nvSpPr>
        <p:spPr>
          <a:xfrm>
            <a:off x="690949" y="2052924"/>
            <a:ext cx="10272885" cy="4352357"/>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dirty="0"/>
              <a:t>Import data from delimited text files using </a:t>
            </a:r>
            <a:r>
              <a:rPr lang="en-US" dirty="0" err="1"/>
              <a:t>read.table</a:t>
            </a:r>
            <a:r>
              <a:rPr lang="en-US" dirty="0"/>
              <a:t>(), a function that reads a file in table format and saves it as a data frame.</a:t>
            </a:r>
            <a:endParaRPr dirty="0"/>
          </a:p>
          <a:p>
            <a:pPr marL="0" lvl="0" indent="0" algn="l" rtl="0">
              <a:spcBef>
                <a:spcPts val="1000"/>
              </a:spcBef>
              <a:spcAft>
                <a:spcPts val="0"/>
              </a:spcAft>
              <a:buNone/>
            </a:pPr>
            <a:r>
              <a:rPr lang="en-US" dirty="0" err="1">
                <a:solidFill>
                  <a:srgbClr val="FF9900"/>
                </a:solidFill>
              </a:rPr>
              <a:t>mydataframe</a:t>
            </a:r>
            <a:r>
              <a:rPr lang="en-US" dirty="0">
                <a:solidFill>
                  <a:srgbClr val="FF9900"/>
                </a:solidFill>
              </a:rPr>
              <a:t> &lt;- </a:t>
            </a:r>
            <a:r>
              <a:rPr lang="en-US" dirty="0" err="1">
                <a:solidFill>
                  <a:srgbClr val="FF9900"/>
                </a:solidFill>
              </a:rPr>
              <a:t>read.table</a:t>
            </a:r>
            <a:r>
              <a:rPr lang="en-US" dirty="0">
                <a:solidFill>
                  <a:srgbClr val="FF9900"/>
                </a:solidFill>
              </a:rPr>
              <a:t>(file, options)</a:t>
            </a:r>
            <a:endParaRPr dirty="0">
              <a:solidFill>
                <a:srgbClr val="FF9900"/>
              </a:solidFill>
            </a:endParaRPr>
          </a:p>
          <a:p>
            <a:pPr marL="0" lvl="0" indent="0" algn="l" rtl="0">
              <a:spcBef>
                <a:spcPts val="1000"/>
              </a:spcBef>
              <a:spcAft>
                <a:spcPts val="0"/>
              </a:spcAft>
              <a:buNone/>
            </a:pPr>
            <a:endParaRPr lang="en-US" dirty="0">
              <a:solidFill>
                <a:srgbClr val="FF9900"/>
              </a:solidFill>
            </a:endParaRPr>
          </a:p>
          <a:p>
            <a:pPr marL="0" lvl="0" indent="0">
              <a:buNone/>
            </a:pPr>
            <a:r>
              <a:rPr lang="en-US" sz="3600" dirty="0"/>
              <a:t>Importing data from a CSV file</a:t>
            </a:r>
            <a:endParaRPr lang="en-US" sz="3600" dirty="0">
              <a:solidFill>
                <a:srgbClr val="FF9900"/>
              </a:solidFill>
            </a:endParaRPr>
          </a:p>
          <a:p>
            <a:pPr marL="0" lvl="0" indent="0" algn="l" rtl="0">
              <a:spcBef>
                <a:spcPts val="1000"/>
              </a:spcBef>
              <a:spcAft>
                <a:spcPts val="0"/>
              </a:spcAft>
              <a:buNone/>
            </a:pPr>
            <a:endParaRPr lang="en-US" dirty="0">
              <a:solidFill>
                <a:srgbClr val="FF9900"/>
              </a:solidFill>
            </a:endParaRPr>
          </a:p>
          <a:p>
            <a:pPr marL="0" lvl="0" indent="0">
              <a:buNone/>
            </a:pPr>
            <a:r>
              <a:rPr lang="en-US" dirty="0">
                <a:solidFill>
                  <a:srgbClr val="FF9900"/>
                </a:solidFill>
              </a:rPr>
              <a:t>Data &lt;- read.csv(“"C:/GIIS/Bis Hazari.csv"”) OR </a:t>
            </a:r>
          </a:p>
          <a:p>
            <a:pPr marL="0" lvl="0" indent="0" algn="l" rtl="0">
              <a:spcBef>
                <a:spcPts val="1000"/>
              </a:spcBef>
              <a:spcAft>
                <a:spcPts val="0"/>
              </a:spcAft>
              <a:buNone/>
            </a:pPr>
            <a:r>
              <a:rPr lang="en-US" dirty="0">
                <a:solidFill>
                  <a:srgbClr val="FF9900"/>
                </a:solidFill>
              </a:rPr>
              <a:t>Data &lt;- read.csv(</a:t>
            </a:r>
            <a:r>
              <a:rPr lang="en-US" dirty="0" err="1">
                <a:solidFill>
                  <a:srgbClr val="FF9900"/>
                </a:solidFill>
              </a:rPr>
              <a:t>file.choose</a:t>
            </a:r>
            <a:r>
              <a:rPr lang="en-US" dirty="0">
                <a:solidFill>
                  <a:srgbClr val="FF9900"/>
                </a:solidFill>
              </a:rPr>
              <a:t>(), header=T)</a:t>
            </a:r>
            <a:endParaRPr dirty="0">
              <a:solidFill>
                <a:srgbClr val="FF9900"/>
              </a:solidFill>
            </a:endParaRPr>
          </a:p>
          <a:p>
            <a:pPr marL="0" lvl="0" indent="0" algn="l" rtl="0">
              <a:spcBef>
                <a:spcPts val="1000"/>
              </a:spcBef>
              <a:spcAft>
                <a:spcPts val="0"/>
              </a:spcAft>
              <a:buNone/>
            </a:pPr>
            <a:endParaRPr dirty="0">
              <a:solidFill>
                <a:srgbClr val="FF9900"/>
              </a:solidFill>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692"/>
        <p:cNvGrpSpPr/>
        <p:nvPr/>
      </p:nvGrpSpPr>
      <p:grpSpPr>
        <a:xfrm>
          <a:off x="0" y="0"/>
          <a:ext cx="0" cy="0"/>
          <a:chOff x="0" y="0"/>
          <a:chExt cx="0" cy="0"/>
        </a:xfrm>
      </p:grpSpPr>
      <p:pic>
        <p:nvPicPr>
          <p:cNvPr id="693" name="Google Shape;693;g145ea7f5fe7_1_420"/>
          <p:cNvPicPr preferRelativeResize="0"/>
          <p:nvPr/>
        </p:nvPicPr>
        <p:blipFill rotWithShape="1">
          <a:blip r:embed="rId3">
            <a:alphaModFix/>
          </a:blip>
          <a:srcRect l="85" r="4730"/>
          <a:stretch/>
        </p:blipFill>
        <p:spPr>
          <a:xfrm>
            <a:off x="-61875" y="0"/>
            <a:ext cx="6692149" cy="2976600"/>
          </a:xfrm>
          <a:prstGeom prst="rect">
            <a:avLst/>
          </a:prstGeom>
          <a:noFill/>
          <a:ln>
            <a:noFill/>
          </a:ln>
        </p:spPr>
      </p:pic>
      <p:pic>
        <p:nvPicPr>
          <p:cNvPr id="694" name="Google Shape;694;g145ea7f5fe7_1_420"/>
          <p:cNvPicPr preferRelativeResize="0"/>
          <p:nvPr/>
        </p:nvPicPr>
        <p:blipFill rotWithShape="1">
          <a:blip r:embed="rId4">
            <a:alphaModFix/>
          </a:blip>
          <a:srcRect t="15454"/>
          <a:stretch/>
        </p:blipFill>
        <p:spPr>
          <a:xfrm>
            <a:off x="-61875" y="2932825"/>
            <a:ext cx="6692149" cy="3805424"/>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sp>
        <p:nvSpPr>
          <p:cNvPr id="699" name="Google Shape;699;g145ea7f5fe7_1_427"/>
          <p:cNvSpPr txBox="1">
            <a:spLocks noGrp="1"/>
          </p:cNvSpPr>
          <p:nvPr>
            <p:ph type="title"/>
          </p:nvPr>
        </p:nvSpPr>
        <p:spPr>
          <a:xfrm>
            <a:off x="646111" y="452718"/>
            <a:ext cx="9404700" cy="1400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Importing data from Excel</a:t>
            </a:r>
            <a:endParaRPr/>
          </a:p>
        </p:txBody>
      </p:sp>
      <p:sp>
        <p:nvSpPr>
          <p:cNvPr id="700" name="Google Shape;700;g145ea7f5fe7_1_427"/>
          <p:cNvSpPr txBox="1">
            <a:spLocks noGrp="1"/>
          </p:cNvSpPr>
          <p:nvPr>
            <p:ph type="body" idx="1"/>
          </p:nvPr>
        </p:nvSpPr>
        <p:spPr>
          <a:xfrm>
            <a:off x="674150" y="1918850"/>
            <a:ext cx="9348600" cy="21444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Clr>
                <a:schemeClr val="dk1"/>
              </a:buClr>
              <a:buSzPts val="1100"/>
              <a:buFont typeface="Arial"/>
              <a:buNone/>
            </a:pPr>
            <a:r>
              <a:rPr lang="en-US">
                <a:solidFill>
                  <a:srgbClr val="FF9900"/>
                </a:solidFill>
              </a:rPr>
              <a:t>library(xlsx)</a:t>
            </a:r>
            <a:endParaRPr>
              <a:solidFill>
                <a:srgbClr val="FF9900"/>
              </a:solidFill>
            </a:endParaRPr>
          </a:p>
          <a:p>
            <a:pPr marL="0" lvl="0" indent="0" algn="l" rtl="0">
              <a:spcBef>
                <a:spcPts val="1000"/>
              </a:spcBef>
              <a:spcAft>
                <a:spcPts val="0"/>
              </a:spcAft>
              <a:buClr>
                <a:schemeClr val="dk1"/>
              </a:buClr>
              <a:buSzPts val="1100"/>
              <a:buFont typeface="Arial"/>
              <a:buNone/>
            </a:pPr>
            <a:r>
              <a:rPr lang="en-US">
                <a:solidFill>
                  <a:srgbClr val="FF9900"/>
                </a:solidFill>
              </a:rPr>
              <a:t>workbook &lt;- "c:/myworkbook.xlsx"</a:t>
            </a:r>
            <a:endParaRPr>
              <a:solidFill>
                <a:srgbClr val="FF9900"/>
              </a:solidFill>
            </a:endParaRPr>
          </a:p>
          <a:p>
            <a:pPr marL="0" lvl="0" indent="0" algn="l" rtl="0">
              <a:spcBef>
                <a:spcPts val="1000"/>
              </a:spcBef>
              <a:spcAft>
                <a:spcPts val="0"/>
              </a:spcAft>
              <a:buNone/>
            </a:pPr>
            <a:r>
              <a:rPr lang="en-US">
                <a:solidFill>
                  <a:srgbClr val="FF9900"/>
                </a:solidFill>
              </a:rPr>
              <a:t>mydataframe &lt;- read.xlsx(workbook, 1)</a:t>
            </a:r>
            <a:endParaRPr>
              <a:solidFill>
                <a:srgbClr val="FF9900"/>
              </a:solidFill>
            </a:endParaRPr>
          </a:p>
        </p:txBody>
      </p:sp>
      <p:sp>
        <p:nvSpPr>
          <p:cNvPr id="701" name="Google Shape;701;g145ea7f5fe7_1_427"/>
          <p:cNvSpPr txBox="1">
            <a:spLocks noGrp="1"/>
          </p:cNvSpPr>
          <p:nvPr>
            <p:ph type="body" idx="1"/>
          </p:nvPr>
        </p:nvSpPr>
        <p:spPr>
          <a:xfrm>
            <a:off x="775000" y="1134350"/>
            <a:ext cx="9348600" cy="784500"/>
          </a:xfrm>
          <a:prstGeom prst="rect">
            <a:avLst/>
          </a:prstGeom>
        </p:spPr>
        <p:txBody>
          <a:bodyPr spcFirstLastPara="1" wrap="square" lIns="91425" tIns="45700" rIns="91425" bIns="45700" anchor="t" anchorCtr="0">
            <a:normAutofit fontScale="92500" lnSpcReduction="10000"/>
          </a:bodyPr>
          <a:lstStyle/>
          <a:p>
            <a:pPr marL="0" lvl="0" indent="0" algn="l" rtl="0">
              <a:spcBef>
                <a:spcPts val="1000"/>
              </a:spcBef>
              <a:spcAft>
                <a:spcPts val="0"/>
              </a:spcAft>
              <a:buNone/>
            </a:pPr>
            <a:r>
              <a:rPr lang="en-US"/>
              <a:t>Excel worksheets directly using the xlsx package. You’ll also need the xlsxjars and rJava packages and a working installation of Java (http://java.com)</a:t>
            </a:r>
            <a:endParaRPr/>
          </a:p>
        </p:txBody>
      </p:sp>
      <p:sp>
        <p:nvSpPr>
          <p:cNvPr id="702" name="Google Shape;702;g145ea7f5fe7_1_427"/>
          <p:cNvSpPr txBox="1"/>
          <p:nvPr/>
        </p:nvSpPr>
        <p:spPr>
          <a:xfrm>
            <a:off x="775000" y="3269150"/>
            <a:ext cx="107031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000">
                <a:solidFill>
                  <a:schemeClr val="lt1"/>
                </a:solidFill>
              </a:rPr>
              <a:t>The foreign package provides a number of functions similar to read.table to read in data from</a:t>
            </a:r>
            <a:endParaRPr sz="2000">
              <a:solidFill>
                <a:schemeClr val="lt1"/>
              </a:solidFill>
            </a:endParaRPr>
          </a:p>
          <a:p>
            <a:pPr marL="0" lvl="0" indent="0" algn="l" rtl="0">
              <a:spcBef>
                <a:spcPts val="0"/>
              </a:spcBef>
              <a:spcAft>
                <a:spcPts val="0"/>
              </a:spcAft>
              <a:buNone/>
            </a:pPr>
            <a:r>
              <a:rPr lang="en-US" sz="2000">
                <a:solidFill>
                  <a:schemeClr val="lt1"/>
                </a:solidFill>
              </a:rPr>
              <a:t>other tools.</a:t>
            </a:r>
            <a:endParaRPr>
              <a:solidFill>
                <a:schemeClr val="lt1"/>
              </a:solidFill>
            </a:endParaRPr>
          </a:p>
        </p:txBody>
      </p:sp>
      <p:pic>
        <p:nvPicPr>
          <p:cNvPr id="703" name="Google Shape;703;g145ea7f5fe7_1_427"/>
          <p:cNvPicPr preferRelativeResize="0"/>
          <p:nvPr/>
        </p:nvPicPr>
        <p:blipFill>
          <a:blip r:embed="rId3">
            <a:alphaModFix/>
          </a:blip>
          <a:stretch>
            <a:fillRect/>
          </a:stretch>
        </p:blipFill>
        <p:spPr>
          <a:xfrm>
            <a:off x="775000" y="4273500"/>
            <a:ext cx="2266100" cy="1934800"/>
          </a:xfrm>
          <a:prstGeom prst="rect">
            <a:avLst/>
          </a:prstGeom>
          <a:noFill/>
          <a:ln>
            <a:noFill/>
          </a:ln>
        </p:spPr>
      </p:pic>
      <p:sp>
        <p:nvSpPr>
          <p:cNvPr id="2" name="TextBox 1">
            <a:extLst>
              <a:ext uri="{FF2B5EF4-FFF2-40B4-BE49-F238E27FC236}">
                <a16:creationId xmlns:a16="http://schemas.microsoft.com/office/drawing/2014/main" id="{DFB6662B-023D-470C-B3BA-A837BA333FD7}"/>
              </a:ext>
            </a:extLst>
          </p:cNvPr>
          <p:cNvSpPr txBox="1"/>
          <p:nvPr/>
        </p:nvSpPr>
        <p:spPr>
          <a:xfrm>
            <a:off x="4177553" y="4273499"/>
            <a:ext cx="7300547" cy="1323439"/>
          </a:xfrm>
          <a:prstGeom prst="rect">
            <a:avLst/>
          </a:prstGeom>
          <a:noFill/>
        </p:spPr>
        <p:txBody>
          <a:bodyPr wrap="square" rtlCol="0">
            <a:spAutoFit/>
          </a:bodyPr>
          <a:lstStyle/>
          <a:p>
            <a:r>
              <a:rPr lang="en-US" sz="2000" dirty="0">
                <a:solidFill>
                  <a:schemeClr val="accent3"/>
                </a:solidFill>
              </a:rPr>
              <a:t>library(</a:t>
            </a:r>
            <a:r>
              <a:rPr lang="en-US" sz="2000" dirty="0" err="1">
                <a:solidFill>
                  <a:schemeClr val="accent3"/>
                </a:solidFill>
              </a:rPr>
              <a:t>readxl</a:t>
            </a:r>
            <a:r>
              <a:rPr lang="en-US" sz="2000" dirty="0">
                <a:solidFill>
                  <a:schemeClr val="accent3"/>
                </a:solidFill>
              </a:rPr>
              <a:t>)</a:t>
            </a:r>
          </a:p>
          <a:p>
            <a:endParaRPr lang="en-US" sz="2000" dirty="0">
              <a:solidFill>
                <a:schemeClr val="accent3"/>
              </a:solidFill>
            </a:endParaRPr>
          </a:p>
          <a:p>
            <a:r>
              <a:rPr lang="en-US" sz="2000" dirty="0">
                <a:solidFill>
                  <a:schemeClr val="accent3"/>
                </a:solidFill>
              </a:rPr>
              <a:t>data &lt;- </a:t>
            </a:r>
            <a:r>
              <a:rPr lang="en-US" sz="2000" dirty="0" err="1">
                <a:solidFill>
                  <a:schemeClr val="accent3"/>
                </a:solidFill>
              </a:rPr>
              <a:t>read_excel</a:t>
            </a:r>
            <a:r>
              <a:rPr lang="en-US" sz="2000" dirty="0">
                <a:solidFill>
                  <a:schemeClr val="accent3"/>
                </a:solidFill>
              </a:rPr>
              <a:t>("C:/Users/Dell/Downloads/tree data in R training.xlsx", sheet = 2)</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707"/>
        <p:cNvGrpSpPr/>
        <p:nvPr/>
      </p:nvGrpSpPr>
      <p:grpSpPr>
        <a:xfrm>
          <a:off x="0" y="0"/>
          <a:ext cx="0" cy="0"/>
          <a:chOff x="0" y="0"/>
          <a:chExt cx="0" cy="0"/>
        </a:xfrm>
      </p:grpSpPr>
      <p:sp>
        <p:nvSpPr>
          <p:cNvPr id="708" name="Google Shape;708;g145ea7f5fe7_1_440"/>
          <p:cNvSpPr txBox="1">
            <a:spLocks noGrp="1"/>
          </p:cNvSpPr>
          <p:nvPr>
            <p:ph type="title"/>
          </p:nvPr>
        </p:nvSpPr>
        <p:spPr>
          <a:xfrm>
            <a:off x="646100" y="452723"/>
            <a:ext cx="9404700" cy="10323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Extract Data from Web Sites</a:t>
            </a:r>
            <a:endParaRPr/>
          </a:p>
        </p:txBody>
      </p:sp>
      <p:sp>
        <p:nvSpPr>
          <p:cNvPr id="709" name="Google Shape;709;g145ea7f5fe7_1_440"/>
          <p:cNvSpPr txBox="1">
            <a:spLocks noGrp="1"/>
          </p:cNvSpPr>
          <p:nvPr>
            <p:ph type="body" idx="1"/>
          </p:nvPr>
        </p:nvSpPr>
        <p:spPr>
          <a:xfrm>
            <a:off x="752850" y="4558925"/>
            <a:ext cx="9404700" cy="1350300"/>
          </a:xfrm>
          <a:prstGeom prst="rect">
            <a:avLst/>
          </a:prstGeom>
        </p:spPr>
        <p:txBody>
          <a:bodyPr spcFirstLastPara="1" wrap="square" lIns="91425" tIns="45700" rIns="91425" bIns="45700" anchor="t" anchorCtr="0">
            <a:normAutofit lnSpcReduction="10000"/>
          </a:bodyPr>
          <a:lstStyle/>
          <a:p>
            <a:pPr marL="0" lvl="0" indent="0" algn="l" rtl="0">
              <a:spcBef>
                <a:spcPts val="1000"/>
              </a:spcBef>
              <a:spcAft>
                <a:spcPts val="0"/>
              </a:spcAft>
              <a:buClr>
                <a:schemeClr val="dk1"/>
              </a:buClr>
              <a:buSzPts val="1100"/>
              <a:buFont typeface="Arial"/>
              <a:buNone/>
            </a:pPr>
            <a:r>
              <a:rPr lang="en-US">
                <a:solidFill>
                  <a:srgbClr val="FF9900"/>
                </a:solidFill>
              </a:rPr>
              <a:t>theUrl &lt;- "http://www.jaredlander.com/data/TomatoFirst.csv"</a:t>
            </a:r>
            <a:endParaRPr>
              <a:solidFill>
                <a:srgbClr val="FF9900"/>
              </a:solidFill>
            </a:endParaRPr>
          </a:p>
          <a:p>
            <a:pPr marL="0" lvl="0" indent="0" algn="l" rtl="0">
              <a:spcBef>
                <a:spcPts val="1000"/>
              </a:spcBef>
              <a:spcAft>
                <a:spcPts val="0"/>
              </a:spcAft>
              <a:buClr>
                <a:schemeClr val="dk1"/>
              </a:buClr>
              <a:buSzPts val="1100"/>
              <a:buFont typeface="Arial"/>
              <a:buNone/>
            </a:pPr>
            <a:r>
              <a:rPr lang="en-US">
                <a:solidFill>
                  <a:srgbClr val="FF9900"/>
                </a:solidFill>
              </a:rPr>
              <a:t>tomato &lt;- read.table(file=theUrl, header=TRUE, sep=",")</a:t>
            </a:r>
            <a:endParaRPr>
              <a:solidFill>
                <a:srgbClr val="FF9900"/>
              </a:solidFill>
            </a:endParaRPr>
          </a:p>
          <a:p>
            <a:pPr marL="0" lvl="0" indent="0" algn="l" rtl="0">
              <a:spcBef>
                <a:spcPts val="1000"/>
              </a:spcBef>
              <a:spcAft>
                <a:spcPts val="0"/>
              </a:spcAft>
              <a:buClr>
                <a:schemeClr val="dk1"/>
              </a:buClr>
              <a:buSzPts val="1100"/>
              <a:buFont typeface="Arial"/>
              <a:buNone/>
            </a:pPr>
            <a:r>
              <a:rPr lang="en-US">
                <a:solidFill>
                  <a:srgbClr val="FF9900"/>
                </a:solidFill>
              </a:rPr>
              <a:t>head(tomato)</a:t>
            </a:r>
            <a:endParaRPr/>
          </a:p>
        </p:txBody>
      </p:sp>
      <p:sp>
        <p:nvSpPr>
          <p:cNvPr id="710" name="Google Shape;710;g145ea7f5fe7_1_440"/>
          <p:cNvSpPr txBox="1"/>
          <p:nvPr/>
        </p:nvSpPr>
        <p:spPr>
          <a:xfrm>
            <a:off x="752850" y="1196300"/>
            <a:ext cx="108387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000">
                <a:solidFill>
                  <a:schemeClr val="lt1"/>
                </a:solidFill>
              </a:rPr>
              <a:t>If the data are stored neatly in an HTML table, we can use readHTMLTable in the</a:t>
            </a:r>
            <a:endParaRPr sz="2000">
              <a:solidFill>
                <a:schemeClr val="lt1"/>
              </a:solidFill>
            </a:endParaRPr>
          </a:p>
          <a:p>
            <a:pPr marL="0" lvl="0" indent="0" algn="l" rtl="0">
              <a:spcBef>
                <a:spcPts val="0"/>
              </a:spcBef>
              <a:spcAft>
                <a:spcPts val="0"/>
              </a:spcAft>
              <a:buNone/>
            </a:pPr>
            <a:r>
              <a:rPr lang="en-US" sz="2000">
                <a:solidFill>
                  <a:schemeClr val="lt1"/>
                </a:solidFill>
              </a:rPr>
              <a:t>XML package to easily extract it.</a:t>
            </a:r>
            <a:endParaRPr>
              <a:solidFill>
                <a:schemeClr val="lt1"/>
              </a:solidFill>
            </a:endParaRPr>
          </a:p>
        </p:txBody>
      </p:sp>
      <p:sp>
        <p:nvSpPr>
          <p:cNvPr id="711" name="Google Shape;711;g145ea7f5fe7_1_440"/>
          <p:cNvSpPr txBox="1"/>
          <p:nvPr/>
        </p:nvSpPr>
        <p:spPr>
          <a:xfrm>
            <a:off x="752850" y="2186300"/>
            <a:ext cx="9982800" cy="2031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000">
                <a:solidFill>
                  <a:srgbClr val="FF9900"/>
                </a:solidFill>
              </a:rPr>
              <a:t>library(XML)</a:t>
            </a:r>
            <a:endParaRPr sz="2000">
              <a:solidFill>
                <a:srgbClr val="FF9900"/>
              </a:solidFill>
            </a:endParaRPr>
          </a:p>
          <a:p>
            <a:pPr marL="0" lvl="0" indent="0" algn="l" rtl="0">
              <a:spcBef>
                <a:spcPts val="0"/>
              </a:spcBef>
              <a:spcAft>
                <a:spcPts val="0"/>
              </a:spcAft>
              <a:buNone/>
            </a:pPr>
            <a:r>
              <a:rPr lang="en-US" sz="2000">
                <a:solidFill>
                  <a:srgbClr val="FF9900"/>
                </a:solidFill>
              </a:rPr>
              <a:t>theURL &lt;- "http://www.jaredlander.com/2012/02/another-kind-of-super-bowl-pool/"</a:t>
            </a:r>
            <a:endParaRPr sz="2000">
              <a:solidFill>
                <a:srgbClr val="FF9900"/>
              </a:solidFill>
            </a:endParaRPr>
          </a:p>
          <a:p>
            <a:pPr marL="0" lvl="0" indent="0" algn="l" rtl="0">
              <a:spcBef>
                <a:spcPts val="0"/>
              </a:spcBef>
              <a:spcAft>
                <a:spcPts val="0"/>
              </a:spcAft>
              <a:buNone/>
            </a:pPr>
            <a:r>
              <a:rPr lang="en-US" sz="2000">
                <a:solidFill>
                  <a:srgbClr val="FF9900"/>
                </a:solidFill>
              </a:rPr>
              <a:t>bowlPool &lt;- readHTMLTable(theURL, which=1, header=FALSE, stringsAsFactors=FALSE)</a:t>
            </a:r>
            <a:endParaRPr sz="2000">
              <a:solidFill>
                <a:srgbClr val="FF9900"/>
              </a:solidFill>
            </a:endParaRPr>
          </a:p>
          <a:p>
            <a:pPr marL="0" lvl="0" indent="0" algn="l" rtl="0">
              <a:spcBef>
                <a:spcPts val="0"/>
              </a:spcBef>
              <a:spcAft>
                <a:spcPts val="0"/>
              </a:spcAft>
              <a:buNone/>
            </a:pPr>
            <a:endParaRPr sz="2000">
              <a:solidFill>
                <a:srgbClr val="FF9900"/>
              </a:solidFill>
            </a:endParaRPr>
          </a:p>
          <a:p>
            <a:pPr marL="0" lvl="0" indent="0" algn="l" rtl="0">
              <a:spcBef>
                <a:spcPts val="0"/>
              </a:spcBef>
              <a:spcAft>
                <a:spcPts val="0"/>
              </a:spcAft>
              <a:buNone/>
            </a:pPr>
            <a:r>
              <a:rPr lang="en-US" sz="2000">
                <a:solidFill>
                  <a:srgbClr val="FF9900"/>
                </a:solidFill>
              </a:rPr>
              <a:t>bowlPool</a:t>
            </a:r>
            <a:endParaRPr>
              <a:solidFill>
                <a:srgbClr val="FF9900"/>
              </a:solidFill>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715"/>
        <p:cNvGrpSpPr/>
        <p:nvPr/>
      </p:nvGrpSpPr>
      <p:grpSpPr>
        <a:xfrm>
          <a:off x="0" y="0"/>
          <a:ext cx="0" cy="0"/>
          <a:chOff x="0" y="0"/>
          <a:chExt cx="0" cy="0"/>
        </a:xfrm>
      </p:grpSpPr>
      <p:sp>
        <p:nvSpPr>
          <p:cNvPr id="716" name="Google Shape;716;g145ea7f5fe7_1_451"/>
          <p:cNvSpPr txBox="1">
            <a:spLocks noGrp="1"/>
          </p:cNvSpPr>
          <p:nvPr>
            <p:ph type="title"/>
          </p:nvPr>
        </p:nvSpPr>
        <p:spPr>
          <a:xfrm>
            <a:off x="646100" y="452722"/>
            <a:ext cx="9404700" cy="8673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US"/>
              <a:t>Extract Data from Web Sites</a:t>
            </a:r>
            <a:endParaRPr/>
          </a:p>
          <a:p>
            <a:pPr marL="0" lvl="0" indent="0" algn="l" rtl="0">
              <a:spcBef>
                <a:spcPts val="0"/>
              </a:spcBef>
              <a:spcAft>
                <a:spcPts val="0"/>
              </a:spcAft>
              <a:buNone/>
            </a:pPr>
            <a:endParaRPr/>
          </a:p>
        </p:txBody>
      </p:sp>
      <p:sp>
        <p:nvSpPr>
          <p:cNvPr id="717" name="Google Shape;717;g145ea7f5fe7_1_451"/>
          <p:cNvSpPr txBox="1">
            <a:spLocks noGrp="1"/>
          </p:cNvSpPr>
          <p:nvPr>
            <p:ph type="body" idx="1"/>
          </p:nvPr>
        </p:nvSpPr>
        <p:spPr>
          <a:xfrm>
            <a:off x="753800" y="1331250"/>
            <a:ext cx="9297000" cy="41955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a:t>Data can be obtained from the web via webscraping or the use of application programming interfaces (APIs). Webscraping is used to extract the information embedded in specific web pages, whereas APIs allow you to interact with web services and online data stores.</a:t>
            </a:r>
            <a:endParaRPr/>
          </a:p>
          <a:p>
            <a:pPr marL="0" lvl="0" indent="0" algn="l" rtl="0">
              <a:spcBef>
                <a:spcPts val="1000"/>
              </a:spcBef>
              <a:spcAft>
                <a:spcPts val="0"/>
              </a:spcAft>
              <a:buNone/>
            </a:pPr>
            <a:endParaRPr/>
          </a:p>
          <a:p>
            <a:pPr marL="0" lvl="0" indent="0" algn="l" rtl="0">
              <a:spcBef>
                <a:spcPts val="1000"/>
              </a:spcBef>
              <a:spcAft>
                <a:spcPts val="0"/>
              </a:spcAft>
              <a:buNone/>
            </a:pPr>
            <a:r>
              <a:rPr lang="en-US"/>
              <a:t>For example, if you’re interested in social media, you can access Twitter data via </a:t>
            </a:r>
            <a:r>
              <a:rPr lang="en-US">
                <a:solidFill>
                  <a:srgbClr val="EC5453"/>
                </a:solidFill>
              </a:rPr>
              <a:t>twitteR</a:t>
            </a:r>
            <a:r>
              <a:rPr lang="en-US"/>
              <a:t>, Facebook data via </a:t>
            </a:r>
            <a:r>
              <a:rPr lang="en-US">
                <a:solidFill>
                  <a:srgbClr val="EC5453"/>
                </a:solidFill>
              </a:rPr>
              <a:t>Rfacebook</a:t>
            </a:r>
            <a:r>
              <a:rPr lang="en-US"/>
              <a:t>, and Flickr data via </a:t>
            </a:r>
            <a:r>
              <a:rPr lang="en-US">
                <a:solidFill>
                  <a:srgbClr val="EC5453"/>
                </a:solidFill>
              </a:rPr>
              <a:t>Rflickr</a:t>
            </a:r>
            <a:endParaRPr>
              <a:solidFill>
                <a:srgbClr val="EC5453"/>
              </a:solidFill>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721"/>
        <p:cNvGrpSpPr/>
        <p:nvPr/>
      </p:nvGrpSpPr>
      <p:grpSpPr>
        <a:xfrm>
          <a:off x="0" y="0"/>
          <a:ext cx="0" cy="0"/>
          <a:chOff x="0" y="0"/>
          <a:chExt cx="0" cy="0"/>
        </a:xfrm>
      </p:grpSpPr>
      <p:sp>
        <p:nvSpPr>
          <p:cNvPr id="722" name="Google Shape;722;g145ea7f5fe7_1_458"/>
          <p:cNvSpPr txBox="1">
            <a:spLocks noGrp="1"/>
          </p:cNvSpPr>
          <p:nvPr>
            <p:ph type="title"/>
          </p:nvPr>
        </p:nvSpPr>
        <p:spPr>
          <a:xfrm>
            <a:off x="670325" y="452725"/>
            <a:ext cx="9380400" cy="1400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Importing data from </a:t>
            </a:r>
            <a:r>
              <a:rPr lang="en-US" dirty="0" err="1"/>
              <a:t>NetCDF</a:t>
            </a:r>
            <a:endParaRPr dirty="0"/>
          </a:p>
        </p:txBody>
      </p:sp>
      <p:sp>
        <p:nvSpPr>
          <p:cNvPr id="723" name="Google Shape;723;g145ea7f5fe7_1_458"/>
          <p:cNvSpPr txBox="1">
            <a:spLocks noGrp="1"/>
          </p:cNvSpPr>
          <p:nvPr>
            <p:ph type="body" idx="1"/>
          </p:nvPr>
        </p:nvSpPr>
        <p:spPr>
          <a:xfrm>
            <a:off x="733025" y="1227900"/>
            <a:ext cx="10806900" cy="33408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a:t>Unidata’s Network Common Data Form (NetCDF) open source software contains machine-independent data formats for the creation and distribution of array-oriented scientific data. NetCDF is commonly used to store geophysical data</a:t>
            </a:r>
            <a:endParaRPr/>
          </a:p>
          <a:p>
            <a:pPr marL="0" lvl="0" indent="0" algn="l" rtl="0">
              <a:spcBef>
                <a:spcPts val="1000"/>
              </a:spcBef>
              <a:spcAft>
                <a:spcPts val="0"/>
              </a:spcAft>
              <a:buNone/>
            </a:pPr>
            <a:r>
              <a:rPr lang="en-US"/>
              <a:t>The ncdf package provides support for data files created with Unidata’s NetCDF library</a:t>
            </a:r>
            <a:endParaRPr/>
          </a:p>
          <a:p>
            <a:pPr marL="0" lvl="0" indent="0" algn="l" rtl="0">
              <a:spcBef>
                <a:spcPts val="1000"/>
              </a:spcBef>
              <a:spcAft>
                <a:spcPts val="0"/>
              </a:spcAft>
              <a:buNone/>
            </a:pPr>
            <a:r>
              <a:rPr lang="en-US">
                <a:solidFill>
                  <a:srgbClr val="FF9900"/>
                </a:solidFill>
              </a:rPr>
              <a:t>library(ncdf)</a:t>
            </a:r>
            <a:endParaRPr>
              <a:solidFill>
                <a:srgbClr val="FF9900"/>
              </a:solidFill>
            </a:endParaRPr>
          </a:p>
          <a:p>
            <a:pPr marL="0" lvl="0" indent="0" algn="l" rtl="0">
              <a:spcBef>
                <a:spcPts val="1000"/>
              </a:spcBef>
              <a:spcAft>
                <a:spcPts val="0"/>
              </a:spcAft>
              <a:buNone/>
            </a:pPr>
            <a:r>
              <a:rPr lang="en-US">
                <a:solidFill>
                  <a:srgbClr val="FF9900"/>
                </a:solidFill>
              </a:rPr>
              <a:t>nc &lt;- nc_open("mynetCDFfile")</a:t>
            </a:r>
            <a:endParaRPr>
              <a:solidFill>
                <a:srgbClr val="FF9900"/>
              </a:solidFill>
            </a:endParaRPr>
          </a:p>
          <a:p>
            <a:pPr marL="0" lvl="0" indent="0" algn="l" rtl="0">
              <a:spcBef>
                <a:spcPts val="1000"/>
              </a:spcBef>
              <a:spcAft>
                <a:spcPts val="0"/>
              </a:spcAft>
              <a:buNone/>
            </a:pPr>
            <a:r>
              <a:rPr lang="en-US">
                <a:solidFill>
                  <a:srgbClr val="FF9900"/>
                </a:solidFill>
              </a:rPr>
              <a:t>myarray &lt;- get.var.ncdf(nc, myvar)</a:t>
            </a:r>
            <a:endParaRPr>
              <a:solidFill>
                <a:srgbClr val="FF9900"/>
              </a:solidFill>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727"/>
        <p:cNvGrpSpPr/>
        <p:nvPr/>
      </p:nvGrpSpPr>
      <p:grpSpPr>
        <a:xfrm>
          <a:off x="0" y="0"/>
          <a:ext cx="0" cy="0"/>
          <a:chOff x="0" y="0"/>
          <a:chExt cx="0" cy="0"/>
        </a:xfrm>
      </p:grpSpPr>
      <p:sp>
        <p:nvSpPr>
          <p:cNvPr id="728" name="Google Shape;728;g145ea7f5fe7_1_467"/>
          <p:cNvSpPr txBox="1">
            <a:spLocks noGrp="1"/>
          </p:cNvSpPr>
          <p:nvPr>
            <p:ph type="title"/>
          </p:nvPr>
        </p:nvSpPr>
        <p:spPr>
          <a:xfrm>
            <a:off x="615174" y="71150"/>
            <a:ext cx="9955500" cy="1400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Useful functions for working with data objects</a:t>
            </a:r>
            <a:endParaRPr/>
          </a:p>
        </p:txBody>
      </p:sp>
      <p:pic>
        <p:nvPicPr>
          <p:cNvPr id="729" name="Google Shape;729;g145ea7f5fe7_1_467"/>
          <p:cNvPicPr preferRelativeResize="0"/>
          <p:nvPr/>
        </p:nvPicPr>
        <p:blipFill rotWithShape="1">
          <a:blip r:embed="rId3">
            <a:alphaModFix/>
          </a:blip>
          <a:srcRect r="20019"/>
          <a:stretch/>
        </p:blipFill>
        <p:spPr>
          <a:xfrm>
            <a:off x="326400" y="1471550"/>
            <a:ext cx="5871574" cy="1884850"/>
          </a:xfrm>
          <a:prstGeom prst="rect">
            <a:avLst/>
          </a:prstGeom>
          <a:noFill/>
          <a:ln>
            <a:noFill/>
          </a:ln>
        </p:spPr>
      </p:pic>
      <p:pic>
        <p:nvPicPr>
          <p:cNvPr id="730" name="Google Shape;730;g145ea7f5fe7_1_467"/>
          <p:cNvPicPr preferRelativeResize="0"/>
          <p:nvPr/>
        </p:nvPicPr>
        <p:blipFill>
          <a:blip r:embed="rId4">
            <a:alphaModFix/>
          </a:blip>
          <a:stretch>
            <a:fillRect/>
          </a:stretch>
        </p:blipFill>
        <p:spPr>
          <a:xfrm>
            <a:off x="5878275" y="2552525"/>
            <a:ext cx="6167049" cy="4208001"/>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56CE6-0D8C-4884-AE7B-99B5F9E948B2}"/>
              </a:ext>
            </a:extLst>
          </p:cNvPr>
          <p:cNvSpPr>
            <a:spLocks noGrp="1"/>
          </p:cNvSpPr>
          <p:nvPr>
            <p:ph type="title"/>
          </p:nvPr>
        </p:nvSpPr>
        <p:spPr/>
        <p:txBody>
          <a:bodyPr/>
          <a:lstStyle/>
          <a:p>
            <a:r>
              <a:rPr lang="en-US" sz="3200" dirty="0"/>
              <a:t>Export Data from R (csv , txt and other formats)</a:t>
            </a:r>
            <a:br>
              <a:rPr lang="en-US" sz="3200" dirty="0"/>
            </a:br>
            <a:endParaRPr lang="en-US" sz="3200" dirty="0"/>
          </a:p>
        </p:txBody>
      </p:sp>
      <p:sp>
        <p:nvSpPr>
          <p:cNvPr id="3" name="Text Placeholder 2">
            <a:extLst>
              <a:ext uri="{FF2B5EF4-FFF2-40B4-BE49-F238E27FC236}">
                <a16:creationId xmlns:a16="http://schemas.microsoft.com/office/drawing/2014/main" id="{0E8347E5-852A-4D9B-A42C-6784658C0646}"/>
              </a:ext>
            </a:extLst>
          </p:cNvPr>
          <p:cNvSpPr>
            <a:spLocks noGrp="1"/>
          </p:cNvSpPr>
          <p:nvPr>
            <p:ph type="body" idx="1"/>
          </p:nvPr>
        </p:nvSpPr>
        <p:spPr>
          <a:xfrm>
            <a:off x="646111" y="1111624"/>
            <a:ext cx="11097654" cy="5629835"/>
          </a:xfrm>
        </p:spPr>
        <p:txBody>
          <a:bodyPr/>
          <a:lstStyle/>
          <a:p>
            <a:r>
              <a:rPr lang="en-US" dirty="0">
                <a:solidFill>
                  <a:schemeClr val="accent3"/>
                </a:solidFill>
              </a:rPr>
              <a:t>write.csv(df, "C:/Users/Bob/Desktop/data.csv")</a:t>
            </a:r>
          </a:p>
          <a:p>
            <a:endParaRPr lang="en-US" dirty="0">
              <a:solidFill>
                <a:schemeClr val="accent3"/>
              </a:solidFill>
            </a:endParaRPr>
          </a:p>
          <a:p>
            <a:r>
              <a:rPr lang="en-US" dirty="0">
                <a:solidFill>
                  <a:schemeClr val="accent3"/>
                </a:solidFill>
              </a:rPr>
              <a:t>help(write.csv) or ?write.csv</a:t>
            </a:r>
          </a:p>
          <a:p>
            <a:endParaRPr lang="en-US" dirty="0">
              <a:solidFill>
                <a:schemeClr val="accent3"/>
              </a:solidFill>
            </a:endParaRPr>
          </a:p>
          <a:p>
            <a:r>
              <a:rPr lang="en-US" dirty="0" err="1">
                <a:solidFill>
                  <a:schemeClr val="accent3"/>
                </a:solidFill>
              </a:rPr>
              <a:t>write.table</a:t>
            </a:r>
            <a:r>
              <a:rPr lang="en-US" dirty="0">
                <a:solidFill>
                  <a:schemeClr val="accent3"/>
                </a:solidFill>
              </a:rPr>
              <a:t>(df, "C:/Users/Bob/Desktop/data.csv", </a:t>
            </a:r>
            <a:r>
              <a:rPr lang="en-US" dirty="0" err="1">
                <a:solidFill>
                  <a:schemeClr val="accent3"/>
                </a:solidFill>
              </a:rPr>
              <a:t>row.names</a:t>
            </a:r>
            <a:r>
              <a:rPr lang="en-US" dirty="0">
                <a:solidFill>
                  <a:schemeClr val="accent3"/>
                </a:solidFill>
              </a:rPr>
              <a:t>=FALSE)</a:t>
            </a:r>
          </a:p>
          <a:p>
            <a:endParaRPr lang="en-US" dirty="0">
              <a:solidFill>
                <a:schemeClr val="accent3"/>
              </a:solidFill>
            </a:endParaRPr>
          </a:p>
          <a:p>
            <a:endParaRPr lang="en-US" dirty="0">
              <a:solidFill>
                <a:schemeClr val="accent3"/>
              </a:solidFill>
            </a:endParaRPr>
          </a:p>
          <a:p>
            <a:endParaRPr lang="en-US" dirty="0">
              <a:solidFill>
                <a:schemeClr val="accent3"/>
              </a:solidFill>
            </a:endParaRPr>
          </a:p>
        </p:txBody>
      </p:sp>
    </p:spTree>
    <p:extLst>
      <p:ext uri="{BB962C8B-B14F-4D97-AF65-F5344CB8AC3E}">
        <p14:creationId xmlns:p14="http://schemas.microsoft.com/office/powerpoint/2010/main" val="180988592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734"/>
        <p:cNvGrpSpPr/>
        <p:nvPr/>
      </p:nvGrpSpPr>
      <p:grpSpPr>
        <a:xfrm>
          <a:off x="0" y="0"/>
          <a:ext cx="0" cy="0"/>
          <a:chOff x="0" y="0"/>
          <a:chExt cx="0" cy="0"/>
        </a:xfrm>
      </p:grpSpPr>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738"/>
        <p:cNvGrpSpPr/>
        <p:nvPr/>
      </p:nvGrpSpPr>
      <p:grpSpPr>
        <a:xfrm>
          <a:off x="0" y="0"/>
          <a:ext cx="0" cy="0"/>
          <a:chOff x="0" y="0"/>
          <a:chExt cx="0" cy="0"/>
        </a:xfrm>
      </p:grpSpPr>
      <p:sp>
        <p:nvSpPr>
          <p:cNvPr id="739" name="Google Shape;739;p78"/>
          <p:cNvSpPr txBox="1">
            <a:spLocks noGrp="1"/>
          </p:cNvSpPr>
          <p:nvPr>
            <p:ph type="title"/>
          </p:nvPr>
        </p:nvSpPr>
        <p:spPr>
          <a:xfrm>
            <a:off x="646111" y="452718"/>
            <a:ext cx="9404700" cy="648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a:t>Control Structures in R</a:t>
            </a:r>
            <a:br>
              <a:rPr lang="en-US"/>
            </a:br>
            <a:endParaRPr/>
          </a:p>
        </p:txBody>
      </p:sp>
      <p:sp>
        <p:nvSpPr>
          <p:cNvPr id="740" name="Google Shape;740;p78"/>
          <p:cNvSpPr txBox="1">
            <a:spLocks noGrp="1"/>
          </p:cNvSpPr>
          <p:nvPr>
            <p:ph type="body" idx="1"/>
          </p:nvPr>
        </p:nvSpPr>
        <p:spPr>
          <a:xfrm>
            <a:off x="795868" y="1270000"/>
            <a:ext cx="9254100" cy="4978500"/>
          </a:xfrm>
          <a:prstGeom prst="rect">
            <a:avLst/>
          </a:prstGeom>
          <a:noFill/>
          <a:ln>
            <a:noFill/>
          </a:ln>
        </p:spPr>
        <p:txBody>
          <a:bodyPr spcFirstLastPara="1" wrap="square" lIns="91425" tIns="45700" rIns="91425" bIns="45700" anchor="t" anchorCtr="0">
            <a:normAutofit lnSpcReduction="10000"/>
          </a:bodyPr>
          <a:lstStyle/>
          <a:p>
            <a:pPr marL="342900" lvl="0" indent="-342900" algn="l" rtl="0">
              <a:spcBef>
                <a:spcPts val="0"/>
              </a:spcBef>
              <a:spcAft>
                <a:spcPts val="0"/>
              </a:spcAft>
              <a:buSzPts val="1600"/>
              <a:buChar char="►"/>
            </a:pPr>
            <a:r>
              <a:rPr lang="en-US"/>
              <a:t>In order to control the execution of the expressions flow in R, we make use of the control structures. </a:t>
            </a:r>
            <a:endParaRPr/>
          </a:p>
          <a:p>
            <a:pPr marL="342900" lvl="0" indent="-342900" algn="l" rtl="0">
              <a:spcBef>
                <a:spcPts val="1000"/>
              </a:spcBef>
              <a:spcAft>
                <a:spcPts val="0"/>
              </a:spcAft>
              <a:buSzPts val="1600"/>
              <a:buChar char="►"/>
            </a:pPr>
            <a:r>
              <a:rPr lang="en-US"/>
              <a:t>These control structures are also called as loops in R. </a:t>
            </a:r>
            <a:endParaRPr/>
          </a:p>
          <a:p>
            <a:pPr marL="342900" lvl="0" indent="-342900" algn="l" rtl="0">
              <a:spcBef>
                <a:spcPts val="1000"/>
              </a:spcBef>
              <a:spcAft>
                <a:spcPts val="0"/>
              </a:spcAft>
              <a:buSzPts val="1600"/>
              <a:buChar char="►"/>
            </a:pPr>
            <a:r>
              <a:rPr lang="en-US"/>
              <a:t>There are eight types of control structures in R:</a:t>
            </a:r>
            <a:endParaRPr/>
          </a:p>
          <a:p>
            <a:pPr marL="342900" lvl="0" indent="-342900" algn="l" rtl="0">
              <a:spcBef>
                <a:spcPts val="1000"/>
              </a:spcBef>
              <a:spcAft>
                <a:spcPts val="0"/>
              </a:spcAft>
              <a:buSzPts val="1600"/>
              <a:buChar char="►"/>
            </a:pPr>
            <a:r>
              <a:rPr lang="en-US"/>
              <a:t>if</a:t>
            </a:r>
            <a:endParaRPr/>
          </a:p>
          <a:p>
            <a:pPr marL="342900" lvl="0" indent="-342900" algn="l" rtl="0">
              <a:spcBef>
                <a:spcPts val="1000"/>
              </a:spcBef>
              <a:spcAft>
                <a:spcPts val="0"/>
              </a:spcAft>
              <a:buSzPts val="1600"/>
              <a:buChar char="►"/>
            </a:pPr>
            <a:r>
              <a:rPr lang="en-US"/>
              <a:t>if-else</a:t>
            </a:r>
            <a:endParaRPr/>
          </a:p>
          <a:p>
            <a:pPr marL="342900" lvl="0" indent="-342900" algn="l" rtl="0">
              <a:spcBef>
                <a:spcPts val="1000"/>
              </a:spcBef>
              <a:spcAft>
                <a:spcPts val="0"/>
              </a:spcAft>
              <a:buSzPts val="1600"/>
              <a:buChar char="►"/>
            </a:pPr>
            <a:r>
              <a:rPr lang="en-US"/>
              <a:t>for</a:t>
            </a:r>
            <a:endParaRPr/>
          </a:p>
          <a:p>
            <a:pPr marL="342900" lvl="0" indent="-342900" algn="l" rtl="0">
              <a:spcBef>
                <a:spcPts val="1000"/>
              </a:spcBef>
              <a:spcAft>
                <a:spcPts val="0"/>
              </a:spcAft>
              <a:buSzPts val="1600"/>
              <a:buChar char="►"/>
            </a:pPr>
            <a:r>
              <a:rPr lang="en-US"/>
              <a:t>nested loops</a:t>
            </a:r>
            <a:endParaRPr/>
          </a:p>
          <a:p>
            <a:pPr marL="342900" lvl="0" indent="-342900" algn="l" rtl="0">
              <a:spcBef>
                <a:spcPts val="1000"/>
              </a:spcBef>
              <a:spcAft>
                <a:spcPts val="0"/>
              </a:spcAft>
              <a:buSzPts val="1600"/>
              <a:buChar char="►"/>
            </a:pPr>
            <a:r>
              <a:rPr lang="en-US"/>
              <a:t>while</a:t>
            </a:r>
            <a:endParaRPr/>
          </a:p>
          <a:p>
            <a:pPr marL="342900" lvl="0" indent="-342900" algn="l" rtl="0">
              <a:spcBef>
                <a:spcPts val="1000"/>
              </a:spcBef>
              <a:spcAft>
                <a:spcPts val="0"/>
              </a:spcAft>
              <a:buSzPts val="1600"/>
              <a:buChar char="►"/>
            </a:pPr>
            <a:r>
              <a:rPr lang="en-US"/>
              <a:t>repeat and break</a:t>
            </a:r>
            <a:endParaRPr/>
          </a:p>
          <a:p>
            <a:pPr marL="342900" lvl="0" indent="-342900" algn="l" rtl="0">
              <a:spcBef>
                <a:spcPts val="1000"/>
              </a:spcBef>
              <a:spcAft>
                <a:spcPts val="0"/>
              </a:spcAft>
              <a:buSzPts val="1600"/>
              <a:buChar char="►"/>
            </a:pPr>
            <a:r>
              <a:rPr lang="en-US"/>
              <a:t>next</a:t>
            </a:r>
            <a:endParaRPr/>
          </a:p>
          <a:p>
            <a:pPr marL="342900" lvl="0" indent="-342900" algn="l" rtl="0">
              <a:spcBef>
                <a:spcPts val="1000"/>
              </a:spcBef>
              <a:spcAft>
                <a:spcPts val="0"/>
              </a:spcAft>
              <a:buSzPts val="1600"/>
              <a:buChar char="►"/>
            </a:pPr>
            <a:r>
              <a:rPr lang="en-US"/>
              <a:t>return</a:t>
            </a:r>
            <a:endParaRPr/>
          </a:p>
          <a:p>
            <a:pPr marL="342900" lvl="0" indent="-241300" algn="l" rtl="0">
              <a:spcBef>
                <a:spcPts val="1000"/>
              </a:spcBef>
              <a:spcAft>
                <a:spcPts val="0"/>
              </a:spcAft>
              <a:buSzPts val="1600"/>
              <a:buNone/>
            </a:pPr>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744"/>
        <p:cNvGrpSpPr/>
        <p:nvPr/>
      </p:nvGrpSpPr>
      <p:grpSpPr>
        <a:xfrm>
          <a:off x="0" y="0"/>
          <a:ext cx="0" cy="0"/>
          <a:chOff x="0" y="0"/>
          <a:chExt cx="0" cy="0"/>
        </a:xfrm>
      </p:grpSpPr>
      <p:sp>
        <p:nvSpPr>
          <p:cNvPr id="745" name="Google Shape;745;p79"/>
          <p:cNvSpPr txBox="1">
            <a:spLocks noGrp="1"/>
          </p:cNvSpPr>
          <p:nvPr>
            <p:ph type="title"/>
          </p:nvPr>
        </p:nvSpPr>
        <p:spPr>
          <a:xfrm>
            <a:off x="646111" y="452718"/>
            <a:ext cx="9404700" cy="715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3200"/>
              <a:buFont typeface="Century Gothic"/>
              <a:buNone/>
            </a:pPr>
            <a:r>
              <a:rPr lang="en-US" sz="3200"/>
              <a:t>List of R Control Structures with Examples</a:t>
            </a:r>
            <a:br>
              <a:rPr lang="en-US"/>
            </a:br>
            <a:endParaRPr/>
          </a:p>
        </p:txBody>
      </p:sp>
      <p:sp>
        <p:nvSpPr>
          <p:cNvPr id="746" name="Google Shape;746;p79"/>
          <p:cNvSpPr txBox="1">
            <a:spLocks noGrp="1"/>
          </p:cNvSpPr>
          <p:nvPr>
            <p:ph type="body" idx="1"/>
          </p:nvPr>
        </p:nvSpPr>
        <p:spPr>
          <a:xfrm>
            <a:off x="745067" y="1066800"/>
            <a:ext cx="10617300" cy="5655600"/>
          </a:xfrm>
          <a:prstGeom prst="rect">
            <a:avLst/>
          </a:prstGeom>
          <a:noFill/>
          <a:ln>
            <a:noFill/>
          </a:ln>
        </p:spPr>
        <p:txBody>
          <a:bodyPr spcFirstLastPara="1" wrap="square" lIns="91425" tIns="45700" rIns="91425" bIns="45700" anchor="t" anchorCtr="0">
            <a:normAutofit/>
          </a:bodyPr>
          <a:lstStyle/>
          <a:p>
            <a:pPr marL="342900" lvl="0" indent="-241300" algn="l" rtl="0">
              <a:spcBef>
                <a:spcPts val="0"/>
              </a:spcBef>
              <a:spcAft>
                <a:spcPts val="0"/>
              </a:spcAft>
              <a:buSzPts val="1600"/>
              <a:buNone/>
            </a:pPr>
            <a:endParaRPr/>
          </a:p>
        </p:txBody>
      </p:sp>
      <p:pic>
        <p:nvPicPr>
          <p:cNvPr id="747" name="Google Shape;747;p79"/>
          <p:cNvPicPr preferRelativeResize="0"/>
          <p:nvPr/>
        </p:nvPicPr>
        <p:blipFill rotWithShape="1">
          <a:blip r:embed="rId3">
            <a:alphaModFix/>
          </a:blip>
          <a:srcRect/>
          <a:stretch/>
        </p:blipFill>
        <p:spPr>
          <a:xfrm>
            <a:off x="745067" y="1066800"/>
            <a:ext cx="7568561" cy="4724400"/>
          </a:xfrm>
          <a:prstGeom prst="rect">
            <a:avLst/>
          </a:prstGeom>
          <a:noFill/>
          <a:ln>
            <a:noFill/>
          </a:ln>
        </p:spPr>
      </p:pic>
      <p:sp>
        <p:nvSpPr>
          <p:cNvPr id="748" name="Google Shape;748;p79"/>
          <p:cNvSpPr txBox="1"/>
          <p:nvPr/>
        </p:nvSpPr>
        <p:spPr>
          <a:xfrm>
            <a:off x="745067" y="5887535"/>
            <a:ext cx="7179600" cy="246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a:solidFill>
                  <a:schemeClr val="lt1"/>
                </a:solidFill>
                <a:latin typeface="Century Gothic"/>
                <a:ea typeface="Century Gothic"/>
                <a:cs typeface="Century Gothic"/>
                <a:sym typeface="Century Gothic"/>
              </a:rPr>
              <a:t>Source: R-bloggers.com</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752"/>
        <p:cNvGrpSpPr/>
        <p:nvPr/>
      </p:nvGrpSpPr>
      <p:grpSpPr>
        <a:xfrm>
          <a:off x="0" y="0"/>
          <a:ext cx="0" cy="0"/>
          <a:chOff x="0" y="0"/>
          <a:chExt cx="0" cy="0"/>
        </a:xfrm>
      </p:grpSpPr>
      <p:sp>
        <p:nvSpPr>
          <p:cNvPr id="753" name="Google Shape;753;p80"/>
          <p:cNvSpPr txBox="1">
            <a:spLocks noGrp="1"/>
          </p:cNvSpPr>
          <p:nvPr>
            <p:ph type="title"/>
          </p:nvPr>
        </p:nvSpPr>
        <p:spPr>
          <a:xfrm>
            <a:off x="646111" y="452718"/>
            <a:ext cx="9404700" cy="783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a:t>if Condition in R</a:t>
            </a:r>
            <a:br>
              <a:rPr lang="en-US"/>
            </a:br>
            <a:endParaRPr/>
          </a:p>
        </p:txBody>
      </p:sp>
      <p:sp>
        <p:nvSpPr>
          <p:cNvPr id="754" name="Google Shape;754;p80"/>
          <p:cNvSpPr txBox="1">
            <a:spLocks noGrp="1"/>
          </p:cNvSpPr>
          <p:nvPr>
            <p:ph type="body" idx="1"/>
          </p:nvPr>
        </p:nvSpPr>
        <p:spPr>
          <a:xfrm>
            <a:off x="745067" y="1168400"/>
            <a:ext cx="10397100" cy="54948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600"/>
              <a:buChar char="►"/>
            </a:pPr>
            <a:r>
              <a:rPr lang="en-US"/>
              <a:t>This task is carried out only if this condition is returned as TRUE. R makes it even easier: You can drop the word </a:t>
            </a:r>
            <a:r>
              <a:rPr lang="en-US" i="1"/>
              <a:t>then</a:t>
            </a:r>
            <a:r>
              <a:rPr lang="en-US"/>
              <a:t> and specify your choice in an if statement.</a:t>
            </a:r>
            <a:endParaRPr/>
          </a:p>
        </p:txBody>
      </p:sp>
      <p:pic>
        <p:nvPicPr>
          <p:cNvPr id="755" name="Google Shape;755;p80"/>
          <p:cNvPicPr preferRelativeResize="0"/>
          <p:nvPr/>
        </p:nvPicPr>
        <p:blipFill rotWithShape="1">
          <a:blip r:embed="rId3">
            <a:alphaModFix/>
          </a:blip>
          <a:srcRect/>
          <a:stretch/>
        </p:blipFill>
        <p:spPr>
          <a:xfrm>
            <a:off x="5499782" y="2171525"/>
            <a:ext cx="5391901" cy="1257475"/>
          </a:xfrm>
          <a:prstGeom prst="rect">
            <a:avLst/>
          </a:prstGeom>
          <a:noFill/>
          <a:ln>
            <a:noFill/>
          </a:ln>
        </p:spPr>
      </p:pic>
      <p:pic>
        <p:nvPicPr>
          <p:cNvPr id="756" name="Google Shape;756;p80"/>
          <p:cNvPicPr preferRelativeResize="0"/>
          <p:nvPr/>
        </p:nvPicPr>
        <p:blipFill rotWithShape="1">
          <a:blip r:embed="rId4">
            <a:alphaModFix/>
          </a:blip>
          <a:srcRect/>
          <a:stretch/>
        </p:blipFill>
        <p:spPr>
          <a:xfrm>
            <a:off x="1144350" y="2190577"/>
            <a:ext cx="3400900" cy="1238423"/>
          </a:xfrm>
          <a:prstGeom prst="rect">
            <a:avLst/>
          </a:prstGeom>
          <a:noFill/>
          <a:ln>
            <a:noFill/>
          </a:ln>
        </p:spPr>
      </p:pic>
      <p:sp>
        <p:nvSpPr>
          <p:cNvPr id="757" name="Google Shape;757;p80"/>
          <p:cNvSpPr/>
          <p:nvPr/>
        </p:nvSpPr>
        <p:spPr>
          <a:xfrm>
            <a:off x="4656459" y="2675095"/>
            <a:ext cx="732000" cy="457500"/>
          </a:xfrm>
          <a:custGeom>
            <a:avLst/>
            <a:gdLst/>
            <a:ahLst/>
            <a:cxnLst/>
            <a:rect l="l" t="t" r="r" b="b"/>
            <a:pathLst>
              <a:path w="120000" h="120000" extrusionOk="0">
                <a:moveTo>
                  <a:pt x="0" y="120000"/>
                </a:moveTo>
                <a:quadBezTo>
                  <a:pt x="20000" y="40000"/>
                  <a:pt x="101250" y="15000"/>
                </a:quadBezTo>
                <a:lnTo>
                  <a:pt x="100194" y="0"/>
                </a:lnTo>
                <a:lnTo>
                  <a:pt x="120000" y="24000"/>
                </a:lnTo>
                <a:lnTo>
                  <a:pt x="104419" y="60000"/>
                </a:lnTo>
                <a:lnTo>
                  <a:pt x="103363" y="45000"/>
                </a:lnTo>
                <a:quadBezTo>
                  <a:pt x="30000" y="55000"/>
                  <a:pt x="0" y="120000"/>
                </a:quadBezTo>
                <a:close/>
              </a:path>
            </a:pathLst>
          </a:custGeom>
          <a:solidFill>
            <a:srgbClr val="E3CACA"/>
          </a:solidFill>
          <a:ln w="9525" cap="rnd" cmpd="sng">
            <a:solidFill>
              <a:srgbClr val="B0121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761"/>
        <p:cNvGrpSpPr/>
        <p:nvPr/>
      </p:nvGrpSpPr>
      <p:grpSpPr>
        <a:xfrm>
          <a:off x="0" y="0"/>
          <a:ext cx="0" cy="0"/>
          <a:chOff x="0" y="0"/>
          <a:chExt cx="0" cy="0"/>
        </a:xfrm>
      </p:grpSpPr>
      <p:sp>
        <p:nvSpPr>
          <p:cNvPr id="762" name="Google Shape;762;p81"/>
          <p:cNvSpPr txBox="1">
            <a:spLocks noGrp="1"/>
          </p:cNvSpPr>
          <p:nvPr>
            <p:ph type="title"/>
          </p:nvPr>
        </p:nvSpPr>
        <p:spPr>
          <a:xfrm>
            <a:off x="646111" y="452718"/>
            <a:ext cx="9404700" cy="14004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a:t>if-else Condition in R</a:t>
            </a:r>
            <a:br>
              <a:rPr lang="en-US"/>
            </a:br>
            <a:endParaRPr/>
          </a:p>
        </p:txBody>
      </p:sp>
      <p:sp>
        <p:nvSpPr>
          <p:cNvPr id="763" name="Google Shape;763;p81"/>
          <p:cNvSpPr txBox="1">
            <a:spLocks noGrp="1"/>
          </p:cNvSpPr>
          <p:nvPr>
            <p:ph type="body" idx="1"/>
          </p:nvPr>
        </p:nvSpPr>
        <p:spPr>
          <a:xfrm>
            <a:off x="728134" y="1303867"/>
            <a:ext cx="10549500" cy="54102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600"/>
              <a:buChar char="►"/>
            </a:pPr>
            <a:r>
              <a:rPr lang="en-US"/>
              <a:t>An </a:t>
            </a:r>
            <a:r>
              <a:rPr lang="en-US" i="1"/>
              <a:t>if…else</a:t>
            </a:r>
            <a:r>
              <a:rPr lang="en-US"/>
              <a:t> statement contains the same elements as an if statement (see the preceding section), with some extra elements:</a:t>
            </a:r>
            <a:endParaRPr/>
          </a:p>
          <a:p>
            <a:pPr marL="342900" lvl="0" indent="-342900" algn="l" rtl="0">
              <a:spcBef>
                <a:spcPts val="1000"/>
              </a:spcBef>
              <a:spcAft>
                <a:spcPts val="0"/>
              </a:spcAft>
              <a:buSzPts val="1600"/>
              <a:buChar char="►"/>
            </a:pPr>
            <a:r>
              <a:rPr lang="en-US"/>
              <a:t>The keyword else, placed after the first code block.</a:t>
            </a:r>
            <a:endParaRPr/>
          </a:p>
          <a:p>
            <a:pPr marL="342900" lvl="0" indent="-342900" algn="l" rtl="0">
              <a:spcBef>
                <a:spcPts val="1000"/>
              </a:spcBef>
              <a:spcAft>
                <a:spcPts val="0"/>
              </a:spcAft>
              <a:buSzPts val="1600"/>
              <a:buChar char="►"/>
            </a:pPr>
            <a:r>
              <a:rPr lang="en-US"/>
              <a:t>The second block of code, contained within braces, that has to be carried out, only if the result of the condition in the if() statement is FALSE.</a:t>
            </a:r>
            <a:endParaRPr/>
          </a:p>
          <a:p>
            <a:pPr marL="342900" lvl="0" indent="-241300" algn="l" rtl="0">
              <a:spcBef>
                <a:spcPts val="1000"/>
              </a:spcBef>
              <a:spcAft>
                <a:spcPts val="0"/>
              </a:spcAft>
              <a:buSzPts val="1600"/>
              <a:buNone/>
            </a:pPr>
            <a:endParaRPr/>
          </a:p>
        </p:txBody>
      </p:sp>
      <p:pic>
        <p:nvPicPr>
          <p:cNvPr id="764" name="Google Shape;764;p81"/>
          <p:cNvPicPr preferRelativeResize="0"/>
          <p:nvPr/>
        </p:nvPicPr>
        <p:blipFill rotWithShape="1">
          <a:blip r:embed="rId3">
            <a:alphaModFix/>
          </a:blip>
          <a:srcRect/>
          <a:stretch/>
        </p:blipFill>
        <p:spPr>
          <a:xfrm>
            <a:off x="914400" y="3751687"/>
            <a:ext cx="3410426" cy="1505160"/>
          </a:xfrm>
          <a:prstGeom prst="rect">
            <a:avLst/>
          </a:prstGeom>
          <a:noFill/>
          <a:ln>
            <a:noFill/>
          </a:ln>
        </p:spPr>
      </p:pic>
      <p:pic>
        <p:nvPicPr>
          <p:cNvPr id="765" name="Google Shape;765;p81"/>
          <p:cNvPicPr preferRelativeResize="0"/>
          <p:nvPr/>
        </p:nvPicPr>
        <p:blipFill rotWithShape="1">
          <a:blip r:embed="rId4">
            <a:alphaModFix/>
          </a:blip>
          <a:srcRect/>
          <a:stretch/>
        </p:blipFill>
        <p:spPr>
          <a:xfrm>
            <a:off x="5377974" y="3751687"/>
            <a:ext cx="6807200" cy="1476431"/>
          </a:xfrm>
          <a:prstGeom prst="rect">
            <a:avLst/>
          </a:prstGeom>
          <a:noFill/>
          <a:ln>
            <a:noFill/>
          </a:ln>
        </p:spPr>
      </p:pic>
      <p:sp>
        <p:nvSpPr>
          <p:cNvPr id="766" name="Google Shape;766;p81"/>
          <p:cNvSpPr/>
          <p:nvPr/>
        </p:nvSpPr>
        <p:spPr>
          <a:xfrm>
            <a:off x="4470400" y="4359961"/>
            <a:ext cx="732000" cy="457500"/>
          </a:xfrm>
          <a:custGeom>
            <a:avLst/>
            <a:gdLst/>
            <a:ahLst/>
            <a:cxnLst/>
            <a:rect l="l" t="t" r="r" b="b"/>
            <a:pathLst>
              <a:path w="120000" h="120000" extrusionOk="0">
                <a:moveTo>
                  <a:pt x="0" y="120000"/>
                </a:moveTo>
                <a:quadBezTo>
                  <a:pt x="20000" y="40000"/>
                  <a:pt x="101250" y="15000"/>
                </a:quadBezTo>
                <a:lnTo>
                  <a:pt x="100194" y="0"/>
                </a:lnTo>
                <a:lnTo>
                  <a:pt x="120000" y="24000"/>
                </a:lnTo>
                <a:lnTo>
                  <a:pt x="104419" y="60000"/>
                </a:lnTo>
                <a:lnTo>
                  <a:pt x="103363" y="45000"/>
                </a:lnTo>
                <a:quadBezTo>
                  <a:pt x="30000" y="55000"/>
                  <a:pt x="0" y="120000"/>
                </a:quadBezTo>
                <a:close/>
              </a:path>
            </a:pathLst>
          </a:custGeom>
          <a:solidFill>
            <a:srgbClr val="E3CACA"/>
          </a:solidFill>
          <a:ln w="9525" cap="rnd" cmpd="sng">
            <a:solidFill>
              <a:srgbClr val="B0121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770"/>
        <p:cNvGrpSpPr/>
        <p:nvPr/>
      </p:nvGrpSpPr>
      <p:grpSpPr>
        <a:xfrm>
          <a:off x="0" y="0"/>
          <a:ext cx="0" cy="0"/>
          <a:chOff x="0" y="0"/>
          <a:chExt cx="0" cy="0"/>
        </a:xfrm>
      </p:grpSpPr>
      <p:sp>
        <p:nvSpPr>
          <p:cNvPr id="771" name="Google Shape;771;p82"/>
          <p:cNvSpPr txBox="1">
            <a:spLocks noGrp="1"/>
          </p:cNvSpPr>
          <p:nvPr>
            <p:ph type="title"/>
          </p:nvPr>
        </p:nvSpPr>
        <p:spPr>
          <a:xfrm>
            <a:off x="646111" y="452718"/>
            <a:ext cx="9404700" cy="741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a:t>for Loop in R</a:t>
            </a:r>
            <a:br>
              <a:rPr lang="en-US"/>
            </a:br>
            <a:endParaRPr/>
          </a:p>
        </p:txBody>
      </p:sp>
      <p:sp>
        <p:nvSpPr>
          <p:cNvPr id="772" name="Google Shape;772;p82"/>
          <p:cNvSpPr txBox="1">
            <a:spLocks noGrp="1"/>
          </p:cNvSpPr>
          <p:nvPr>
            <p:ph type="body" idx="1"/>
          </p:nvPr>
        </p:nvSpPr>
        <p:spPr>
          <a:xfrm>
            <a:off x="770468" y="1193800"/>
            <a:ext cx="10710300" cy="55371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600"/>
              <a:buChar char="►"/>
            </a:pPr>
            <a:r>
              <a:rPr lang="en-US"/>
              <a:t>A loop is a sequence of instructions that is repeated until a certain condition is reached. for, while and repeat, with the additional clauses break and next are used to construct loops.</a:t>
            </a:r>
            <a:endParaRPr/>
          </a:p>
          <a:p>
            <a:pPr marL="342900" lvl="0" indent="-342900" algn="l" rtl="0">
              <a:spcBef>
                <a:spcPts val="1000"/>
              </a:spcBef>
              <a:spcAft>
                <a:spcPts val="0"/>
              </a:spcAft>
              <a:buSzPts val="1600"/>
              <a:buChar char="►"/>
            </a:pPr>
            <a:r>
              <a:rPr lang="en-US" b="1"/>
              <a:t>Example:</a:t>
            </a:r>
            <a:endParaRPr/>
          </a:p>
          <a:p>
            <a:pPr marL="342900" lvl="0" indent="-342900" algn="l" rtl="0">
              <a:spcBef>
                <a:spcPts val="1000"/>
              </a:spcBef>
              <a:spcAft>
                <a:spcPts val="0"/>
              </a:spcAft>
              <a:buSzPts val="1600"/>
              <a:buChar char="►"/>
            </a:pPr>
            <a:r>
              <a:rPr lang="en-US"/>
              <a:t>These control structures in </a:t>
            </a:r>
            <a:r>
              <a:rPr lang="en-US" u="sng">
                <a:solidFill>
                  <a:schemeClr val="hlink"/>
                </a:solidFill>
                <a:hlinkClick r:id="rId3"/>
              </a:rPr>
              <a:t>R</a:t>
            </a:r>
            <a:r>
              <a:rPr lang="en-US"/>
              <a:t>, made of the rectangular box ‘init’ and the diamond. It is executed a known number of times. </a:t>
            </a:r>
            <a:r>
              <a:rPr lang="en-US" i="1"/>
              <a:t>for</a:t>
            </a:r>
            <a:r>
              <a:rPr lang="en-US"/>
              <a:t> is a block that is contained within curly braces.</a:t>
            </a:r>
            <a:endParaRPr/>
          </a:p>
          <a:p>
            <a:pPr marL="342900" lvl="0" indent="-241300" algn="l" rtl="0">
              <a:spcBef>
                <a:spcPts val="1000"/>
              </a:spcBef>
              <a:spcAft>
                <a:spcPts val="0"/>
              </a:spcAft>
              <a:buSzPts val="1600"/>
              <a:buNone/>
            </a:pPr>
            <a:endParaRPr/>
          </a:p>
        </p:txBody>
      </p:sp>
      <p:pic>
        <p:nvPicPr>
          <p:cNvPr id="773" name="Google Shape;773;p82"/>
          <p:cNvPicPr preferRelativeResize="0"/>
          <p:nvPr/>
        </p:nvPicPr>
        <p:blipFill rotWithShape="1">
          <a:blip r:embed="rId4">
            <a:alphaModFix/>
          </a:blip>
          <a:srcRect/>
          <a:stretch/>
        </p:blipFill>
        <p:spPr>
          <a:xfrm>
            <a:off x="1235910" y="3823154"/>
            <a:ext cx="3742490" cy="1236359"/>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777"/>
        <p:cNvGrpSpPr/>
        <p:nvPr/>
      </p:nvGrpSpPr>
      <p:grpSpPr>
        <a:xfrm>
          <a:off x="0" y="0"/>
          <a:ext cx="0" cy="0"/>
          <a:chOff x="0" y="0"/>
          <a:chExt cx="0" cy="0"/>
        </a:xfrm>
      </p:grpSpPr>
      <p:sp>
        <p:nvSpPr>
          <p:cNvPr id="778" name="Google Shape;778;p83"/>
          <p:cNvSpPr txBox="1">
            <a:spLocks noGrp="1"/>
          </p:cNvSpPr>
          <p:nvPr>
            <p:ph type="title"/>
          </p:nvPr>
        </p:nvSpPr>
        <p:spPr>
          <a:xfrm>
            <a:off x="646111" y="452718"/>
            <a:ext cx="9404700" cy="639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a:t>Nested Loop in R</a:t>
            </a:r>
            <a:br>
              <a:rPr lang="en-US"/>
            </a:br>
            <a:endParaRPr/>
          </a:p>
        </p:txBody>
      </p:sp>
      <p:sp>
        <p:nvSpPr>
          <p:cNvPr id="779" name="Google Shape;779;p83"/>
          <p:cNvSpPr txBox="1">
            <a:spLocks noGrp="1"/>
          </p:cNvSpPr>
          <p:nvPr>
            <p:ph type="body" idx="1"/>
          </p:nvPr>
        </p:nvSpPr>
        <p:spPr>
          <a:xfrm>
            <a:off x="753534" y="1227668"/>
            <a:ext cx="10676400" cy="54018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600"/>
              <a:buChar char="►"/>
            </a:pPr>
            <a:r>
              <a:rPr lang="en-US"/>
              <a:t>It is similar to the standard for </a:t>
            </a:r>
            <a:r>
              <a:rPr lang="en-US" b="1"/>
              <a:t>loop</a:t>
            </a:r>
            <a:r>
              <a:rPr lang="en-US"/>
              <a:t>, which makes it easy to convert </a:t>
            </a:r>
            <a:r>
              <a:rPr lang="en-US" b="1"/>
              <a:t>for</a:t>
            </a:r>
            <a:r>
              <a:rPr lang="en-US"/>
              <a:t> </a:t>
            </a:r>
            <a:r>
              <a:rPr lang="en-US" b="1"/>
              <a:t>loop</a:t>
            </a:r>
            <a:r>
              <a:rPr lang="en-US"/>
              <a:t> to a </a:t>
            </a:r>
            <a:r>
              <a:rPr lang="en-US" b="1"/>
              <a:t>foreach loop</a:t>
            </a:r>
            <a:r>
              <a:rPr lang="en-US"/>
              <a:t>. </a:t>
            </a:r>
            <a:endParaRPr/>
          </a:p>
          <a:p>
            <a:pPr marL="342900" lvl="0" indent="-342900" algn="l" rtl="0">
              <a:spcBef>
                <a:spcPts val="1000"/>
              </a:spcBef>
              <a:spcAft>
                <a:spcPts val="0"/>
              </a:spcAft>
              <a:buSzPts val="1600"/>
              <a:buChar char="►"/>
            </a:pPr>
            <a:r>
              <a:rPr lang="en-US"/>
              <a:t>Unlike many parallel programming packages for R, foreach doesn’t require the body of for loop to be turned into a function. We can call this a nesting operator because it is used to create nested foreach loops.</a:t>
            </a:r>
            <a:endParaRPr/>
          </a:p>
        </p:txBody>
      </p:sp>
      <p:pic>
        <p:nvPicPr>
          <p:cNvPr id="780" name="Google Shape;780;p83"/>
          <p:cNvPicPr preferRelativeResize="0"/>
          <p:nvPr/>
        </p:nvPicPr>
        <p:blipFill rotWithShape="1">
          <a:blip r:embed="rId3">
            <a:alphaModFix/>
          </a:blip>
          <a:srcRect/>
          <a:stretch/>
        </p:blipFill>
        <p:spPr>
          <a:xfrm>
            <a:off x="1167598" y="3230446"/>
            <a:ext cx="3896269" cy="1667108"/>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784"/>
        <p:cNvGrpSpPr/>
        <p:nvPr/>
      </p:nvGrpSpPr>
      <p:grpSpPr>
        <a:xfrm>
          <a:off x="0" y="0"/>
          <a:ext cx="0" cy="0"/>
          <a:chOff x="0" y="0"/>
          <a:chExt cx="0" cy="0"/>
        </a:xfrm>
      </p:grpSpPr>
      <p:sp>
        <p:nvSpPr>
          <p:cNvPr id="785" name="Google Shape;785;p84"/>
          <p:cNvSpPr txBox="1">
            <a:spLocks noGrp="1"/>
          </p:cNvSpPr>
          <p:nvPr>
            <p:ph type="title"/>
          </p:nvPr>
        </p:nvSpPr>
        <p:spPr>
          <a:xfrm>
            <a:off x="646111" y="452718"/>
            <a:ext cx="9404700" cy="792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a:t>while Loop in R</a:t>
            </a:r>
            <a:br>
              <a:rPr lang="en-US"/>
            </a:br>
            <a:endParaRPr/>
          </a:p>
        </p:txBody>
      </p:sp>
      <p:sp>
        <p:nvSpPr>
          <p:cNvPr id="786" name="Google Shape;786;p84"/>
          <p:cNvSpPr txBox="1">
            <a:spLocks noGrp="1"/>
          </p:cNvSpPr>
          <p:nvPr>
            <p:ph type="body" idx="1"/>
          </p:nvPr>
        </p:nvSpPr>
        <p:spPr>
          <a:xfrm>
            <a:off x="762000" y="1397000"/>
            <a:ext cx="10845900" cy="53340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600"/>
              <a:buChar char="►"/>
            </a:pPr>
            <a:r>
              <a:rPr lang="en-US"/>
              <a:t>The format is</a:t>
            </a:r>
            <a:r>
              <a:rPr lang="en-US" b="1"/>
              <a:t> while(cond) expr</a:t>
            </a:r>
            <a:r>
              <a:rPr lang="en-US"/>
              <a:t>, where </a:t>
            </a:r>
            <a:r>
              <a:rPr lang="en-US" b="1"/>
              <a:t>cond</a:t>
            </a:r>
            <a:r>
              <a:rPr lang="en-US"/>
              <a:t> is the condition to test and </a:t>
            </a:r>
            <a:r>
              <a:rPr lang="en-US" b="1"/>
              <a:t>expr</a:t>
            </a:r>
            <a:r>
              <a:rPr lang="en-US"/>
              <a:t> is an expression.</a:t>
            </a:r>
            <a:endParaRPr/>
          </a:p>
          <a:p>
            <a:pPr marL="342900" lvl="0" indent="-342900" algn="l" rtl="0">
              <a:spcBef>
                <a:spcPts val="1000"/>
              </a:spcBef>
              <a:spcAft>
                <a:spcPts val="0"/>
              </a:spcAft>
              <a:buSzPts val="1600"/>
              <a:buChar char="►"/>
            </a:pPr>
            <a:r>
              <a:rPr lang="en-US"/>
              <a:t>R would complain about the missing expression that was supposed to provide the required True or False and in fact, it does not know ‘response’ before using it in the loop.</a:t>
            </a:r>
            <a:endParaRPr/>
          </a:p>
        </p:txBody>
      </p:sp>
      <p:pic>
        <p:nvPicPr>
          <p:cNvPr id="787" name="Google Shape;787;p84"/>
          <p:cNvPicPr preferRelativeResize="0"/>
          <p:nvPr/>
        </p:nvPicPr>
        <p:blipFill rotWithShape="1">
          <a:blip r:embed="rId3">
            <a:alphaModFix/>
          </a:blip>
          <a:srcRect/>
          <a:stretch/>
        </p:blipFill>
        <p:spPr>
          <a:xfrm>
            <a:off x="1157569" y="3429000"/>
            <a:ext cx="3543795" cy="1562318"/>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791"/>
        <p:cNvGrpSpPr/>
        <p:nvPr/>
      </p:nvGrpSpPr>
      <p:grpSpPr>
        <a:xfrm>
          <a:off x="0" y="0"/>
          <a:ext cx="0" cy="0"/>
          <a:chOff x="0" y="0"/>
          <a:chExt cx="0" cy="0"/>
        </a:xfrm>
      </p:grpSpPr>
      <p:sp>
        <p:nvSpPr>
          <p:cNvPr id="792" name="Google Shape;792;p85"/>
          <p:cNvSpPr txBox="1">
            <a:spLocks noGrp="1"/>
          </p:cNvSpPr>
          <p:nvPr>
            <p:ph type="title"/>
          </p:nvPr>
        </p:nvSpPr>
        <p:spPr>
          <a:xfrm>
            <a:off x="646111" y="452718"/>
            <a:ext cx="9404700" cy="834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a:t>next Statement in R</a:t>
            </a:r>
            <a:br>
              <a:rPr lang="en-US"/>
            </a:br>
            <a:endParaRPr/>
          </a:p>
        </p:txBody>
      </p:sp>
      <p:sp>
        <p:nvSpPr>
          <p:cNvPr id="793" name="Google Shape;793;p85"/>
          <p:cNvSpPr txBox="1">
            <a:spLocks noGrp="1"/>
          </p:cNvSpPr>
          <p:nvPr>
            <p:ph type="body" idx="1"/>
          </p:nvPr>
        </p:nvSpPr>
        <p:spPr>
          <a:xfrm>
            <a:off x="753533" y="1286933"/>
            <a:ext cx="10792500" cy="53340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600"/>
              <a:buChar char="►"/>
            </a:pPr>
            <a:r>
              <a:rPr lang="en-US" b="1"/>
              <a:t>next</a:t>
            </a:r>
            <a:r>
              <a:rPr lang="en-US"/>
              <a:t> jumps to the next cycle without completing a particular iteration. In fact, it jumps to the evaluation of the condition holding the current loop. Next statement enables to skip the current iteration of a loop without terminating it.</a:t>
            </a:r>
            <a:endParaRPr/>
          </a:p>
          <a:p>
            <a:pPr marL="342900" lvl="0" indent="-241300" algn="l" rtl="0">
              <a:spcBef>
                <a:spcPts val="1000"/>
              </a:spcBef>
              <a:spcAft>
                <a:spcPts val="0"/>
              </a:spcAft>
              <a:buSzPts val="1600"/>
              <a:buNone/>
            </a:pPr>
            <a:endParaRPr/>
          </a:p>
        </p:txBody>
      </p:sp>
      <p:pic>
        <p:nvPicPr>
          <p:cNvPr id="794" name="Google Shape;794;p85"/>
          <p:cNvPicPr preferRelativeResize="0"/>
          <p:nvPr/>
        </p:nvPicPr>
        <p:blipFill rotWithShape="1">
          <a:blip r:embed="rId3">
            <a:alphaModFix/>
          </a:blip>
          <a:srcRect/>
          <a:stretch/>
        </p:blipFill>
        <p:spPr>
          <a:xfrm>
            <a:off x="1233768" y="2504946"/>
            <a:ext cx="3543795" cy="1848108"/>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798"/>
        <p:cNvGrpSpPr/>
        <p:nvPr/>
      </p:nvGrpSpPr>
      <p:grpSpPr>
        <a:xfrm>
          <a:off x="0" y="0"/>
          <a:ext cx="0" cy="0"/>
          <a:chOff x="0" y="0"/>
          <a:chExt cx="0" cy="0"/>
        </a:xfrm>
      </p:grpSpPr>
      <p:sp>
        <p:nvSpPr>
          <p:cNvPr id="799" name="Google Shape;799;p86"/>
          <p:cNvSpPr txBox="1">
            <a:spLocks noGrp="1"/>
          </p:cNvSpPr>
          <p:nvPr>
            <p:ph type="title"/>
          </p:nvPr>
        </p:nvSpPr>
        <p:spPr>
          <a:xfrm>
            <a:off x="646111" y="452718"/>
            <a:ext cx="9404700" cy="834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a:t>return Statement in R</a:t>
            </a:r>
            <a:br>
              <a:rPr lang="en-US"/>
            </a:br>
            <a:endParaRPr/>
          </a:p>
        </p:txBody>
      </p:sp>
      <p:sp>
        <p:nvSpPr>
          <p:cNvPr id="800" name="Google Shape;800;p86"/>
          <p:cNvSpPr txBox="1">
            <a:spLocks noGrp="1"/>
          </p:cNvSpPr>
          <p:nvPr>
            <p:ph type="body" idx="1"/>
          </p:nvPr>
        </p:nvSpPr>
        <p:spPr>
          <a:xfrm>
            <a:off x="645130" y="1286933"/>
            <a:ext cx="10900800" cy="53256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600"/>
              <a:buChar char="►"/>
            </a:pPr>
            <a:r>
              <a:rPr lang="en-US"/>
              <a:t>Many times, we will require some functions to do processing and return back the result. This is accomplished with the </a:t>
            </a:r>
            <a:r>
              <a:rPr lang="en-US" b="1"/>
              <a:t>return()</a:t>
            </a:r>
            <a:r>
              <a:rPr lang="en-US"/>
              <a:t> statement in R.</a:t>
            </a:r>
            <a:endParaRPr/>
          </a:p>
        </p:txBody>
      </p:sp>
      <p:pic>
        <p:nvPicPr>
          <p:cNvPr id="801" name="Google Shape;801;p86"/>
          <p:cNvPicPr preferRelativeResize="0"/>
          <p:nvPr/>
        </p:nvPicPr>
        <p:blipFill rotWithShape="1">
          <a:blip r:embed="rId3">
            <a:alphaModFix/>
          </a:blip>
          <a:srcRect/>
          <a:stretch/>
        </p:blipFill>
        <p:spPr>
          <a:xfrm>
            <a:off x="4345547" y="2272758"/>
            <a:ext cx="3267531" cy="2438740"/>
          </a:xfrm>
          <a:prstGeom prst="rect">
            <a:avLst/>
          </a:prstGeom>
          <a:noFill/>
          <a:ln>
            <a:noFill/>
          </a:ln>
        </p:spPr>
      </p:pic>
      <p:pic>
        <p:nvPicPr>
          <p:cNvPr id="802" name="Google Shape;802;p86"/>
          <p:cNvPicPr preferRelativeResize="0"/>
          <p:nvPr/>
        </p:nvPicPr>
        <p:blipFill rotWithShape="1">
          <a:blip r:embed="rId4">
            <a:alphaModFix/>
          </a:blip>
          <a:srcRect/>
          <a:stretch/>
        </p:blipFill>
        <p:spPr>
          <a:xfrm>
            <a:off x="771870" y="2861669"/>
            <a:ext cx="2638793" cy="914528"/>
          </a:xfrm>
          <a:prstGeom prst="rect">
            <a:avLst/>
          </a:prstGeom>
          <a:noFill/>
          <a:ln>
            <a:noFill/>
          </a:ln>
        </p:spPr>
      </p:pic>
      <p:pic>
        <p:nvPicPr>
          <p:cNvPr id="803" name="Google Shape;803;p86"/>
          <p:cNvPicPr preferRelativeResize="0"/>
          <p:nvPr/>
        </p:nvPicPr>
        <p:blipFill rotWithShape="1">
          <a:blip r:embed="rId5">
            <a:alphaModFix/>
          </a:blip>
          <a:srcRect/>
          <a:stretch/>
        </p:blipFill>
        <p:spPr>
          <a:xfrm>
            <a:off x="8547962" y="2819315"/>
            <a:ext cx="2800741" cy="1219370"/>
          </a:xfrm>
          <a:prstGeom prst="rect">
            <a:avLst/>
          </a:prstGeom>
          <a:noFill/>
          <a:ln>
            <a:noFill/>
          </a:ln>
        </p:spPr>
      </p:pic>
      <p:sp>
        <p:nvSpPr>
          <p:cNvPr id="804" name="Google Shape;804;p86"/>
          <p:cNvSpPr/>
          <p:nvPr/>
        </p:nvSpPr>
        <p:spPr>
          <a:xfrm>
            <a:off x="3532444" y="3090147"/>
            <a:ext cx="732000" cy="457500"/>
          </a:xfrm>
          <a:custGeom>
            <a:avLst/>
            <a:gdLst/>
            <a:ahLst/>
            <a:cxnLst/>
            <a:rect l="l" t="t" r="r" b="b"/>
            <a:pathLst>
              <a:path w="120000" h="120000" extrusionOk="0">
                <a:moveTo>
                  <a:pt x="0" y="120000"/>
                </a:moveTo>
                <a:quadBezTo>
                  <a:pt x="20000" y="40000"/>
                  <a:pt x="101250" y="15000"/>
                </a:quadBezTo>
                <a:lnTo>
                  <a:pt x="100194" y="0"/>
                </a:lnTo>
                <a:lnTo>
                  <a:pt x="120000" y="24000"/>
                </a:lnTo>
                <a:lnTo>
                  <a:pt x="104419" y="60000"/>
                </a:lnTo>
                <a:lnTo>
                  <a:pt x="103363" y="45000"/>
                </a:lnTo>
                <a:quadBezTo>
                  <a:pt x="30000" y="55000"/>
                  <a:pt x="0" y="120000"/>
                </a:quadBezTo>
                <a:close/>
              </a:path>
            </a:pathLst>
          </a:custGeom>
          <a:solidFill>
            <a:srgbClr val="E3CACA"/>
          </a:solidFill>
          <a:ln w="9525" cap="rnd" cmpd="sng">
            <a:solidFill>
              <a:srgbClr val="B0121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86"/>
          <p:cNvSpPr/>
          <p:nvPr/>
        </p:nvSpPr>
        <p:spPr>
          <a:xfrm>
            <a:off x="7729274" y="3263343"/>
            <a:ext cx="732000" cy="457500"/>
          </a:xfrm>
          <a:custGeom>
            <a:avLst/>
            <a:gdLst/>
            <a:ahLst/>
            <a:cxnLst/>
            <a:rect l="l" t="t" r="r" b="b"/>
            <a:pathLst>
              <a:path w="120000" h="120000" extrusionOk="0">
                <a:moveTo>
                  <a:pt x="0" y="120000"/>
                </a:moveTo>
                <a:quadBezTo>
                  <a:pt x="20000" y="40000"/>
                  <a:pt x="101250" y="15000"/>
                </a:quadBezTo>
                <a:lnTo>
                  <a:pt x="100194" y="0"/>
                </a:lnTo>
                <a:lnTo>
                  <a:pt x="120000" y="24000"/>
                </a:lnTo>
                <a:lnTo>
                  <a:pt x="104419" y="60000"/>
                </a:lnTo>
                <a:lnTo>
                  <a:pt x="103363" y="45000"/>
                </a:lnTo>
                <a:quadBezTo>
                  <a:pt x="30000" y="55000"/>
                  <a:pt x="0" y="120000"/>
                </a:quadBezTo>
                <a:close/>
              </a:path>
            </a:pathLst>
          </a:custGeom>
          <a:solidFill>
            <a:srgbClr val="E3CACA"/>
          </a:solidFill>
          <a:ln w="9525" cap="rnd" cmpd="sng">
            <a:solidFill>
              <a:srgbClr val="B0121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809"/>
        <p:cNvGrpSpPr/>
        <p:nvPr/>
      </p:nvGrpSpPr>
      <p:grpSpPr>
        <a:xfrm>
          <a:off x="0" y="0"/>
          <a:ext cx="0" cy="0"/>
          <a:chOff x="0" y="0"/>
          <a:chExt cx="0" cy="0"/>
        </a:xfrm>
      </p:grpSpPr>
      <p:sp>
        <p:nvSpPr>
          <p:cNvPr id="810" name="Google Shape;810;p87"/>
          <p:cNvSpPr txBox="1">
            <a:spLocks noGrp="1"/>
          </p:cNvSpPr>
          <p:nvPr>
            <p:ph type="title"/>
          </p:nvPr>
        </p:nvSpPr>
        <p:spPr>
          <a:xfrm>
            <a:off x="646111" y="452718"/>
            <a:ext cx="9404700" cy="9444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a:t>Summary</a:t>
            </a:r>
            <a:br>
              <a:rPr lang="en-US"/>
            </a:br>
            <a:endParaRPr/>
          </a:p>
        </p:txBody>
      </p:sp>
      <p:sp>
        <p:nvSpPr>
          <p:cNvPr id="811" name="Google Shape;811;p87"/>
          <p:cNvSpPr txBox="1">
            <a:spLocks noGrp="1"/>
          </p:cNvSpPr>
          <p:nvPr>
            <p:ph type="body" idx="1"/>
          </p:nvPr>
        </p:nvSpPr>
        <p:spPr>
          <a:xfrm>
            <a:off x="728133" y="1227667"/>
            <a:ext cx="10413900" cy="53340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600"/>
              <a:buChar char="►"/>
            </a:pPr>
            <a:r>
              <a:rPr lang="en-US"/>
              <a:t>Control Structures in R are the backbone of any programming language, as it changes the flow of the program. </a:t>
            </a:r>
            <a:endParaRPr/>
          </a:p>
          <a:p>
            <a:pPr marL="342900" lvl="0" indent="-342900" algn="l" rtl="0">
              <a:spcBef>
                <a:spcPts val="1000"/>
              </a:spcBef>
              <a:spcAft>
                <a:spcPts val="0"/>
              </a:spcAft>
              <a:buSzPts val="1600"/>
              <a:buChar char="►"/>
            </a:pPr>
            <a:r>
              <a:rPr lang="en-US"/>
              <a:t>In this R training session, we have studied in detail about the control statements along with its syntax and uses and how to operate these loops with different control structures.</a:t>
            </a:r>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815"/>
        <p:cNvGrpSpPr/>
        <p:nvPr/>
      </p:nvGrpSpPr>
      <p:grpSpPr>
        <a:xfrm>
          <a:off x="0" y="0"/>
          <a:ext cx="0" cy="0"/>
          <a:chOff x="0" y="0"/>
          <a:chExt cx="0" cy="0"/>
        </a:xfrm>
      </p:grpSpPr>
      <p:sp>
        <p:nvSpPr>
          <p:cNvPr id="816" name="Google Shape;816;p88"/>
          <p:cNvSpPr txBox="1">
            <a:spLocks noGrp="1"/>
          </p:cNvSpPr>
          <p:nvPr>
            <p:ph type="title"/>
          </p:nvPr>
        </p:nvSpPr>
        <p:spPr>
          <a:xfrm>
            <a:off x="646111" y="452718"/>
            <a:ext cx="9404700" cy="14004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a:t>Functions in R</a:t>
            </a:r>
            <a:br>
              <a:rPr lang="en-US"/>
            </a:br>
            <a:endParaRPr/>
          </a:p>
        </p:txBody>
      </p:sp>
      <p:sp>
        <p:nvSpPr>
          <p:cNvPr id="817" name="Google Shape;817;p88"/>
          <p:cNvSpPr txBox="1">
            <a:spLocks noGrp="1"/>
          </p:cNvSpPr>
          <p:nvPr>
            <p:ph type="body" idx="1"/>
          </p:nvPr>
        </p:nvSpPr>
        <p:spPr>
          <a:xfrm>
            <a:off x="798512" y="1248585"/>
            <a:ext cx="10521300" cy="55077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600"/>
              <a:buChar char="►"/>
            </a:pPr>
            <a:r>
              <a:rPr lang="en-US"/>
              <a:t>Now, it’s time to uncover one of the most essential concepts of R programming that is R function</a:t>
            </a:r>
            <a:endParaRPr/>
          </a:p>
        </p:txBody>
      </p:sp>
      <p:pic>
        <p:nvPicPr>
          <p:cNvPr id="818" name="Google Shape;818;p88"/>
          <p:cNvPicPr preferRelativeResize="0"/>
          <p:nvPr/>
        </p:nvPicPr>
        <p:blipFill rotWithShape="1">
          <a:blip r:embed="rId3">
            <a:alphaModFix/>
          </a:blip>
          <a:srcRect/>
          <a:stretch/>
        </p:blipFill>
        <p:spPr>
          <a:xfrm>
            <a:off x="872067" y="1976584"/>
            <a:ext cx="6382641" cy="3696216"/>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822"/>
        <p:cNvGrpSpPr/>
        <p:nvPr/>
      </p:nvGrpSpPr>
      <p:grpSpPr>
        <a:xfrm>
          <a:off x="0" y="0"/>
          <a:ext cx="0" cy="0"/>
          <a:chOff x="0" y="0"/>
          <a:chExt cx="0" cy="0"/>
        </a:xfrm>
      </p:grpSpPr>
      <p:sp>
        <p:nvSpPr>
          <p:cNvPr id="823" name="Google Shape;823;p89"/>
          <p:cNvSpPr txBox="1">
            <a:spLocks noGrp="1"/>
          </p:cNvSpPr>
          <p:nvPr>
            <p:ph type="title"/>
          </p:nvPr>
        </p:nvSpPr>
        <p:spPr>
          <a:xfrm>
            <a:off x="646111" y="452718"/>
            <a:ext cx="9404700" cy="673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3200"/>
              <a:buFont typeface="Century Gothic"/>
              <a:buNone/>
            </a:pPr>
            <a:r>
              <a:rPr lang="en-US" sz="3200"/>
              <a:t>Transforming the Script into R Function</a:t>
            </a:r>
            <a:br>
              <a:rPr lang="en-US"/>
            </a:br>
            <a:endParaRPr/>
          </a:p>
        </p:txBody>
      </p:sp>
      <p:sp>
        <p:nvSpPr>
          <p:cNvPr id="824" name="Google Shape;824;p89"/>
          <p:cNvSpPr txBox="1">
            <a:spLocks noGrp="1"/>
          </p:cNvSpPr>
          <p:nvPr>
            <p:ph type="body" idx="1"/>
          </p:nvPr>
        </p:nvSpPr>
        <p:spPr>
          <a:xfrm>
            <a:off x="770467" y="1126068"/>
            <a:ext cx="10775400" cy="54780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600"/>
              <a:buChar char="►"/>
            </a:pPr>
            <a:r>
              <a:rPr lang="en-US"/>
              <a:t>Firstly, define a function with a name so that it becomes easier to call an R function and pass arguments to it as input.</a:t>
            </a:r>
            <a:endParaRPr/>
          </a:p>
          <a:p>
            <a:pPr marL="342900" lvl="0" indent="-342900" algn="l" rtl="0">
              <a:spcBef>
                <a:spcPts val="1000"/>
              </a:spcBef>
              <a:spcAft>
                <a:spcPts val="0"/>
              </a:spcAft>
              <a:buSzPts val="1600"/>
              <a:buChar char="►"/>
            </a:pPr>
            <a:r>
              <a:rPr lang="en-US"/>
              <a:t>The R function should be followed by parentheses that act as a front gate for your function and between the parentheses, arguments for the function are provided.</a:t>
            </a:r>
            <a:endParaRPr/>
          </a:p>
          <a:p>
            <a:pPr marL="342900" lvl="0" indent="-342900" algn="l" rtl="0">
              <a:spcBef>
                <a:spcPts val="1000"/>
              </a:spcBef>
              <a:spcAft>
                <a:spcPts val="0"/>
              </a:spcAft>
              <a:buSzPts val="1600"/>
              <a:buChar char="►"/>
            </a:pPr>
            <a:r>
              <a:rPr lang="en-US"/>
              <a:t>Use the return() statement that acts as a back gate of your function.</a:t>
            </a:r>
            <a:endParaRPr/>
          </a:p>
          <a:p>
            <a:pPr marL="342900" lvl="0" indent="-342900" algn="l" rtl="0">
              <a:spcBef>
                <a:spcPts val="1000"/>
              </a:spcBef>
              <a:spcAft>
                <a:spcPts val="0"/>
              </a:spcAft>
              <a:buSzPts val="1600"/>
              <a:buChar char="►"/>
            </a:pPr>
            <a:r>
              <a:rPr lang="en-US"/>
              <a:t>The return() statement provides the final result of the function that is returned to your workspace.</a:t>
            </a:r>
            <a:endParaRPr/>
          </a:p>
          <a:p>
            <a:pPr marL="342900" lvl="0" indent="-342900" algn="l" rtl="0">
              <a:spcBef>
                <a:spcPts val="1000"/>
              </a:spcBef>
              <a:spcAft>
                <a:spcPts val="0"/>
              </a:spcAft>
              <a:buSzPts val="1600"/>
              <a:buChar char="►"/>
            </a:pPr>
            <a:r>
              <a:rPr lang="en-US"/>
              <a:t>Let us now see how we can convert the script that we had written earlier to convert values into percentage and round off into an R function.</a:t>
            </a:r>
            <a:endParaRPr/>
          </a:p>
        </p:txBody>
      </p:sp>
      <p:pic>
        <p:nvPicPr>
          <p:cNvPr id="825" name="Google Shape;825;p89"/>
          <p:cNvPicPr preferRelativeResize="0"/>
          <p:nvPr/>
        </p:nvPicPr>
        <p:blipFill rotWithShape="1">
          <a:blip r:embed="rId3">
            <a:alphaModFix/>
          </a:blip>
          <a:srcRect/>
          <a:stretch/>
        </p:blipFill>
        <p:spPr>
          <a:xfrm>
            <a:off x="1149595" y="4694686"/>
            <a:ext cx="5257486" cy="1477514"/>
          </a:xfrm>
          <a:prstGeom prst="rect">
            <a:avLst/>
          </a:prstGeom>
          <a:noFill/>
          <a:ln>
            <a:noFill/>
          </a:ln>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829"/>
        <p:cNvGrpSpPr/>
        <p:nvPr/>
      </p:nvGrpSpPr>
      <p:grpSpPr>
        <a:xfrm>
          <a:off x="0" y="0"/>
          <a:ext cx="0" cy="0"/>
          <a:chOff x="0" y="0"/>
          <a:chExt cx="0" cy="0"/>
        </a:xfrm>
      </p:grpSpPr>
      <p:sp>
        <p:nvSpPr>
          <p:cNvPr id="830" name="Google Shape;830;p90"/>
          <p:cNvSpPr txBox="1">
            <a:spLocks noGrp="1"/>
          </p:cNvSpPr>
          <p:nvPr>
            <p:ph type="body" idx="1"/>
          </p:nvPr>
        </p:nvSpPr>
        <p:spPr>
          <a:xfrm>
            <a:off x="220134" y="177800"/>
            <a:ext cx="9829800" cy="60705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600"/>
              <a:buChar char="►"/>
            </a:pPr>
            <a:r>
              <a:rPr lang="en-US"/>
              <a:t>The keyword </a:t>
            </a:r>
            <a:r>
              <a:rPr lang="en-US" b="1"/>
              <a:t>function</a:t>
            </a:r>
            <a:r>
              <a:rPr lang="en-US"/>
              <a:t> defines the starting of function. The </a:t>
            </a:r>
            <a:r>
              <a:rPr lang="en-US" b="1"/>
              <a:t>parentheses</a:t>
            </a:r>
            <a:r>
              <a:rPr lang="en-US"/>
              <a:t> after the function form the front gate, or argument list of the function. Between the parentheses are the arguments to the function. In this case, there is only one argument.</a:t>
            </a:r>
            <a:endParaRPr/>
          </a:p>
          <a:p>
            <a:pPr marL="342900" lvl="0" indent="-342900" algn="l" rtl="0">
              <a:spcBef>
                <a:spcPts val="1000"/>
              </a:spcBef>
              <a:spcAft>
                <a:spcPts val="0"/>
              </a:spcAft>
              <a:buSzPts val="1600"/>
              <a:buChar char="►"/>
            </a:pPr>
            <a:r>
              <a:rPr lang="en-US"/>
              <a:t>The</a:t>
            </a:r>
            <a:r>
              <a:rPr lang="en-US" b="1"/>
              <a:t> return</a:t>
            </a:r>
            <a:r>
              <a:rPr lang="en-US"/>
              <a:t> statement defines the end of the function and returns the result. The object put between the parentheses is returned from inside the function to the workspace. Only one object can be placed between the parentheses.</a:t>
            </a:r>
            <a:endParaRPr/>
          </a:p>
          <a:p>
            <a:pPr marL="342900" lvl="0" indent="-342900" algn="l" rtl="0">
              <a:spcBef>
                <a:spcPts val="1000"/>
              </a:spcBef>
              <a:spcAft>
                <a:spcPts val="0"/>
              </a:spcAft>
              <a:buSzPts val="1600"/>
              <a:buChar char="►"/>
            </a:pPr>
            <a:r>
              <a:rPr lang="en-US"/>
              <a:t>The braces, {} are the walls of the function. Everything between the braces is part of the assembly line or the body of the function. This is how functions are created in R.</a:t>
            </a:r>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834"/>
        <p:cNvGrpSpPr/>
        <p:nvPr/>
      </p:nvGrpSpPr>
      <p:grpSpPr>
        <a:xfrm>
          <a:off x="0" y="0"/>
          <a:ext cx="0" cy="0"/>
          <a:chOff x="0" y="0"/>
          <a:chExt cx="0" cy="0"/>
        </a:xfrm>
      </p:grpSpPr>
      <p:sp>
        <p:nvSpPr>
          <p:cNvPr id="835" name="Google Shape;835;p91"/>
          <p:cNvSpPr txBox="1">
            <a:spLocks noGrp="1"/>
          </p:cNvSpPr>
          <p:nvPr>
            <p:ph type="title"/>
          </p:nvPr>
        </p:nvSpPr>
        <p:spPr>
          <a:xfrm>
            <a:off x="646111" y="452718"/>
            <a:ext cx="9404700" cy="14004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a:t>Using R Function</a:t>
            </a:r>
            <a:br>
              <a:rPr lang="en-US"/>
            </a:br>
            <a:endParaRPr/>
          </a:p>
        </p:txBody>
      </p:sp>
      <p:sp>
        <p:nvSpPr>
          <p:cNvPr id="836" name="Google Shape;836;p91"/>
          <p:cNvSpPr txBox="1">
            <a:spLocks noGrp="1"/>
          </p:cNvSpPr>
          <p:nvPr>
            <p:ph type="body" idx="1"/>
          </p:nvPr>
        </p:nvSpPr>
        <p:spPr>
          <a:xfrm>
            <a:off x="745068" y="1193800"/>
            <a:ext cx="10532400" cy="54948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600"/>
              <a:buChar char="►"/>
            </a:pPr>
            <a:r>
              <a:rPr lang="en-US"/>
              <a:t>As R does not let you know by itself that it loaded the function but it is present in the workspace, if you want you can check it by using </a:t>
            </a:r>
            <a:r>
              <a:rPr lang="en-US" b="1"/>
              <a:t>ls()</a:t>
            </a:r>
            <a:r>
              <a:rPr lang="en-US"/>
              <a:t> command.</a:t>
            </a:r>
            <a:endParaRPr/>
          </a:p>
          <a:p>
            <a:pPr marL="342900" lvl="0" indent="-342900" algn="l" rtl="0">
              <a:spcBef>
                <a:spcPts val="1000"/>
              </a:spcBef>
              <a:spcAft>
                <a:spcPts val="0"/>
              </a:spcAft>
              <a:buSzPts val="1600"/>
              <a:buChar char="►"/>
            </a:pPr>
            <a:r>
              <a:rPr lang="en-US"/>
              <a:t>After transforming the script into an R function, you need to save it and you can use the function in R again if required.</a:t>
            </a:r>
            <a:endParaRPr/>
          </a:p>
          <a:p>
            <a:pPr marL="342900" lvl="0" indent="-342900" algn="l" rtl="0">
              <a:spcBef>
                <a:spcPts val="1000"/>
              </a:spcBef>
              <a:spcAft>
                <a:spcPts val="0"/>
              </a:spcAft>
              <a:buSzPts val="1600"/>
              <a:buChar char="►"/>
            </a:pPr>
            <a:r>
              <a:rPr lang="en-US"/>
              <a:t>As R does not let you know by itself that it loaded the function but it is present in the workspace, if you want you can check it by using </a:t>
            </a:r>
            <a:r>
              <a:rPr lang="en-US" b="1"/>
              <a:t>ls()</a:t>
            </a:r>
            <a:r>
              <a:rPr lang="en-US"/>
              <a:t> command.</a:t>
            </a:r>
            <a:endParaRPr/>
          </a:p>
          <a:p>
            <a:pPr marL="342900" lvl="0" indent="-342900" algn="l" rtl="0">
              <a:spcBef>
                <a:spcPts val="1000"/>
              </a:spcBef>
              <a:spcAft>
                <a:spcPts val="0"/>
              </a:spcAft>
              <a:buSzPts val="1600"/>
              <a:buChar char="►"/>
            </a:pPr>
            <a:r>
              <a:rPr lang="en-US"/>
              <a:t>Now as we know what all functions in R are present in the memory and we can use it when required.</a:t>
            </a:r>
            <a:endParaRPr/>
          </a:p>
          <a:p>
            <a:pPr marL="342900" lvl="0" indent="-342900" algn="l" rtl="0">
              <a:spcBef>
                <a:spcPts val="1000"/>
              </a:spcBef>
              <a:spcAft>
                <a:spcPts val="0"/>
              </a:spcAft>
              <a:buSzPts val="1600"/>
              <a:buChar char="►"/>
            </a:pPr>
            <a:r>
              <a:rPr lang="en-US"/>
              <a:t>For example, if you want to create percentage from values again, you can use add percent function for the same as below:</a:t>
            </a:r>
            <a:endParaRPr/>
          </a:p>
          <a:p>
            <a:pPr marL="342900" lvl="0" indent="-241300" algn="l" rtl="0">
              <a:spcBef>
                <a:spcPts val="1000"/>
              </a:spcBef>
              <a:spcAft>
                <a:spcPts val="0"/>
              </a:spcAft>
              <a:buSzPts val="1600"/>
              <a:buNone/>
            </a:pPr>
            <a:endParaRPr/>
          </a:p>
        </p:txBody>
      </p:sp>
      <p:pic>
        <p:nvPicPr>
          <p:cNvPr id="837" name="Google Shape;837;p91"/>
          <p:cNvPicPr preferRelativeResize="0"/>
          <p:nvPr/>
        </p:nvPicPr>
        <p:blipFill rotWithShape="1">
          <a:blip r:embed="rId3">
            <a:alphaModFix/>
          </a:blip>
          <a:srcRect/>
          <a:stretch/>
        </p:blipFill>
        <p:spPr>
          <a:xfrm>
            <a:off x="1305688" y="5094749"/>
            <a:ext cx="5347762" cy="1204451"/>
          </a:xfrm>
          <a:prstGeom prst="rect">
            <a:avLst/>
          </a:prstGeom>
          <a:noFill/>
          <a:ln>
            <a:noFill/>
          </a:ln>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841"/>
        <p:cNvGrpSpPr/>
        <p:nvPr/>
      </p:nvGrpSpPr>
      <p:grpSpPr>
        <a:xfrm>
          <a:off x="0" y="0"/>
          <a:ext cx="0" cy="0"/>
          <a:chOff x="0" y="0"/>
          <a:chExt cx="0" cy="0"/>
        </a:xfrm>
      </p:grpSpPr>
      <p:sp>
        <p:nvSpPr>
          <p:cNvPr id="842" name="Google Shape;842;p92"/>
          <p:cNvSpPr txBox="1">
            <a:spLocks noGrp="1"/>
          </p:cNvSpPr>
          <p:nvPr>
            <p:ph type="title"/>
          </p:nvPr>
        </p:nvSpPr>
        <p:spPr>
          <a:xfrm>
            <a:off x="646111" y="452718"/>
            <a:ext cx="9404700" cy="14004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a:t>Vector Functions</a:t>
            </a:r>
            <a:endParaRPr/>
          </a:p>
        </p:txBody>
      </p:sp>
      <p:sp>
        <p:nvSpPr>
          <p:cNvPr id="843" name="Google Shape;843;p92"/>
          <p:cNvSpPr txBox="1">
            <a:spLocks noGrp="1"/>
          </p:cNvSpPr>
          <p:nvPr>
            <p:ph type="body" idx="1"/>
          </p:nvPr>
        </p:nvSpPr>
        <p:spPr>
          <a:xfrm>
            <a:off x="645130" y="1159933"/>
            <a:ext cx="10759500" cy="55119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600"/>
              <a:buChar char="►"/>
            </a:pPr>
            <a:r>
              <a:rPr lang="en-US"/>
              <a:t>We are going to discuss R vector functions in this tutorial. They are the functions that can be applied over R vectors. </a:t>
            </a:r>
            <a:endParaRPr/>
          </a:p>
          <a:p>
            <a:pPr marL="342900" lvl="0" indent="-241300" algn="l" rtl="0">
              <a:spcBef>
                <a:spcPts val="1000"/>
              </a:spcBef>
              <a:spcAft>
                <a:spcPts val="0"/>
              </a:spcAft>
              <a:buSzPts val="1600"/>
              <a:buNone/>
            </a:pPr>
            <a:endParaRPr/>
          </a:p>
        </p:txBody>
      </p:sp>
      <p:pic>
        <p:nvPicPr>
          <p:cNvPr id="844" name="Google Shape;844;p92"/>
          <p:cNvPicPr preferRelativeResize="0"/>
          <p:nvPr/>
        </p:nvPicPr>
        <p:blipFill rotWithShape="1">
          <a:blip r:embed="rId3">
            <a:alphaModFix/>
          </a:blip>
          <a:srcRect/>
          <a:stretch/>
        </p:blipFill>
        <p:spPr>
          <a:xfrm>
            <a:off x="891700" y="1958171"/>
            <a:ext cx="6801800" cy="3915321"/>
          </a:xfrm>
          <a:prstGeom prst="rect">
            <a:avLst/>
          </a:prstGeom>
          <a:noFill/>
          <a:ln>
            <a:noFill/>
          </a:ln>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848"/>
        <p:cNvGrpSpPr/>
        <p:nvPr/>
      </p:nvGrpSpPr>
      <p:grpSpPr>
        <a:xfrm>
          <a:off x="0" y="0"/>
          <a:ext cx="0" cy="0"/>
          <a:chOff x="0" y="0"/>
          <a:chExt cx="0" cy="0"/>
        </a:xfrm>
      </p:grpSpPr>
      <p:sp>
        <p:nvSpPr>
          <p:cNvPr id="849" name="Google Shape;849;p93"/>
          <p:cNvSpPr txBox="1">
            <a:spLocks noGrp="1"/>
          </p:cNvSpPr>
          <p:nvPr>
            <p:ph type="title"/>
          </p:nvPr>
        </p:nvSpPr>
        <p:spPr>
          <a:xfrm>
            <a:off x="646111" y="452718"/>
            <a:ext cx="9404700" cy="774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a:t>What are R Vector Functions?</a:t>
            </a:r>
            <a:br>
              <a:rPr lang="en-US"/>
            </a:br>
            <a:endParaRPr/>
          </a:p>
        </p:txBody>
      </p:sp>
      <p:sp>
        <p:nvSpPr>
          <p:cNvPr id="850" name="Google Shape;850;p93"/>
          <p:cNvSpPr txBox="1">
            <a:spLocks noGrp="1"/>
          </p:cNvSpPr>
          <p:nvPr>
            <p:ph type="body" idx="1"/>
          </p:nvPr>
        </p:nvSpPr>
        <p:spPr>
          <a:xfrm>
            <a:off x="753534" y="1227667"/>
            <a:ext cx="10727400" cy="53424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600"/>
              <a:buChar char="►"/>
            </a:pPr>
            <a:r>
              <a:rPr lang="en-US"/>
              <a:t>First of all, let’s discuss what exactly a function means. In order to perform a particular task, we make use of the function, which is a piece of code in R.  In R, these functions are referred to as the objects as they facilitate the similar way of functioning like other types of objects.  Functions that we use in R vectors are known as the vector functions.</a:t>
            </a:r>
            <a:endParaRPr/>
          </a:p>
          <a:p>
            <a:pPr marL="342900" lvl="0" indent="-342900" algn="l" rtl="0">
              <a:spcBef>
                <a:spcPts val="1000"/>
              </a:spcBef>
              <a:spcAft>
                <a:spcPts val="0"/>
              </a:spcAft>
              <a:buSzPts val="1600"/>
              <a:buChar char="►"/>
            </a:pPr>
            <a:r>
              <a:rPr lang="en-US" b="1"/>
              <a:t>For example</a:t>
            </a:r>
            <a:r>
              <a:rPr lang="en-US"/>
              <a:t>: rep(), seq(), using all() and any(), more on c() etc.</a:t>
            </a:r>
            <a:endParaRPr/>
          </a:p>
          <a:p>
            <a:pPr marL="342900" lvl="0" indent="-241300" algn="l" rtl="0">
              <a:spcBef>
                <a:spcPts val="1000"/>
              </a:spcBef>
              <a:spcAft>
                <a:spcPts val="0"/>
              </a:spcAft>
              <a:buSzPts val="1600"/>
              <a:buNone/>
            </a:pPr>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854"/>
        <p:cNvGrpSpPr/>
        <p:nvPr/>
      </p:nvGrpSpPr>
      <p:grpSpPr>
        <a:xfrm>
          <a:off x="0" y="0"/>
          <a:ext cx="0" cy="0"/>
          <a:chOff x="0" y="0"/>
          <a:chExt cx="0" cy="0"/>
        </a:xfrm>
      </p:grpSpPr>
      <p:sp>
        <p:nvSpPr>
          <p:cNvPr id="855" name="Google Shape;855;p94"/>
          <p:cNvSpPr txBox="1">
            <a:spLocks noGrp="1"/>
          </p:cNvSpPr>
          <p:nvPr>
            <p:ph type="title"/>
          </p:nvPr>
        </p:nvSpPr>
        <p:spPr>
          <a:xfrm>
            <a:off x="646111" y="452718"/>
            <a:ext cx="9404700" cy="825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a:t>R rep() Function</a:t>
            </a:r>
            <a:br>
              <a:rPr lang="en-US"/>
            </a:br>
            <a:endParaRPr/>
          </a:p>
        </p:txBody>
      </p:sp>
      <p:sp>
        <p:nvSpPr>
          <p:cNvPr id="856" name="Google Shape;856;p94"/>
          <p:cNvSpPr txBox="1">
            <a:spLocks noGrp="1"/>
          </p:cNvSpPr>
          <p:nvPr>
            <p:ph type="body" idx="1"/>
          </p:nvPr>
        </p:nvSpPr>
        <p:spPr>
          <a:xfrm>
            <a:off x="645131" y="1278467"/>
            <a:ext cx="11148900" cy="52323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600"/>
              <a:buChar char="►"/>
            </a:pPr>
            <a:r>
              <a:rPr lang="en-US" b="1"/>
              <a:t>rep() </a:t>
            </a:r>
            <a:r>
              <a:rPr lang="en-US"/>
              <a:t>is used for replicating the values in x. The two common cases that exhibit faster-simplified versions are rep.int and rep_len. Furthermore, these functions are not generic.</a:t>
            </a:r>
            <a:endParaRPr/>
          </a:p>
          <a:p>
            <a:pPr marL="342900" lvl="0" indent="-342900" algn="l" rtl="0">
              <a:spcBef>
                <a:spcPts val="1000"/>
              </a:spcBef>
              <a:spcAft>
                <a:spcPts val="0"/>
              </a:spcAft>
              <a:buSzPts val="1600"/>
              <a:buChar char="►"/>
            </a:pPr>
            <a:r>
              <a:rPr lang="en-US"/>
              <a:t>You can use the rep() function in several ways if you want to repeat the complete vector. </a:t>
            </a:r>
            <a:endParaRPr/>
          </a:p>
          <a:p>
            <a:pPr marL="342900" lvl="0" indent="-342900" algn="l" rtl="0">
              <a:spcBef>
                <a:spcPts val="1000"/>
              </a:spcBef>
              <a:spcAft>
                <a:spcPts val="0"/>
              </a:spcAft>
              <a:buSzPts val="1600"/>
              <a:buChar char="►"/>
            </a:pPr>
            <a:r>
              <a:rPr lang="en-US"/>
              <a:t>To repeat the vector c(0, 0, 7) three times, use this code: rep(c(0, 0, 7), times = 4)</a:t>
            </a:r>
            <a:endParaRPr/>
          </a:p>
          <a:p>
            <a:pPr marL="342900" lvl="0" indent="-342900" algn="l" rtl="0">
              <a:spcBef>
                <a:spcPts val="1000"/>
              </a:spcBef>
              <a:spcAft>
                <a:spcPts val="0"/>
              </a:spcAft>
              <a:buSzPts val="1600"/>
              <a:buChar char="►"/>
            </a:pPr>
            <a:r>
              <a:rPr lang="en-US"/>
              <a:t>We can also repeat every value by specifying each argument, like this: rep(c(2, 4, 2), each = 2)</a:t>
            </a:r>
            <a:endParaRPr/>
          </a:p>
          <a:p>
            <a:pPr marL="342900" lvl="0" indent="-342900" algn="l" rtl="0">
              <a:spcBef>
                <a:spcPts val="1000"/>
              </a:spcBef>
              <a:spcAft>
                <a:spcPts val="0"/>
              </a:spcAft>
              <a:buSzPts val="1600"/>
              <a:buChar char="►"/>
            </a:pPr>
            <a:r>
              <a:rPr lang="en-US"/>
              <a:t>For each value, we can tell R how often it has to repeat: rep(c(0, 7), times = c(4,3))</a:t>
            </a:r>
            <a:endParaRPr/>
          </a:p>
          <a:p>
            <a:pPr marL="342900" lvl="0" indent="-342900" algn="l" rtl="0">
              <a:spcBef>
                <a:spcPts val="1000"/>
              </a:spcBef>
              <a:spcAft>
                <a:spcPts val="0"/>
              </a:spcAft>
              <a:buSzPts val="1600"/>
              <a:buChar char="►"/>
            </a:pPr>
            <a:r>
              <a:rPr lang="en-US"/>
              <a:t>In seq, we use the argument, length.out to define R. It will repeat the vector until it reaches the specified length, even if the last repetition is incomplete. rep(1:3,length.out=9)</a:t>
            </a:r>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860"/>
        <p:cNvGrpSpPr/>
        <p:nvPr/>
      </p:nvGrpSpPr>
      <p:grpSpPr>
        <a:xfrm>
          <a:off x="0" y="0"/>
          <a:ext cx="0" cy="0"/>
          <a:chOff x="0" y="0"/>
          <a:chExt cx="0" cy="0"/>
        </a:xfrm>
      </p:grpSpPr>
      <p:sp>
        <p:nvSpPr>
          <p:cNvPr id="861" name="Google Shape;861;p95"/>
          <p:cNvSpPr txBox="1">
            <a:spLocks noGrp="1"/>
          </p:cNvSpPr>
          <p:nvPr>
            <p:ph type="title"/>
          </p:nvPr>
        </p:nvSpPr>
        <p:spPr>
          <a:xfrm>
            <a:off x="646111" y="452718"/>
            <a:ext cx="9404700" cy="758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a:t>R seq() Function</a:t>
            </a:r>
            <a:br>
              <a:rPr lang="en-US"/>
            </a:br>
            <a:endParaRPr/>
          </a:p>
        </p:txBody>
      </p:sp>
      <p:sp>
        <p:nvSpPr>
          <p:cNvPr id="862" name="Google Shape;862;p95"/>
          <p:cNvSpPr txBox="1">
            <a:spLocks noGrp="1"/>
          </p:cNvSpPr>
          <p:nvPr>
            <p:ph type="body" idx="1"/>
          </p:nvPr>
        </p:nvSpPr>
        <p:spPr>
          <a:xfrm>
            <a:off x="645131" y="1210733"/>
            <a:ext cx="10776300" cy="53595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600"/>
              <a:buChar char="►"/>
            </a:pPr>
            <a:r>
              <a:rPr lang="en-US"/>
              <a:t>It generates regular sequences. The seq function is standard generic in nature that also has a default method.  </a:t>
            </a:r>
            <a:r>
              <a:rPr lang="en-US" b="1"/>
              <a:t>seq.int</a:t>
            </a:r>
            <a:r>
              <a:rPr lang="en-US"/>
              <a:t> poses a few restrictions due to its primitiveness but it is also much faster. The two common cases that exhibit fast primitives are seq_along and seq_len.</a:t>
            </a:r>
            <a:endParaRPr/>
          </a:p>
          <a:p>
            <a:pPr marL="342900" lvl="0" indent="-342900" algn="l" rtl="0">
              <a:spcBef>
                <a:spcPts val="1000"/>
              </a:spcBef>
              <a:spcAft>
                <a:spcPts val="0"/>
              </a:spcAft>
              <a:buSzPts val="1600"/>
              <a:buChar char="►"/>
            </a:pPr>
            <a:r>
              <a:rPr lang="en-US"/>
              <a:t>To create a list of vectors over a specified range, we use the colon (:) symbol. The code 1:5 gives you a vector with the numbers 1 to 5, and 2:–5 create a vector with the numbers 2 to –5.</a:t>
            </a:r>
            <a:endParaRPr/>
          </a:p>
          <a:p>
            <a:pPr marL="342900" lvl="0" indent="-342900" algn="l" rtl="0">
              <a:spcBef>
                <a:spcPts val="1000"/>
              </a:spcBef>
              <a:spcAft>
                <a:spcPts val="0"/>
              </a:spcAft>
              <a:buSzPts val="1600"/>
              <a:buChar char="►"/>
            </a:pPr>
            <a:r>
              <a:rPr lang="en-US"/>
              <a:t>Using the seq(), we make steps in a sequence. Seq() function is used to describe the intervals by which numbers should decrease or increase. : seq(from = 4.5, to = 3.0, by = -0.5)</a:t>
            </a:r>
            <a:endParaRPr/>
          </a:p>
          <a:p>
            <a:pPr marL="342900" lvl="0" indent="-342900" algn="l" rtl="0">
              <a:spcBef>
                <a:spcPts val="1000"/>
              </a:spcBef>
              <a:spcAft>
                <a:spcPts val="0"/>
              </a:spcAft>
              <a:buSzPts val="1600"/>
              <a:buChar char="►"/>
            </a:pPr>
            <a:r>
              <a:rPr lang="en-US"/>
              <a:t>You can specify the length of the sequence by using the argument, length.out. Afterwards, R can calculate the step size by itself.: seq(from = -2.7, to = 1.3, length.out = 9)</a:t>
            </a:r>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866"/>
        <p:cNvGrpSpPr/>
        <p:nvPr/>
      </p:nvGrpSpPr>
      <p:grpSpPr>
        <a:xfrm>
          <a:off x="0" y="0"/>
          <a:ext cx="0" cy="0"/>
          <a:chOff x="0" y="0"/>
          <a:chExt cx="0" cy="0"/>
        </a:xfrm>
      </p:grpSpPr>
      <p:sp>
        <p:nvSpPr>
          <p:cNvPr id="867" name="Google Shape;867;p96"/>
          <p:cNvSpPr txBox="1">
            <a:spLocks noGrp="1"/>
          </p:cNvSpPr>
          <p:nvPr>
            <p:ph type="title"/>
          </p:nvPr>
        </p:nvSpPr>
        <p:spPr>
          <a:xfrm>
            <a:off x="646111" y="452718"/>
            <a:ext cx="9404700" cy="690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a:t>R any() Function</a:t>
            </a:r>
            <a:br>
              <a:rPr lang="en-US"/>
            </a:br>
            <a:endParaRPr/>
          </a:p>
        </p:txBody>
      </p:sp>
      <p:sp>
        <p:nvSpPr>
          <p:cNvPr id="868" name="Google Shape;868;p96"/>
          <p:cNvSpPr txBox="1">
            <a:spLocks noGrp="1"/>
          </p:cNvSpPr>
          <p:nvPr>
            <p:ph type="body" idx="1"/>
          </p:nvPr>
        </p:nvSpPr>
        <p:spPr>
          <a:xfrm>
            <a:off x="745067" y="1337734"/>
            <a:ext cx="10947300" cy="50676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600"/>
              <a:buChar char="►"/>
            </a:pPr>
            <a:r>
              <a:rPr lang="en-US"/>
              <a:t>It takes the set of vectors and returns a set of logical vectors, in which at least one of the value is true.</a:t>
            </a:r>
            <a:endParaRPr/>
          </a:p>
          <a:p>
            <a:pPr marL="342900" lvl="0" indent="-342900" algn="l" rtl="0">
              <a:spcBef>
                <a:spcPts val="1000"/>
              </a:spcBef>
              <a:spcAft>
                <a:spcPts val="0"/>
              </a:spcAft>
              <a:buSzPts val="1600"/>
              <a:buChar char="►"/>
            </a:pPr>
            <a:r>
              <a:rPr lang="en-US"/>
              <a:t>Check if any or all the elements of a vector are TRUE. Both functions also accept many objects. : any(…, na.rm=</a:t>
            </a:r>
            <a:r>
              <a:rPr lang="en-US" b="1"/>
              <a:t>FALSE</a:t>
            </a:r>
            <a:r>
              <a:rPr lang="en-US"/>
              <a:t>)</a:t>
            </a:r>
            <a:endParaRPr/>
          </a:p>
          <a:p>
            <a:pPr marL="342900" lvl="0" indent="-342900" algn="l" rtl="0">
              <a:spcBef>
                <a:spcPts val="1000"/>
              </a:spcBef>
              <a:spcAft>
                <a:spcPts val="0"/>
              </a:spcAft>
              <a:buSzPts val="1600"/>
              <a:buChar char="►"/>
            </a:pPr>
            <a:r>
              <a:rPr lang="en-US"/>
              <a:t>Here,</a:t>
            </a:r>
            <a:endParaRPr/>
          </a:p>
          <a:p>
            <a:pPr marL="342900" lvl="0" indent="-342900" algn="l" rtl="0">
              <a:spcBef>
                <a:spcPts val="1000"/>
              </a:spcBef>
              <a:spcAft>
                <a:spcPts val="0"/>
              </a:spcAft>
              <a:buSzPts val="1600"/>
              <a:buChar char="►"/>
            </a:pPr>
            <a:r>
              <a:rPr lang="en-US" b="1"/>
              <a:t>…</a:t>
            </a:r>
            <a:r>
              <a:rPr lang="en-US"/>
              <a:t> means one or more R objects that need to be checked.</a:t>
            </a:r>
            <a:endParaRPr/>
          </a:p>
          <a:p>
            <a:pPr marL="342900" lvl="0" indent="-342900" algn="l" rtl="0">
              <a:spcBef>
                <a:spcPts val="1000"/>
              </a:spcBef>
              <a:spcAft>
                <a:spcPts val="0"/>
              </a:spcAft>
              <a:buSzPts val="1600"/>
              <a:buChar char="►"/>
            </a:pPr>
            <a:r>
              <a:rPr lang="en-US" b="1"/>
              <a:t>na.rm</a:t>
            </a:r>
            <a:r>
              <a:rPr lang="en-US"/>
              <a:t> means state whether NA values should be ignored or not.</a:t>
            </a:r>
            <a:endParaRPr/>
          </a:p>
          <a:p>
            <a:pPr marL="342900" lvl="0" indent="-241300" algn="l" rtl="0">
              <a:spcBef>
                <a:spcPts val="1000"/>
              </a:spcBef>
              <a:spcAft>
                <a:spcPts val="0"/>
              </a:spcAft>
              <a:buSzPts val="1600"/>
              <a:buNone/>
            </a:pPr>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872"/>
        <p:cNvGrpSpPr/>
        <p:nvPr/>
      </p:nvGrpSpPr>
      <p:grpSpPr>
        <a:xfrm>
          <a:off x="0" y="0"/>
          <a:ext cx="0" cy="0"/>
          <a:chOff x="0" y="0"/>
          <a:chExt cx="0" cy="0"/>
        </a:xfrm>
      </p:grpSpPr>
      <p:sp>
        <p:nvSpPr>
          <p:cNvPr id="873" name="Google Shape;873;p97"/>
          <p:cNvSpPr txBox="1">
            <a:spLocks noGrp="1"/>
          </p:cNvSpPr>
          <p:nvPr>
            <p:ph type="title"/>
          </p:nvPr>
        </p:nvSpPr>
        <p:spPr>
          <a:xfrm>
            <a:off x="646111" y="452718"/>
            <a:ext cx="9404700" cy="14004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a:t>R all() Function</a:t>
            </a:r>
            <a:br>
              <a:rPr lang="en-US"/>
            </a:br>
            <a:endParaRPr/>
          </a:p>
        </p:txBody>
      </p:sp>
      <p:sp>
        <p:nvSpPr>
          <p:cNvPr id="874" name="Google Shape;874;p97"/>
          <p:cNvSpPr txBox="1">
            <a:spLocks noGrp="1"/>
          </p:cNvSpPr>
          <p:nvPr>
            <p:ph type="body" idx="1"/>
          </p:nvPr>
        </p:nvSpPr>
        <p:spPr>
          <a:xfrm>
            <a:off x="762000" y="1236134"/>
            <a:ext cx="10557900" cy="54696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600"/>
              <a:buChar char="►"/>
            </a:pPr>
            <a:r>
              <a:rPr lang="en-US"/>
              <a:t>It takes the set of vectors and returns a set of logical vectors, in which all of the values are TRUE. </a:t>
            </a:r>
            <a:endParaRPr/>
          </a:p>
          <a:p>
            <a:pPr marL="342900" lvl="0" indent="-342900" algn="l" rtl="0">
              <a:spcBef>
                <a:spcPts val="1000"/>
              </a:spcBef>
              <a:spcAft>
                <a:spcPts val="0"/>
              </a:spcAft>
              <a:buSzPts val="1600"/>
              <a:buChar char="►"/>
            </a:pPr>
            <a:r>
              <a:rPr lang="en-US"/>
              <a:t>all(…, na.rm=</a:t>
            </a:r>
            <a:r>
              <a:rPr lang="en-US" b="1"/>
              <a:t>FALSE</a:t>
            </a:r>
            <a:r>
              <a:rPr lang="en-US"/>
              <a:t>)</a:t>
            </a:r>
            <a:endParaRPr/>
          </a:p>
          <a:p>
            <a:pPr marL="342900" lvl="0" indent="-342900" algn="l" rtl="0">
              <a:spcBef>
                <a:spcPts val="1000"/>
              </a:spcBef>
              <a:spcAft>
                <a:spcPts val="0"/>
              </a:spcAft>
              <a:buSzPts val="1600"/>
              <a:buChar char="►"/>
            </a:pPr>
            <a:r>
              <a:rPr lang="en-US"/>
              <a:t>Here,</a:t>
            </a:r>
            <a:endParaRPr/>
          </a:p>
          <a:p>
            <a:pPr marL="342900" lvl="0" indent="-342900" algn="l" rtl="0">
              <a:spcBef>
                <a:spcPts val="1000"/>
              </a:spcBef>
              <a:spcAft>
                <a:spcPts val="0"/>
              </a:spcAft>
              <a:buSzPts val="1600"/>
              <a:buChar char="►"/>
            </a:pPr>
            <a:r>
              <a:rPr lang="en-US" b="1"/>
              <a:t>…</a:t>
            </a:r>
            <a:r>
              <a:rPr lang="en-US"/>
              <a:t> means one or more R objects that need to be checked.</a:t>
            </a:r>
            <a:endParaRPr/>
          </a:p>
          <a:p>
            <a:pPr marL="342900" lvl="0" indent="-342900" algn="l" rtl="0">
              <a:spcBef>
                <a:spcPts val="1000"/>
              </a:spcBef>
              <a:spcAft>
                <a:spcPts val="0"/>
              </a:spcAft>
              <a:buSzPts val="1600"/>
              <a:buChar char="►"/>
            </a:pPr>
            <a:r>
              <a:rPr lang="en-US" b="1"/>
              <a:t>na.rm</a:t>
            </a:r>
            <a:r>
              <a:rPr lang="en-US"/>
              <a:t> means state whether NA values should be ignored or not.</a:t>
            </a:r>
            <a:endParaRPr/>
          </a:p>
          <a:p>
            <a:pPr marL="342900" lvl="0" indent="-241300" algn="l" rtl="0">
              <a:spcBef>
                <a:spcPts val="1000"/>
              </a:spcBef>
              <a:spcAft>
                <a:spcPts val="0"/>
              </a:spcAft>
              <a:buSzPts val="1600"/>
              <a:buNone/>
            </a:pPr>
            <a:endParaRPr/>
          </a:p>
        </p:txBody>
      </p:sp>
      <p:pic>
        <p:nvPicPr>
          <p:cNvPr id="875" name="Google Shape;875;p97"/>
          <p:cNvPicPr preferRelativeResize="0"/>
          <p:nvPr/>
        </p:nvPicPr>
        <p:blipFill rotWithShape="1">
          <a:blip r:embed="rId3">
            <a:alphaModFix/>
          </a:blip>
          <a:srcRect/>
          <a:stretch/>
        </p:blipFill>
        <p:spPr>
          <a:xfrm>
            <a:off x="1081692" y="4118921"/>
            <a:ext cx="6506483" cy="1600423"/>
          </a:xfrm>
          <a:prstGeom prst="rect">
            <a:avLst/>
          </a:prstGeom>
          <a:noFill/>
          <a:ln>
            <a:noFill/>
          </a:ln>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879"/>
        <p:cNvGrpSpPr/>
        <p:nvPr/>
      </p:nvGrpSpPr>
      <p:grpSpPr>
        <a:xfrm>
          <a:off x="0" y="0"/>
          <a:ext cx="0" cy="0"/>
          <a:chOff x="0" y="0"/>
          <a:chExt cx="0" cy="0"/>
        </a:xfrm>
      </p:grpSpPr>
      <p:sp>
        <p:nvSpPr>
          <p:cNvPr id="880" name="Google Shape;880;p98"/>
          <p:cNvSpPr txBox="1">
            <a:spLocks noGrp="1"/>
          </p:cNvSpPr>
          <p:nvPr>
            <p:ph type="title"/>
          </p:nvPr>
        </p:nvSpPr>
        <p:spPr>
          <a:xfrm>
            <a:off x="646111" y="452718"/>
            <a:ext cx="9404700" cy="14004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a:t>Summary</a:t>
            </a:r>
            <a:br>
              <a:rPr lang="en-US"/>
            </a:br>
            <a:endParaRPr/>
          </a:p>
        </p:txBody>
      </p:sp>
      <p:sp>
        <p:nvSpPr>
          <p:cNvPr id="881" name="Google Shape;881;p98"/>
          <p:cNvSpPr txBox="1">
            <a:spLocks noGrp="1"/>
          </p:cNvSpPr>
          <p:nvPr>
            <p:ph type="body" idx="1"/>
          </p:nvPr>
        </p:nvSpPr>
        <p:spPr>
          <a:xfrm>
            <a:off x="762000" y="1253067"/>
            <a:ext cx="10862700" cy="54696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600"/>
              <a:buChar char="►"/>
            </a:pPr>
            <a:r>
              <a:rPr lang="en-US"/>
              <a:t>We have discussed vectors and functions over the vectors in detail. A vector is a type of datatype and has its own importance. But, using a datatype with function totally changes its meaning and use. We have to develop a code using function only once and you can use that code anytime. There is no need to write code, again and again, as the larger program will store it in two or more functions.</a:t>
            </a:r>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885"/>
        <p:cNvGrpSpPr/>
        <p:nvPr/>
      </p:nvGrpSpPr>
      <p:grpSpPr>
        <a:xfrm>
          <a:off x="0" y="0"/>
          <a:ext cx="0" cy="0"/>
          <a:chOff x="0" y="0"/>
          <a:chExt cx="0" cy="0"/>
        </a:xfrm>
      </p:grpSpPr>
      <p:sp>
        <p:nvSpPr>
          <p:cNvPr id="886" name="Google Shape;886;p99"/>
          <p:cNvSpPr txBox="1">
            <a:spLocks noGrp="1"/>
          </p:cNvSpPr>
          <p:nvPr>
            <p:ph type="title"/>
          </p:nvPr>
        </p:nvSpPr>
        <p:spPr>
          <a:xfrm>
            <a:off x="646111" y="452718"/>
            <a:ext cx="9404700" cy="14004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3600"/>
              <a:buFont typeface="Century Gothic"/>
              <a:buNone/>
            </a:pPr>
            <a:r>
              <a:rPr lang="en-US" sz="3600"/>
              <a:t>Numeric and Character Functions in R</a:t>
            </a:r>
            <a:br>
              <a:rPr lang="en-US"/>
            </a:br>
            <a:endParaRPr/>
          </a:p>
        </p:txBody>
      </p:sp>
      <p:sp>
        <p:nvSpPr>
          <p:cNvPr id="887" name="Google Shape;887;p99"/>
          <p:cNvSpPr txBox="1">
            <a:spLocks noGrp="1"/>
          </p:cNvSpPr>
          <p:nvPr>
            <p:ph type="body" idx="1"/>
          </p:nvPr>
        </p:nvSpPr>
        <p:spPr>
          <a:xfrm>
            <a:off x="762000" y="1126067"/>
            <a:ext cx="10930500" cy="55458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600"/>
              <a:buChar char="►"/>
            </a:pPr>
            <a:r>
              <a:rPr lang="en-US"/>
              <a:t>We will learn about R built-in functions, in which we will focus on different types of numeric and character functions in R. Along with this, we will also understand different types of properties of character functions.</a:t>
            </a:r>
            <a:endParaRPr/>
          </a:p>
        </p:txBody>
      </p:sp>
      <p:pic>
        <p:nvPicPr>
          <p:cNvPr id="888" name="Google Shape;888;p99"/>
          <p:cNvPicPr preferRelativeResize="0"/>
          <p:nvPr/>
        </p:nvPicPr>
        <p:blipFill rotWithShape="1">
          <a:blip r:embed="rId3">
            <a:alphaModFix/>
          </a:blip>
          <a:srcRect/>
          <a:stretch/>
        </p:blipFill>
        <p:spPr>
          <a:xfrm>
            <a:off x="1259994" y="2260600"/>
            <a:ext cx="7187198" cy="3782735"/>
          </a:xfrm>
          <a:prstGeom prst="rect">
            <a:avLst/>
          </a:prstGeom>
          <a:noFill/>
          <a:ln>
            <a:noFill/>
          </a:ln>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892"/>
        <p:cNvGrpSpPr/>
        <p:nvPr/>
      </p:nvGrpSpPr>
      <p:grpSpPr>
        <a:xfrm>
          <a:off x="0" y="0"/>
          <a:ext cx="0" cy="0"/>
          <a:chOff x="0" y="0"/>
          <a:chExt cx="0" cy="0"/>
        </a:xfrm>
      </p:grpSpPr>
      <p:sp>
        <p:nvSpPr>
          <p:cNvPr id="893" name="Google Shape;893;p100"/>
          <p:cNvSpPr txBox="1">
            <a:spLocks noGrp="1"/>
          </p:cNvSpPr>
          <p:nvPr>
            <p:ph type="title"/>
          </p:nvPr>
        </p:nvSpPr>
        <p:spPr>
          <a:xfrm>
            <a:off x="646111" y="452718"/>
            <a:ext cx="9404700" cy="14004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a:t>R Numeric Functions</a:t>
            </a:r>
            <a:br>
              <a:rPr lang="en-US"/>
            </a:br>
            <a:endParaRPr/>
          </a:p>
        </p:txBody>
      </p:sp>
      <p:sp>
        <p:nvSpPr>
          <p:cNvPr id="894" name="Google Shape;894;p100"/>
          <p:cNvSpPr txBox="1">
            <a:spLocks noGrp="1"/>
          </p:cNvSpPr>
          <p:nvPr>
            <p:ph type="body" idx="1"/>
          </p:nvPr>
        </p:nvSpPr>
        <p:spPr>
          <a:xfrm>
            <a:off x="804333" y="1219200"/>
            <a:ext cx="10888200" cy="5418600"/>
          </a:xfrm>
          <a:prstGeom prst="rect">
            <a:avLst/>
          </a:prstGeom>
          <a:noFill/>
          <a:ln>
            <a:noFill/>
          </a:ln>
        </p:spPr>
        <p:txBody>
          <a:bodyPr spcFirstLastPara="1" wrap="square" lIns="91425" tIns="45700" rIns="91425" bIns="45700" anchor="t" anchorCtr="0">
            <a:normAutofit fontScale="92500" lnSpcReduction="20000"/>
          </a:bodyPr>
          <a:lstStyle/>
          <a:p>
            <a:pPr marL="342900" lvl="0" indent="-342900" algn="l" rtl="0">
              <a:spcBef>
                <a:spcPts val="0"/>
              </a:spcBef>
              <a:spcAft>
                <a:spcPts val="0"/>
              </a:spcAft>
              <a:buSzPct val="80000"/>
              <a:buChar char="►"/>
            </a:pPr>
            <a:r>
              <a:rPr lang="en-US"/>
              <a:t>We use R built-in functions to perform almost everything in R. Here we are only referring to numeric and character functions that are generally used in creating or recording variables.</a:t>
            </a:r>
            <a:endParaRPr/>
          </a:p>
          <a:p>
            <a:pPr marL="342900" lvl="0" indent="-342900" algn="l" rtl="0">
              <a:spcBef>
                <a:spcPts val="1000"/>
              </a:spcBef>
              <a:spcAft>
                <a:spcPts val="0"/>
              </a:spcAft>
              <a:buSzPct val="80000"/>
              <a:buChar char="►"/>
            </a:pPr>
            <a:r>
              <a:rPr lang="en-US" b="1"/>
              <a:t> Function                          Description</a:t>
            </a:r>
            <a:endParaRPr/>
          </a:p>
          <a:p>
            <a:pPr marL="342900" lvl="0" indent="-342900" algn="l" rtl="0">
              <a:spcBef>
                <a:spcPts val="1000"/>
              </a:spcBef>
              <a:spcAft>
                <a:spcPts val="0"/>
              </a:spcAft>
              <a:buSzPct val="80000"/>
              <a:buChar char="►"/>
            </a:pPr>
            <a:r>
              <a:rPr lang="en-US"/>
              <a:t>abs(x)                               absolute value</a:t>
            </a:r>
            <a:endParaRPr/>
          </a:p>
          <a:p>
            <a:pPr marL="342900" lvl="0" indent="-342900" algn="l" rtl="0">
              <a:spcBef>
                <a:spcPts val="1000"/>
              </a:spcBef>
              <a:spcAft>
                <a:spcPts val="0"/>
              </a:spcAft>
              <a:buSzPct val="80000"/>
              <a:buChar char="►"/>
            </a:pPr>
            <a:r>
              <a:rPr lang="en-US"/>
              <a:t>ceiling(x)                         ceiling(3.475) is 4</a:t>
            </a:r>
            <a:endParaRPr/>
          </a:p>
          <a:p>
            <a:pPr marL="342900" lvl="0" indent="-342900" algn="l" rtl="0">
              <a:spcBef>
                <a:spcPts val="1000"/>
              </a:spcBef>
              <a:spcAft>
                <a:spcPts val="0"/>
              </a:spcAft>
              <a:buSzPct val="80000"/>
              <a:buChar char="►"/>
            </a:pPr>
            <a:r>
              <a:rPr lang="en-US"/>
              <a:t>sqrt(x)                              square root</a:t>
            </a:r>
            <a:endParaRPr/>
          </a:p>
          <a:p>
            <a:pPr marL="342900" lvl="0" indent="-342900" algn="l" rtl="0">
              <a:spcBef>
                <a:spcPts val="1000"/>
              </a:spcBef>
              <a:spcAft>
                <a:spcPts val="0"/>
              </a:spcAft>
              <a:buSzPct val="80000"/>
              <a:buChar char="►"/>
            </a:pPr>
            <a:r>
              <a:rPr lang="en-US"/>
              <a:t>floor(x)                             floor(3.475) is 3</a:t>
            </a:r>
            <a:endParaRPr/>
          </a:p>
          <a:p>
            <a:pPr marL="342900" lvl="0" indent="-342900" algn="l" rtl="0">
              <a:spcBef>
                <a:spcPts val="1000"/>
              </a:spcBef>
              <a:spcAft>
                <a:spcPts val="0"/>
              </a:spcAft>
              <a:buSzPct val="80000"/>
              <a:buChar char="►"/>
            </a:pPr>
            <a:r>
              <a:rPr lang="en-US"/>
              <a:t>log(x)                                natural logarithm</a:t>
            </a:r>
            <a:endParaRPr/>
          </a:p>
          <a:p>
            <a:pPr marL="342900" lvl="0" indent="-342900" algn="l" rtl="0">
              <a:spcBef>
                <a:spcPts val="1000"/>
              </a:spcBef>
              <a:spcAft>
                <a:spcPts val="0"/>
              </a:spcAft>
              <a:buSzPct val="80000"/>
              <a:buChar char="►"/>
            </a:pPr>
            <a:r>
              <a:rPr lang="en-US"/>
              <a:t>trunc(x)                            trunc(5.99) is 5</a:t>
            </a:r>
            <a:endParaRPr/>
          </a:p>
          <a:p>
            <a:pPr marL="342900" lvl="0" indent="-342900" algn="l" rtl="0">
              <a:spcBef>
                <a:spcPts val="1000"/>
              </a:spcBef>
              <a:spcAft>
                <a:spcPts val="0"/>
              </a:spcAft>
              <a:buSzPct val="80000"/>
              <a:buChar char="►"/>
            </a:pPr>
            <a:r>
              <a:rPr lang="en-US"/>
              <a:t>round(x, digits=n)        round(3.475, digit=2) is 3.48</a:t>
            </a:r>
            <a:endParaRPr/>
          </a:p>
          <a:p>
            <a:pPr marL="342900" lvl="0" indent="-342900" algn="l" rtl="0">
              <a:spcBef>
                <a:spcPts val="1000"/>
              </a:spcBef>
              <a:spcAft>
                <a:spcPts val="0"/>
              </a:spcAft>
              <a:buSzPct val="80000"/>
              <a:buChar char="►"/>
            </a:pPr>
            <a:r>
              <a:rPr lang="en-US"/>
              <a:t>log10(x)                            common logarithm</a:t>
            </a:r>
            <a:endParaRPr/>
          </a:p>
          <a:p>
            <a:pPr marL="342900" lvl="0" indent="-342900" algn="l" rtl="0">
              <a:spcBef>
                <a:spcPts val="1000"/>
              </a:spcBef>
              <a:spcAft>
                <a:spcPts val="0"/>
              </a:spcAft>
              <a:buSzPct val="80000"/>
              <a:buChar char="►"/>
            </a:pPr>
            <a:r>
              <a:rPr lang="en-US"/>
              <a:t>signif(x, digits=n)         signif(3.475, digit=2) is 3.5</a:t>
            </a:r>
            <a:endParaRPr/>
          </a:p>
          <a:p>
            <a:pPr marL="342900" lvl="0" indent="-342900" algn="l" rtl="0">
              <a:spcBef>
                <a:spcPts val="1000"/>
              </a:spcBef>
              <a:spcAft>
                <a:spcPts val="0"/>
              </a:spcAft>
              <a:buSzPct val="80000"/>
              <a:buChar char="►"/>
            </a:pPr>
            <a:r>
              <a:rPr lang="en-US"/>
              <a:t>exp(x)                                e^x</a:t>
            </a:r>
            <a:endParaRPr/>
          </a:p>
          <a:p>
            <a:pPr marL="342900" lvl="0" indent="-342900" algn="l" rtl="0">
              <a:spcBef>
                <a:spcPts val="1000"/>
              </a:spcBef>
              <a:spcAft>
                <a:spcPts val="0"/>
              </a:spcAft>
              <a:buSzPct val="80000"/>
              <a:buChar char="►"/>
            </a:pPr>
            <a:r>
              <a:rPr lang="en-US"/>
              <a:t>cos(x), sin(x), tan(x)      also acos(x), cosh(x), acosh(zx) etc</a:t>
            </a:r>
            <a:endParaRPr/>
          </a:p>
          <a:p>
            <a:pPr marL="342900" lvl="0" indent="-248920" algn="l" rtl="0">
              <a:spcBef>
                <a:spcPts val="1000"/>
              </a:spcBef>
              <a:spcAft>
                <a:spcPts val="0"/>
              </a:spcAft>
              <a:buSzPct val="80000"/>
              <a:buNone/>
            </a:pPr>
            <a:endParaRPr/>
          </a:p>
          <a:p>
            <a:pPr marL="342900" lvl="0" indent="-248920" algn="l" rtl="0">
              <a:spcBef>
                <a:spcPts val="1000"/>
              </a:spcBef>
              <a:spcAft>
                <a:spcPts val="0"/>
              </a:spcAft>
              <a:buSzPct val="80000"/>
              <a:buNone/>
            </a:pPr>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898"/>
        <p:cNvGrpSpPr/>
        <p:nvPr/>
      </p:nvGrpSpPr>
      <p:grpSpPr>
        <a:xfrm>
          <a:off x="0" y="0"/>
          <a:ext cx="0" cy="0"/>
          <a:chOff x="0" y="0"/>
          <a:chExt cx="0" cy="0"/>
        </a:xfrm>
      </p:grpSpPr>
      <p:sp>
        <p:nvSpPr>
          <p:cNvPr id="899" name="Google Shape;899;p101"/>
          <p:cNvSpPr txBox="1">
            <a:spLocks noGrp="1"/>
          </p:cNvSpPr>
          <p:nvPr>
            <p:ph type="title"/>
          </p:nvPr>
        </p:nvSpPr>
        <p:spPr>
          <a:xfrm>
            <a:off x="646111" y="452718"/>
            <a:ext cx="9404700" cy="14004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a:t>Character Functions in R</a:t>
            </a:r>
            <a:br>
              <a:rPr lang="en-US"/>
            </a:br>
            <a:endParaRPr/>
          </a:p>
        </p:txBody>
      </p:sp>
      <p:sp>
        <p:nvSpPr>
          <p:cNvPr id="900" name="Google Shape;900;p101"/>
          <p:cNvSpPr txBox="1">
            <a:spLocks noGrp="1"/>
          </p:cNvSpPr>
          <p:nvPr>
            <p:ph type="body" idx="1"/>
          </p:nvPr>
        </p:nvSpPr>
        <p:spPr>
          <a:xfrm>
            <a:off x="795867" y="1210734"/>
            <a:ext cx="10905000" cy="54186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600"/>
              <a:buChar char="►"/>
            </a:pPr>
            <a:r>
              <a:rPr lang="en-US" b="1"/>
              <a:t>1. grep(pattern, x , ignore.case=FALSE, fixed=FALSE)</a:t>
            </a:r>
            <a:endParaRPr/>
          </a:p>
          <a:p>
            <a:pPr marL="342900" lvl="0" indent="-342900" algn="l" rtl="0">
              <a:spcBef>
                <a:spcPts val="1000"/>
              </a:spcBef>
              <a:spcAft>
                <a:spcPts val="0"/>
              </a:spcAft>
              <a:buSzPts val="1600"/>
              <a:buChar char="►"/>
            </a:pPr>
            <a:r>
              <a:rPr lang="en-US" b="1"/>
              <a:t>Description:</a:t>
            </a:r>
            <a:endParaRPr/>
          </a:p>
          <a:p>
            <a:pPr marL="342900" lvl="0" indent="-342900" algn="l" rtl="0">
              <a:spcBef>
                <a:spcPts val="1000"/>
              </a:spcBef>
              <a:spcAft>
                <a:spcPts val="0"/>
              </a:spcAft>
              <a:buSzPts val="1600"/>
              <a:buChar char="►"/>
            </a:pPr>
            <a:r>
              <a:rPr lang="en-US"/>
              <a:t>Search for a pattern in x.</a:t>
            </a:r>
            <a:endParaRPr/>
          </a:p>
          <a:p>
            <a:pPr marL="342900" lvl="0" indent="-342900" algn="l" rtl="0">
              <a:spcBef>
                <a:spcPts val="1000"/>
              </a:spcBef>
              <a:spcAft>
                <a:spcPts val="0"/>
              </a:spcAft>
              <a:buSzPts val="1600"/>
              <a:buChar char="►"/>
            </a:pPr>
            <a:r>
              <a:rPr lang="en-US"/>
              <a:t>If fixed =FALSE, then the pattern is a regular expression.</a:t>
            </a:r>
            <a:endParaRPr/>
          </a:p>
          <a:p>
            <a:pPr marL="342900" lvl="0" indent="-342900" algn="l" rtl="0">
              <a:spcBef>
                <a:spcPts val="1000"/>
              </a:spcBef>
              <a:spcAft>
                <a:spcPts val="0"/>
              </a:spcAft>
              <a:buSzPts val="1600"/>
              <a:buChar char="►"/>
            </a:pPr>
            <a:r>
              <a:rPr lang="en-US"/>
              <a:t>If fixed=TRUE, then the pattern is a text string.</a:t>
            </a:r>
            <a:endParaRPr/>
          </a:p>
          <a:p>
            <a:pPr marL="342900" lvl="0" indent="-342900" algn="l" rtl="0">
              <a:spcBef>
                <a:spcPts val="1000"/>
              </a:spcBef>
              <a:spcAft>
                <a:spcPts val="0"/>
              </a:spcAft>
              <a:buSzPts val="1600"/>
              <a:buChar char="►"/>
            </a:pPr>
            <a:r>
              <a:rPr lang="en-US"/>
              <a:t>Returns matching indices.</a:t>
            </a:r>
            <a:endParaRPr/>
          </a:p>
          <a:p>
            <a:pPr marL="342900" lvl="0" indent="-342900" algn="l" rtl="0">
              <a:spcBef>
                <a:spcPts val="1000"/>
              </a:spcBef>
              <a:spcAft>
                <a:spcPts val="0"/>
              </a:spcAft>
              <a:buSzPts val="1600"/>
              <a:buChar char="►"/>
            </a:pPr>
            <a:r>
              <a:rPr lang="en-US" i="1"/>
              <a:t>grep("A", c("b", "A", "c"), fixed = </a:t>
            </a:r>
            <a:r>
              <a:rPr lang="en-US" b="1" i="1"/>
              <a:t>TRUE</a:t>
            </a:r>
            <a:r>
              <a:rPr lang="en-US" i="1"/>
              <a:t>)</a:t>
            </a:r>
            <a:endParaRPr/>
          </a:p>
          <a:p>
            <a:pPr marL="342900" lvl="0" indent="-342900" algn="l" rtl="0">
              <a:spcBef>
                <a:spcPts val="1000"/>
              </a:spcBef>
              <a:spcAft>
                <a:spcPts val="0"/>
              </a:spcAft>
              <a:buSzPts val="1600"/>
              <a:buChar char="►"/>
            </a:pPr>
            <a:r>
              <a:rPr lang="en-US" b="1"/>
              <a:t>2. substr(x, start=n1, stop=n2)</a:t>
            </a:r>
            <a:endParaRPr/>
          </a:p>
          <a:p>
            <a:pPr marL="342900" lvl="0" indent="-342900" algn="l" rtl="0">
              <a:spcBef>
                <a:spcPts val="1000"/>
              </a:spcBef>
              <a:spcAft>
                <a:spcPts val="0"/>
              </a:spcAft>
              <a:buSzPts val="1600"/>
              <a:buChar char="►"/>
            </a:pPr>
            <a:r>
              <a:rPr lang="en-US"/>
              <a:t>Extract or replace substrings in a character vector.</a:t>
            </a:r>
            <a:endParaRPr/>
          </a:p>
          <a:p>
            <a:pPr marL="342900" lvl="0" indent="-241300" algn="l" rtl="0">
              <a:spcBef>
                <a:spcPts val="1000"/>
              </a:spcBef>
              <a:spcAft>
                <a:spcPts val="0"/>
              </a:spcAft>
              <a:buSzPts val="1600"/>
              <a:buNone/>
            </a:pPr>
            <a:endParaRPr i="1"/>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904"/>
        <p:cNvGrpSpPr/>
        <p:nvPr/>
      </p:nvGrpSpPr>
      <p:grpSpPr>
        <a:xfrm>
          <a:off x="0" y="0"/>
          <a:ext cx="0" cy="0"/>
          <a:chOff x="0" y="0"/>
          <a:chExt cx="0" cy="0"/>
        </a:xfrm>
      </p:grpSpPr>
      <p:sp>
        <p:nvSpPr>
          <p:cNvPr id="905" name="Google Shape;905;p102"/>
          <p:cNvSpPr txBox="1">
            <a:spLocks noGrp="1"/>
          </p:cNvSpPr>
          <p:nvPr>
            <p:ph type="title"/>
          </p:nvPr>
        </p:nvSpPr>
        <p:spPr>
          <a:xfrm>
            <a:off x="646111" y="452718"/>
            <a:ext cx="9404700" cy="14004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a:t>Character Functions in R</a:t>
            </a:r>
            <a:br>
              <a:rPr lang="en-US"/>
            </a:br>
            <a:endParaRPr/>
          </a:p>
        </p:txBody>
      </p:sp>
      <p:sp>
        <p:nvSpPr>
          <p:cNvPr id="906" name="Google Shape;906;p102"/>
          <p:cNvSpPr txBox="1">
            <a:spLocks noGrp="1"/>
          </p:cNvSpPr>
          <p:nvPr>
            <p:ph type="body" idx="1"/>
          </p:nvPr>
        </p:nvSpPr>
        <p:spPr>
          <a:xfrm>
            <a:off x="762000" y="1159934"/>
            <a:ext cx="10896600" cy="55203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600"/>
              <a:buChar char="►"/>
            </a:pPr>
            <a:r>
              <a:rPr lang="en-US" b="1"/>
              <a:t>3. strsplit : </a:t>
            </a:r>
            <a:r>
              <a:rPr lang="en-US" i="1"/>
              <a:t>strsplit("abc", "")</a:t>
            </a:r>
            <a:endParaRPr/>
          </a:p>
          <a:p>
            <a:pPr marL="342900" lvl="0" indent="-342900" algn="l" rtl="0">
              <a:spcBef>
                <a:spcPts val="1000"/>
              </a:spcBef>
              <a:spcAft>
                <a:spcPts val="0"/>
              </a:spcAft>
              <a:buSzPts val="1600"/>
              <a:buChar char="►"/>
            </a:pPr>
            <a:r>
              <a:rPr lang="en-US" b="1"/>
              <a:t>4. sub(pattern, replacement, x, ignore.case =FALSE, fixed=FALSE) : </a:t>
            </a:r>
            <a:r>
              <a:rPr lang="en-US" i="1"/>
              <a:t>sub("S","M","Surkhet")</a:t>
            </a:r>
            <a:endParaRPr/>
          </a:p>
          <a:p>
            <a:pPr marL="342900" lvl="0" indent="-342900" algn="l" rtl="0">
              <a:spcBef>
                <a:spcPts val="1000"/>
              </a:spcBef>
              <a:spcAft>
                <a:spcPts val="0"/>
              </a:spcAft>
              <a:buSzPts val="1600"/>
              <a:buChar char="►"/>
            </a:pPr>
            <a:r>
              <a:rPr lang="en-US" b="1"/>
              <a:t>Description:</a:t>
            </a:r>
            <a:endParaRPr/>
          </a:p>
          <a:p>
            <a:pPr marL="342900" lvl="0" indent="-342900" algn="l" rtl="0">
              <a:spcBef>
                <a:spcPts val="1000"/>
              </a:spcBef>
              <a:spcAft>
                <a:spcPts val="0"/>
              </a:spcAft>
              <a:buSzPts val="1600"/>
              <a:buChar char="►"/>
            </a:pPr>
            <a:r>
              <a:rPr lang="en-US"/>
              <a:t>Find a pattern in x and replace it with the replacement text.</a:t>
            </a:r>
            <a:endParaRPr/>
          </a:p>
          <a:p>
            <a:pPr marL="342900" lvl="0" indent="-342900" algn="l" rtl="0">
              <a:spcBef>
                <a:spcPts val="1000"/>
              </a:spcBef>
              <a:spcAft>
                <a:spcPts val="0"/>
              </a:spcAft>
              <a:buSzPts val="1600"/>
              <a:buChar char="►"/>
            </a:pPr>
            <a:r>
              <a:rPr lang="en-US"/>
              <a:t>If a fixed = FALSE, then a pattern is a regular expression.</a:t>
            </a:r>
            <a:endParaRPr/>
          </a:p>
          <a:p>
            <a:pPr marL="342900" lvl="0" indent="-342900" algn="l" rtl="0">
              <a:spcBef>
                <a:spcPts val="1000"/>
              </a:spcBef>
              <a:spcAft>
                <a:spcPts val="0"/>
              </a:spcAft>
              <a:buSzPts val="1600"/>
              <a:buChar char="►"/>
            </a:pPr>
            <a:r>
              <a:rPr lang="en-US"/>
              <a:t>If fixed = TRUE, then a pattern is a text string.</a:t>
            </a:r>
            <a:endParaRPr/>
          </a:p>
          <a:p>
            <a:pPr marL="342900" lvl="0" indent="-342900" algn="l" rtl="0">
              <a:spcBef>
                <a:spcPts val="1000"/>
              </a:spcBef>
              <a:spcAft>
                <a:spcPts val="0"/>
              </a:spcAft>
              <a:buSzPts val="1600"/>
              <a:buChar char="►"/>
            </a:pPr>
            <a:r>
              <a:rPr lang="en-US" i="1"/>
              <a:t> </a:t>
            </a:r>
            <a:r>
              <a:rPr lang="en-US" b="1"/>
              <a:t>5</a:t>
            </a:r>
            <a:r>
              <a:rPr lang="en-US" i="1"/>
              <a:t>.</a:t>
            </a:r>
            <a:r>
              <a:rPr lang="en-US" b="1"/>
              <a:t>toupper(string) </a:t>
            </a:r>
            <a:endParaRPr/>
          </a:p>
          <a:p>
            <a:pPr marL="342900" lvl="0" indent="-342900" algn="l" rtl="0">
              <a:spcBef>
                <a:spcPts val="1000"/>
              </a:spcBef>
              <a:spcAft>
                <a:spcPts val="0"/>
              </a:spcAft>
              <a:buSzPts val="1600"/>
              <a:buChar char="►"/>
            </a:pPr>
            <a:r>
              <a:rPr lang="en-US" b="1"/>
              <a:t>6. tolower(string)</a:t>
            </a:r>
            <a:endParaRPr/>
          </a:p>
          <a:p>
            <a:pPr marL="342900" lvl="0" indent="-342900" algn="l" rtl="0">
              <a:spcBef>
                <a:spcPts val="1000"/>
              </a:spcBef>
              <a:spcAft>
                <a:spcPts val="0"/>
              </a:spcAft>
              <a:buSzPts val="1600"/>
              <a:buChar char="►"/>
            </a:pPr>
            <a:r>
              <a:rPr lang="en-US" b="1" i="1"/>
              <a:t>7. </a:t>
            </a:r>
            <a:r>
              <a:rPr lang="en-US" b="1"/>
              <a:t>paste(…, sep=””)</a:t>
            </a:r>
            <a:endParaRPr i="1"/>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910"/>
        <p:cNvGrpSpPr/>
        <p:nvPr/>
      </p:nvGrpSpPr>
      <p:grpSpPr>
        <a:xfrm>
          <a:off x="0" y="0"/>
          <a:ext cx="0" cy="0"/>
          <a:chOff x="0" y="0"/>
          <a:chExt cx="0" cy="0"/>
        </a:xfrm>
      </p:grpSpPr>
      <p:sp>
        <p:nvSpPr>
          <p:cNvPr id="911" name="Google Shape;911;p103"/>
          <p:cNvSpPr txBox="1">
            <a:spLocks noGrp="1"/>
          </p:cNvSpPr>
          <p:nvPr>
            <p:ph type="title"/>
          </p:nvPr>
        </p:nvSpPr>
        <p:spPr>
          <a:xfrm>
            <a:off x="646111" y="452718"/>
            <a:ext cx="9404700" cy="7494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a:t>Character Functions in R</a:t>
            </a:r>
            <a:br>
              <a:rPr lang="en-US"/>
            </a:br>
            <a:endParaRPr/>
          </a:p>
        </p:txBody>
      </p:sp>
      <p:sp>
        <p:nvSpPr>
          <p:cNvPr id="912" name="Google Shape;912;p103"/>
          <p:cNvSpPr txBox="1">
            <a:spLocks noGrp="1"/>
          </p:cNvSpPr>
          <p:nvPr>
            <p:ph type="body" idx="1"/>
          </p:nvPr>
        </p:nvSpPr>
        <p:spPr>
          <a:xfrm>
            <a:off x="855133" y="1134533"/>
            <a:ext cx="10786500" cy="54525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600"/>
              <a:buChar char="►"/>
            </a:pPr>
            <a:r>
              <a:rPr lang="en-US"/>
              <a:t>8. Concatenate Strings in R : In order to join the two strings (also known as concatenation), we make use of the paste function. It is one of the most important strings manipulation task. Every analyst performs it almost daily to structure the data.  (</a:t>
            </a:r>
            <a:r>
              <a:rPr lang="en-US" i="1"/>
              <a:t>paste (objects, sep = " ", collapse = </a:t>
            </a:r>
            <a:r>
              <a:rPr lang="en-US" b="1" i="1"/>
              <a:t>NULL</a:t>
            </a:r>
            <a:r>
              <a:rPr lang="en-US" i="1"/>
              <a:t>)</a:t>
            </a:r>
            <a:r>
              <a:rPr lang="en-US"/>
              <a:t>)</a:t>
            </a:r>
            <a:endParaRPr/>
          </a:p>
          <a:p>
            <a:pPr marL="342900" lvl="0" indent="-342900" algn="l" rtl="0">
              <a:spcBef>
                <a:spcPts val="1000"/>
              </a:spcBef>
              <a:spcAft>
                <a:spcPts val="0"/>
              </a:spcAft>
              <a:buSzPts val="1600"/>
              <a:buChar char="►"/>
            </a:pPr>
            <a:r>
              <a:rPr lang="en-US"/>
              <a:t>sep – Keyword which denotes a separator or delimiter.</a:t>
            </a:r>
            <a:endParaRPr/>
          </a:p>
          <a:p>
            <a:pPr marL="342900" lvl="0" indent="-342900" algn="l" rtl="0">
              <a:spcBef>
                <a:spcPts val="1000"/>
              </a:spcBef>
              <a:spcAft>
                <a:spcPts val="0"/>
              </a:spcAft>
              <a:buSzPts val="1600"/>
              <a:buChar char="►"/>
            </a:pPr>
            <a:r>
              <a:rPr lang="en-US"/>
              <a:t>default separator – A single space.</a:t>
            </a:r>
            <a:endParaRPr/>
          </a:p>
          <a:p>
            <a:pPr marL="342900" lvl="0" indent="-342900" algn="l" rtl="0">
              <a:spcBef>
                <a:spcPts val="1000"/>
              </a:spcBef>
              <a:spcAft>
                <a:spcPts val="0"/>
              </a:spcAft>
              <a:buSzPts val="1600"/>
              <a:buChar char="►"/>
            </a:pPr>
            <a:r>
              <a:rPr lang="en-US"/>
              <a:t>collapse – Keyword which is used to separate the results.</a:t>
            </a:r>
            <a:endParaRPr/>
          </a:p>
          <a:p>
            <a:pPr marL="342900" lvl="0" indent="-342900" algn="l" rtl="0">
              <a:spcBef>
                <a:spcPts val="1000"/>
              </a:spcBef>
              <a:spcAft>
                <a:spcPts val="0"/>
              </a:spcAft>
              <a:buSzPts val="1600"/>
              <a:buChar char="►"/>
            </a:pPr>
            <a:r>
              <a:rPr lang="en-US"/>
              <a:t>9. String Formatting in R : Suppose the value is stored in fraction and you need to convert it to percentage. In order to format our string in a C-style, sprintf function is used. (</a:t>
            </a:r>
            <a:r>
              <a:rPr lang="en-US" i="1"/>
              <a:t>sprintf(fmt, ...</a:t>
            </a:r>
            <a:r>
              <a:rPr lang="en-US"/>
              <a:t>)</a:t>
            </a:r>
            <a:endParaRPr/>
          </a:p>
          <a:p>
            <a:pPr marL="342900" lvl="0" indent="-342900" algn="l" rtl="0">
              <a:spcBef>
                <a:spcPts val="1000"/>
              </a:spcBef>
              <a:spcAft>
                <a:spcPts val="0"/>
              </a:spcAft>
              <a:buSzPts val="1600"/>
              <a:buChar char="►"/>
            </a:pPr>
            <a:r>
              <a:rPr lang="en-US"/>
              <a:t> 10. String Length (nchar(x))</a:t>
            </a:r>
            <a:endParaRPr/>
          </a:p>
          <a:p>
            <a:pPr marL="342900" lvl="0" indent="-342900" algn="l" rtl="0">
              <a:spcBef>
                <a:spcPts val="1000"/>
              </a:spcBef>
              <a:spcAft>
                <a:spcPts val="0"/>
              </a:spcAft>
              <a:buSzPts val="1600"/>
              <a:buChar char="►"/>
            </a:pPr>
            <a:r>
              <a:rPr lang="en-US"/>
              <a:t>11. Repeat the character N times (</a:t>
            </a:r>
            <a:r>
              <a:rPr lang="en-US" i="1"/>
              <a:t>strrep(“Nepal ", 5))</a:t>
            </a:r>
            <a:endParaRPr/>
          </a:p>
          <a:p>
            <a:pPr marL="342900" lvl="0" indent="-241300" algn="l" rtl="0">
              <a:spcBef>
                <a:spcPts val="1000"/>
              </a:spcBef>
              <a:spcAft>
                <a:spcPts val="0"/>
              </a:spcAft>
              <a:buSzPts val="1600"/>
              <a:buNone/>
            </a:pPr>
            <a:endParaRPr/>
          </a:p>
          <a:p>
            <a:pPr marL="342900" lvl="0" indent="-241300" algn="l" rtl="0">
              <a:spcBef>
                <a:spcPts val="1000"/>
              </a:spcBef>
              <a:spcAft>
                <a:spcPts val="0"/>
              </a:spcAft>
              <a:buSzPts val="1600"/>
              <a:buNone/>
            </a:pPr>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916"/>
        <p:cNvGrpSpPr/>
        <p:nvPr/>
      </p:nvGrpSpPr>
      <p:grpSpPr>
        <a:xfrm>
          <a:off x="0" y="0"/>
          <a:ext cx="0" cy="0"/>
          <a:chOff x="0" y="0"/>
          <a:chExt cx="0" cy="0"/>
        </a:xfrm>
      </p:grpSpPr>
      <p:sp>
        <p:nvSpPr>
          <p:cNvPr id="917" name="Google Shape;917;p104"/>
          <p:cNvSpPr txBox="1">
            <a:spLocks noGrp="1"/>
          </p:cNvSpPr>
          <p:nvPr>
            <p:ph type="title"/>
          </p:nvPr>
        </p:nvSpPr>
        <p:spPr>
          <a:xfrm>
            <a:off x="646111" y="452718"/>
            <a:ext cx="9404700" cy="14004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a:t>Matrix Function in R </a:t>
            </a:r>
            <a:br>
              <a:rPr lang="en-US"/>
            </a:br>
            <a:endParaRPr/>
          </a:p>
        </p:txBody>
      </p:sp>
      <p:sp>
        <p:nvSpPr>
          <p:cNvPr id="918" name="Google Shape;918;p104"/>
          <p:cNvSpPr txBox="1">
            <a:spLocks noGrp="1"/>
          </p:cNvSpPr>
          <p:nvPr>
            <p:ph type="body" idx="1"/>
          </p:nvPr>
        </p:nvSpPr>
        <p:spPr>
          <a:xfrm>
            <a:off x="645131" y="1202268"/>
            <a:ext cx="11250600" cy="54525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600"/>
              <a:buChar char="►"/>
            </a:pPr>
            <a:r>
              <a:rPr lang="en-US"/>
              <a:t>We are going to cover the functions that are applied to the matrices in R i.e. apply() and sapply() function. Also, we will see how to use these functions of the R matrix with the help of examples.</a:t>
            </a:r>
            <a:endParaRPr/>
          </a:p>
          <a:p>
            <a:pPr marL="342900" lvl="0" indent="-342900" algn="l" rtl="0">
              <a:spcBef>
                <a:spcPts val="1000"/>
              </a:spcBef>
              <a:spcAft>
                <a:spcPts val="0"/>
              </a:spcAft>
              <a:buSzPts val="1600"/>
              <a:buChar char="►"/>
            </a:pPr>
            <a:r>
              <a:rPr lang="en-US"/>
              <a:t>First of all, let’s revise what are matrices. A matrix is a two-dimensional rectangular data set. Thus it can be created using vector input into the matrix function. Also, a</a:t>
            </a:r>
            <a:r>
              <a:rPr lang="en-US" i="1"/>
              <a:t> matrix is a collection of numbers arranged into a fixed number of rows and columns</a:t>
            </a:r>
            <a:r>
              <a:rPr lang="en-US" b="1"/>
              <a:t>.</a:t>
            </a:r>
            <a:endParaRPr/>
          </a:p>
          <a:p>
            <a:pPr marL="342900" lvl="0" indent="-342900" algn="l" rtl="0">
              <a:spcBef>
                <a:spcPts val="1000"/>
              </a:spcBef>
              <a:spcAft>
                <a:spcPts val="0"/>
              </a:spcAft>
              <a:buSzPts val="1600"/>
              <a:buChar char="►"/>
            </a:pPr>
            <a:r>
              <a:rPr lang="en-US"/>
              <a:t>The numbers present in the matrix are real numbers.</a:t>
            </a:r>
            <a:endParaRPr/>
          </a:p>
          <a:p>
            <a:pPr marL="342900" lvl="0" indent="-342900" algn="l" rtl="0">
              <a:spcBef>
                <a:spcPts val="1000"/>
              </a:spcBef>
              <a:spcAft>
                <a:spcPts val="0"/>
              </a:spcAft>
              <a:buSzPts val="1600"/>
              <a:buChar char="►"/>
            </a:pPr>
            <a:r>
              <a:rPr lang="en-US"/>
              <a:t>We then carry out the memory replication of the matrix using  the matrix function. Hence, the data elements must be of the same basic type.</a:t>
            </a:r>
            <a:endParaRPr/>
          </a:p>
          <a:p>
            <a:pPr marL="342900" lvl="0" indent="-342900" algn="l" rtl="0">
              <a:spcBef>
                <a:spcPts val="1000"/>
              </a:spcBef>
              <a:spcAft>
                <a:spcPts val="0"/>
              </a:spcAft>
              <a:buSzPts val="1600"/>
              <a:buChar char="►"/>
            </a:pPr>
            <a:r>
              <a:rPr lang="en-US"/>
              <a:t>There are two types of matrix function in R:</a:t>
            </a:r>
            <a:endParaRPr/>
          </a:p>
          <a:p>
            <a:pPr marL="342900" lvl="0" indent="-342900" algn="l" rtl="0">
              <a:spcBef>
                <a:spcPts val="1000"/>
              </a:spcBef>
              <a:spcAft>
                <a:spcPts val="0"/>
              </a:spcAft>
              <a:buSzPts val="1600"/>
              <a:buChar char="►"/>
            </a:pPr>
            <a:r>
              <a:rPr lang="en-US"/>
              <a:t>apply()</a:t>
            </a:r>
            <a:endParaRPr/>
          </a:p>
          <a:p>
            <a:pPr marL="342900" lvl="0" indent="-342900" algn="l" rtl="0">
              <a:spcBef>
                <a:spcPts val="1000"/>
              </a:spcBef>
              <a:spcAft>
                <a:spcPts val="0"/>
              </a:spcAft>
              <a:buSzPts val="1600"/>
              <a:buChar char="►"/>
            </a:pPr>
            <a:r>
              <a:rPr lang="en-US"/>
              <a:t>sapply()</a:t>
            </a:r>
            <a:endParaRPr/>
          </a:p>
          <a:p>
            <a:pPr marL="342900" lvl="0" indent="-241300" algn="l" rtl="0">
              <a:spcBef>
                <a:spcPts val="1000"/>
              </a:spcBef>
              <a:spcAft>
                <a:spcPts val="0"/>
              </a:spcAft>
              <a:buSzPts val="1600"/>
              <a:buNone/>
            </a:pPr>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922"/>
        <p:cNvGrpSpPr/>
        <p:nvPr/>
      </p:nvGrpSpPr>
      <p:grpSpPr>
        <a:xfrm>
          <a:off x="0" y="0"/>
          <a:ext cx="0" cy="0"/>
          <a:chOff x="0" y="0"/>
          <a:chExt cx="0" cy="0"/>
        </a:xfrm>
      </p:grpSpPr>
      <p:sp>
        <p:nvSpPr>
          <p:cNvPr id="923" name="Google Shape;923;p105"/>
          <p:cNvSpPr txBox="1">
            <a:spLocks noGrp="1"/>
          </p:cNvSpPr>
          <p:nvPr>
            <p:ph type="title"/>
          </p:nvPr>
        </p:nvSpPr>
        <p:spPr>
          <a:xfrm>
            <a:off x="663045" y="80185"/>
            <a:ext cx="9404700" cy="715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a:t>apply() function in R</a:t>
            </a:r>
            <a:br>
              <a:rPr lang="en-US"/>
            </a:br>
            <a:endParaRPr/>
          </a:p>
        </p:txBody>
      </p:sp>
      <p:sp>
        <p:nvSpPr>
          <p:cNvPr id="924" name="Google Shape;924;p105"/>
          <p:cNvSpPr txBox="1">
            <a:spLocks noGrp="1"/>
          </p:cNvSpPr>
          <p:nvPr>
            <p:ph type="body" idx="1"/>
          </p:nvPr>
        </p:nvSpPr>
        <p:spPr>
          <a:xfrm>
            <a:off x="770468" y="795867"/>
            <a:ext cx="10854300" cy="53763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600"/>
              <a:buChar char="►"/>
            </a:pPr>
            <a:r>
              <a:rPr lang="en-US"/>
              <a:t>It applies functions over array margins. It returns a vector or array or list of values obtained by applying a function to margins of an array or matrix.</a:t>
            </a:r>
            <a:endParaRPr/>
          </a:p>
          <a:p>
            <a:pPr marL="342900" lvl="0" indent="-342900" algn="l" rtl="0">
              <a:spcBef>
                <a:spcPts val="1000"/>
              </a:spcBef>
              <a:spcAft>
                <a:spcPts val="0"/>
              </a:spcAft>
              <a:buSzPts val="1600"/>
              <a:buChar char="►"/>
            </a:pPr>
            <a:r>
              <a:rPr lang="en-US" b="1"/>
              <a:t>Keywords – </a:t>
            </a:r>
            <a:r>
              <a:rPr lang="en-US"/>
              <a:t>array, iteration</a:t>
            </a:r>
            <a:endParaRPr/>
          </a:p>
          <a:p>
            <a:pPr marL="342900" lvl="0" indent="-342900" algn="l" rtl="0">
              <a:spcBef>
                <a:spcPts val="1000"/>
              </a:spcBef>
              <a:spcAft>
                <a:spcPts val="0"/>
              </a:spcAft>
              <a:buSzPts val="1600"/>
              <a:buChar char="►"/>
            </a:pPr>
            <a:r>
              <a:rPr lang="en-US" b="1"/>
              <a:t>Usage – </a:t>
            </a:r>
            <a:r>
              <a:rPr lang="en-US"/>
              <a:t>apply(X, MARGIN, FUN, …)</a:t>
            </a:r>
            <a:endParaRPr/>
          </a:p>
          <a:p>
            <a:pPr marL="342900" lvl="0" indent="-342900" algn="l" rtl="0">
              <a:spcBef>
                <a:spcPts val="1000"/>
              </a:spcBef>
              <a:spcAft>
                <a:spcPts val="0"/>
              </a:spcAft>
              <a:buSzPts val="1600"/>
              <a:buChar char="►"/>
            </a:pPr>
            <a:r>
              <a:rPr lang="en-US"/>
              <a:t>Apply functions are a family of functions in base R, which allow us to perform actions on many chunks of data. An apply function is a loop, but it runs faster than loops and often with less code. And, there are different apply() functions.</a:t>
            </a:r>
            <a:endParaRPr/>
          </a:p>
          <a:p>
            <a:pPr marL="342900" lvl="0" indent="-342900" algn="l" rtl="0">
              <a:spcBef>
                <a:spcPts val="1000"/>
              </a:spcBef>
              <a:spcAft>
                <a:spcPts val="0"/>
              </a:spcAft>
              <a:buSzPts val="1600"/>
              <a:buChar char="►"/>
            </a:pPr>
            <a:r>
              <a:rPr lang="en-US"/>
              <a:t>Apply() functions family : apply(), lapply(), sapply(), tapply() (Ref : </a:t>
            </a:r>
            <a:r>
              <a:rPr lang="en-US" u="sng">
                <a:solidFill>
                  <a:schemeClr val="hlink"/>
                </a:solidFill>
                <a:hlinkClick r:id="rId3"/>
              </a:rPr>
              <a:t>apply() source link</a:t>
            </a:r>
            <a:endParaRPr/>
          </a:p>
          <a:p>
            <a:pPr marL="342900" lvl="0" indent="-241300" algn="l" rtl="0">
              <a:spcBef>
                <a:spcPts val="1000"/>
              </a:spcBef>
              <a:spcAft>
                <a:spcPts val="0"/>
              </a:spcAft>
              <a:buSzPts val="1600"/>
              <a:buNone/>
            </a:pPr>
            <a:endParaRPr/>
          </a:p>
        </p:txBody>
      </p:sp>
      <p:pic>
        <p:nvPicPr>
          <p:cNvPr id="925" name="Google Shape;925;p105"/>
          <p:cNvPicPr preferRelativeResize="0"/>
          <p:nvPr/>
        </p:nvPicPr>
        <p:blipFill rotWithShape="1">
          <a:blip r:embed="rId4">
            <a:alphaModFix/>
          </a:blip>
          <a:srcRect/>
          <a:stretch/>
        </p:blipFill>
        <p:spPr>
          <a:xfrm>
            <a:off x="1727199" y="3893243"/>
            <a:ext cx="6592412" cy="2278956"/>
          </a:xfrm>
          <a:prstGeom prst="rect">
            <a:avLst/>
          </a:prstGeom>
          <a:noFill/>
          <a:ln>
            <a:noFill/>
          </a:ln>
        </p:spPr>
      </p:pic>
      <p:sp>
        <p:nvSpPr>
          <p:cNvPr id="926" name="Google Shape;926;p105"/>
          <p:cNvSpPr txBox="1"/>
          <p:nvPr/>
        </p:nvSpPr>
        <p:spPr>
          <a:xfrm>
            <a:off x="1680633" y="6172199"/>
            <a:ext cx="6685500" cy="246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a:solidFill>
                  <a:schemeClr val="lt1"/>
                </a:solidFill>
                <a:latin typeface="Century Gothic"/>
                <a:ea typeface="Century Gothic"/>
                <a:cs typeface="Century Gothic"/>
                <a:sym typeface="Century Gothic"/>
              </a:rPr>
              <a:t>Source : https://www.guru99.com/r-apply-sapply-tapply.html</a:t>
            </a:r>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930"/>
        <p:cNvGrpSpPr/>
        <p:nvPr/>
      </p:nvGrpSpPr>
      <p:grpSpPr>
        <a:xfrm>
          <a:off x="0" y="0"/>
          <a:ext cx="0" cy="0"/>
          <a:chOff x="0" y="0"/>
          <a:chExt cx="0" cy="0"/>
        </a:xfrm>
      </p:grpSpPr>
      <p:sp>
        <p:nvSpPr>
          <p:cNvPr id="931" name="Google Shape;931;p106"/>
          <p:cNvSpPr txBox="1">
            <a:spLocks noGrp="1"/>
          </p:cNvSpPr>
          <p:nvPr>
            <p:ph type="title"/>
          </p:nvPr>
        </p:nvSpPr>
        <p:spPr>
          <a:xfrm>
            <a:off x="645130" y="63251"/>
            <a:ext cx="9404700" cy="825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a:t>sapply() function in R</a:t>
            </a:r>
            <a:br>
              <a:rPr lang="en-US"/>
            </a:br>
            <a:endParaRPr/>
          </a:p>
        </p:txBody>
      </p:sp>
      <p:sp>
        <p:nvSpPr>
          <p:cNvPr id="932" name="Google Shape;932;p106"/>
          <p:cNvSpPr txBox="1">
            <a:spLocks noGrp="1"/>
          </p:cNvSpPr>
          <p:nvPr>
            <p:ph type="body" idx="1"/>
          </p:nvPr>
        </p:nvSpPr>
        <p:spPr>
          <a:xfrm>
            <a:off x="770468" y="889000"/>
            <a:ext cx="11015100" cy="57234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600"/>
              <a:buChar char="►"/>
            </a:pPr>
            <a:r>
              <a:rPr lang="en-US"/>
              <a:t>It is a dimension preserving variant of “sapply” and “lapply”.</a:t>
            </a:r>
            <a:endParaRPr/>
          </a:p>
          <a:p>
            <a:pPr marL="342900" lvl="0" indent="-342900" algn="l" rtl="0">
              <a:spcBef>
                <a:spcPts val="1000"/>
              </a:spcBef>
              <a:spcAft>
                <a:spcPts val="0"/>
              </a:spcAft>
              <a:buSzPts val="1600"/>
              <a:buChar char="►"/>
            </a:pPr>
            <a:r>
              <a:rPr lang="en-US"/>
              <a:t>sapply is a user-friendly version and is a wrapper of lapply. By default, sapply returns a vector, matrix or an array.</a:t>
            </a:r>
            <a:endParaRPr/>
          </a:p>
          <a:p>
            <a:pPr marL="342900" lvl="0" indent="-342900" algn="l" rtl="0">
              <a:spcBef>
                <a:spcPts val="1000"/>
              </a:spcBef>
              <a:spcAft>
                <a:spcPts val="0"/>
              </a:spcAft>
              <a:buSzPts val="1600"/>
              <a:buChar char="►"/>
            </a:pPr>
            <a:r>
              <a:rPr lang="en-US" b="1"/>
              <a:t>Arguments –</a:t>
            </a:r>
            <a:r>
              <a:rPr lang="en-US"/>
              <a:t> The arguments used in the sapply() function are discussed below:</a:t>
            </a:r>
            <a:endParaRPr/>
          </a:p>
          <a:p>
            <a:pPr marL="342900" lvl="0" indent="-342900" algn="l" rtl="0">
              <a:spcBef>
                <a:spcPts val="1000"/>
              </a:spcBef>
              <a:spcAft>
                <a:spcPts val="0"/>
              </a:spcAft>
              <a:buSzPts val="1600"/>
              <a:buChar char="►"/>
            </a:pPr>
            <a:r>
              <a:rPr lang="en-US" b="1"/>
              <a:t>X – </a:t>
            </a:r>
            <a:r>
              <a:rPr lang="en-US"/>
              <a:t>It is a vector or list to call sapply.</a:t>
            </a:r>
            <a:endParaRPr/>
          </a:p>
          <a:p>
            <a:pPr marL="342900" lvl="0" indent="-342900" algn="l" rtl="0">
              <a:spcBef>
                <a:spcPts val="1000"/>
              </a:spcBef>
              <a:spcAft>
                <a:spcPts val="0"/>
              </a:spcAft>
              <a:buSzPts val="1600"/>
              <a:buChar char="►"/>
            </a:pPr>
            <a:r>
              <a:rPr lang="en-US" b="1"/>
              <a:t>FUN – </a:t>
            </a:r>
            <a:r>
              <a:rPr lang="en-US"/>
              <a:t>A function.</a:t>
            </a:r>
            <a:endParaRPr/>
          </a:p>
          <a:p>
            <a:pPr marL="342900" lvl="0" indent="-342900" algn="l" rtl="0">
              <a:spcBef>
                <a:spcPts val="1000"/>
              </a:spcBef>
              <a:spcAft>
                <a:spcPts val="0"/>
              </a:spcAft>
              <a:buSzPts val="1600"/>
              <a:buChar char="►"/>
            </a:pPr>
            <a:r>
              <a:rPr lang="en-US" b="1"/>
              <a:t>… – </a:t>
            </a:r>
            <a:r>
              <a:rPr lang="en-US"/>
              <a:t>Optional arguments to FUN.</a:t>
            </a:r>
            <a:endParaRPr/>
          </a:p>
          <a:p>
            <a:pPr marL="342900" lvl="0" indent="-342900" algn="l" rtl="0">
              <a:spcBef>
                <a:spcPts val="1000"/>
              </a:spcBef>
              <a:spcAft>
                <a:spcPts val="0"/>
              </a:spcAft>
              <a:buSzPts val="1600"/>
              <a:buChar char="►"/>
            </a:pPr>
            <a:r>
              <a:rPr lang="en-US" b="1"/>
              <a:t>simplify – </a:t>
            </a:r>
            <a:r>
              <a:rPr lang="en-US"/>
              <a:t>It is a logical value which defines whether a result is simplified to a vector or matrix (if possible).</a:t>
            </a:r>
            <a:endParaRPr/>
          </a:p>
          <a:p>
            <a:pPr marL="342900" lvl="0" indent="-342900" algn="l" rtl="0">
              <a:spcBef>
                <a:spcPts val="1000"/>
              </a:spcBef>
              <a:spcAft>
                <a:spcPts val="0"/>
              </a:spcAft>
              <a:buSzPts val="1600"/>
              <a:buChar char="►"/>
            </a:pPr>
            <a:r>
              <a:rPr lang="en-US" b="1"/>
              <a:t>USE.NAMES – </a:t>
            </a:r>
            <a:r>
              <a:rPr lang="en-US"/>
              <a:t>Logical; if it is TRUE and X is a character, then use X as names for the result unless it has names already.</a:t>
            </a:r>
            <a:endParaRPr/>
          </a:p>
          <a:p>
            <a:pPr marL="342900" lvl="0" indent="-241300" algn="l" rtl="0">
              <a:spcBef>
                <a:spcPts val="1000"/>
              </a:spcBef>
              <a:spcAft>
                <a:spcPts val="0"/>
              </a:spcAft>
              <a:buSzPts val="1600"/>
              <a:buNone/>
            </a:pPr>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936"/>
        <p:cNvGrpSpPr/>
        <p:nvPr/>
      </p:nvGrpSpPr>
      <p:grpSpPr>
        <a:xfrm>
          <a:off x="0" y="0"/>
          <a:ext cx="0" cy="0"/>
          <a:chOff x="0" y="0"/>
          <a:chExt cx="0" cy="0"/>
        </a:xfrm>
      </p:grpSpPr>
      <p:sp>
        <p:nvSpPr>
          <p:cNvPr id="937" name="Google Shape;937;p107"/>
          <p:cNvSpPr txBox="1">
            <a:spLocks noGrp="1"/>
          </p:cNvSpPr>
          <p:nvPr>
            <p:ph type="title"/>
          </p:nvPr>
        </p:nvSpPr>
        <p:spPr>
          <a:xfrm>
            <a:off x="602797" y="207184"/>
            <a:ext cx="9404700" cy="588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3200"/>
              <a:buFont typeface="Century Gothic"/>
              <a:buNone/>
            </a:pPr>
            <a:r>
              <a:rPr lang="en-US" sz="3200"/>
              <a:t>Various types of functions in the apply family</a:t>
            </a:r>
            <a:br>
              <a:rPr lang="en-US"/>
            </a:br>
            <a:endParaRPr/>
          </a:p>
        </p:txBody>
      </p:sp>
      <p:pic>
        <p:nvPicPr>
          <p:cNvPr id="938" name="Google Shape;938;p107"/>
          <p:cNvPicPr preferRelativeResize="0">
            <a:picLocks noGrp="1"/>
          </p:cNvPicPr>
          <p:nvPr>
            <p:ph type="body" idx="1"/>
          </p:nvPr>
        </p:nvPicPr>
        <p:blipFill rotWithShape="1">
          <a:blip r:embed="rId3">
            <a:alphaModFix/>
          </a:blip>
          <a:srcRect/>
          <a:stretch/>
        </p:blipFill>
        <p:spPr>
          <a:xfrm>
            <a:off x="813580" y="1075268"/>
            <a:ext cx="7275000" cy="3588600"/>
          </a:xfrm>
          <a:prstGeom prst="rect">
            <a:avLst/>
          </a:prstGeom>
          <a:noFill/>
          <a:ln>
            <a:noFill/>
          </a:ln>
        </p:spPr>
      </p:pic>
      <p:sp>
        <p:nvSpPr>
          <p:cNvPr id="939" name="Google Shape;939;p107"/>
          <p:cNvSpPr txBox="1"/>
          <p:nvPr/>
        </p:nvSpPr>
        <p:spPr>
          <a:xfrm>
            <a:off x="695046" y="4697187"/>
            <a:ext cx="9651300" cy="246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a:solidFill>
                  <a:schemeClr val="lt1"/>
                </a:solidFill>
                <a:latin typeface="Century Gothic"/>
                <a:ea typeface="Century Gothic"/>
                <a:cs typeface="Century Gothic"/>
                <a:sym typeface="Century Gothic"/>
              </a:rPr>
              <a:t>Source : https://subscription.packtpub.com/book/application-development/9781786465153/1/ch01lvl1sec11/first-class-functions-in-r</a:t>
            </a:r>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Shape 943"/>
        <p:cNvGrpSpPr/>
        <p:nvPr/>
      </p:nvGrpSpPr>
      <p:grpSpPr>
        <a:xfrm>
          <a:off x="0" y="0"/>
          <a:ext cx="0" cy="0"/>
          <a:chOff x="0" y="0"/>
          <a:chExt cx="0" cy="0"/>
        </a:xfrm>
      </p:grpSpPr>
      <p:sp>
        <p:nvSpPr>
          <p:cNvPr id="944" name="Google Shape;944;p108"/>
          <p:cNvSpPr txBox="1">
            <a:spLocks noGrp="1"/>
          </p:cNvSpPr>
          <p:nvPr>
            <p:ph type="title"/>
          </p:nvPr>
        </p:nvSpPr>
        <p:spPr>
          <a:xfrm>
            <a:off x="1679044" y="2908051"/>
            <a:ext cx="9404700" cy="14004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a:t>END of Day 1 Training Session!!</a:t>
            </a:r>
            <a:endParaRPr/>
          </a:p>
        </p:txBody>
      </p:sp>
    </p:spTree>
  </p:cSld>
  <p:clrMapOvr>
    <a:masterClrMapping/>
  </p:clrMapOvr>
</p:sld>
</file>

<file path=ppt/theme/theme1.xml><?xml version="1.0" encoding="utf-8"?>
<a:theme xmlns:a="http://schemas.openxmlformats.org/drawingml/2006/main" name="Ion">
  <a:themeElements>
    <a:clrScheme name="Ion">
      <a:dk1>
        <a:srgbClr val="000000"/>
      </a:dk1>
      <a:lt1>
        <a:srgbClr val="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518</TotalTime>
  <Words>11060</Words>
  <Application>Microsoft Office PowerPoint</Application>
  <PresentationFormat>Widescreen</PresentationFormat>
  <Paragraphs>823</Paragraphs>
  <Slides>116</Slides>
  <Notes>115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116</vt:i4>
      </vt:variant>
    </vt:vector>
  </HeadingPairs>
  <TitlesOfParts>
    <vt:vector size="120" baseType="lpstr">
      <vt:lpstr>Arial</vt:lpstr>
      <vt:lpstr>Noto Sans Symbols</vt:lpstr>
      <vt:lpstr>Century Gothic</vt:lpstr>
      <vt:lpstr>Ion</vt:lpstr>
      <vt:lpstr>R Programming Training (Basic)</vt:lpstr>
      <vt:lpstr>What is R Programming Language? </vt:lpstr>
      <vt:lpstr>History of R </vt:lpstr>
      <vt:lpstr>Why Learn R ? </vt:lpstr>
      <vt:lpstr>Features of R Programming </vt:lpstr>
      <vt:lpstr>How R is better than other programs? </vt:lpstr>
      <vt:lpstr>Applications of R Programming </vt:lpstr>
      <vt:lpstr>Applications of R </vt:lpstr>
      <vt:lpstr>Advantages of R Programming language </vt:lpstr>
      <vt:lpstr>Pros of R</vt:lpstr>
      <vt:lpstr>Pros of R</vt:lpstr>
      <vt:lpstr>Cons of R </vt:lpstr>
      <vt:lpstr>PowerPoint Presentation</vt:lpstr>
      <vt:lpstr>Getting R</vt:lpstr>
      <vt:lpstr>RStudio </vt:lpstr>
      <vt:lpstr>Components of RStudio </vt:lpstr>
      <vt:lpstr>Scripting in R </vt:lpstr>
      <vt:lpstr>Basic Interaction with R Console</vt:lpstr>
      <vt:lpstr>PowerPoint Presentation</vt:lpstr>
      <vt:lpstr>The workspace</vt:lpstr>
      <vt:lpstr>The workspace</vt:lpstr>
      <vt:lpstr>The workspace</vt:lpstr>
      <vt:lpstr>R Packages (Libraries) </vt:lpstr>
      <vt:lpstr>R Packages (Libraries) </vt:lpstr>
      <vt:lpstr>Installing R Packages </vt:lpstr>
      <vt:lpstr>Package Documentation</vt:lpstr>
      <vt:lpstr>Updating R Packages </vt:lpstr>
      <vt:lpstr>Loading a package</vt:lpstr>
      <vt:lpstr>Uninstalling Packages</vt:lpstr>
      <vt:lpstr>Building a package</vt:lpstr>
      <vt:lpstr>Conclusion</vt:lpstr>
      <vt:lpstr>Finding right packages </vt:lpstr>
      <vt:lpstr>Finding right packages  </vt:lpstr>
      <vt:lpstr>Common mistakes in R programming</vt:lpstr>
      <vt:lpstr>PowerPoint Presentation</vt:lpstr>
      <vt:lpstr>Basics of R</vt:lpstr>
      <vt:lpstr>Basic Math (Using R as a Calculator)</vt:lpstr>
      <vt:lpstr>Variables</vt:lpstr>
      <vt:lpstr>Mathematical functions used in R</vt:lpstr>
      <vt:lpstr>Datasets </vt:lpstr>
      <vt:lpstr>R Data Types  </vt:lpstr>
      <vt:lpstr>Numeric Data </vt:lpstr>
      <vt:lpstr>Integers Data Type </vt:lpstr>
      <vt:lpstr>Numeric vs Integer Data </vt:lpstr>
      <vt:lpstr>Character Data </vt:lpstr>
      <vt:lpstr>Dates</vt:lpstr>
      <vt:lpstr>Logical</vt:lpstr>
      <vt:lpstr>Converting Data Types in R </vt:lpstr>
      <vt:lpstr>PowerPoint Presentation</vt:lpstr>
      <vt:lpstr>Conversion into Integer </vt:lpstr>
      <vt:lpstr>PowerPoint Presentation</vt:lpstr>
      <vt:lpstr>Conversion into Logical </vt:lpstr>
      <vt:lpstr>Conversion into character </vt:lpstr>
      <vt:lpstr>Summary </vt:lpstr>
      <vt:lpstr>Data Structures in R </vt:lpstr>
      <vt:lpstr>Vector </vt:lpstr>
      <vt:lpstr>Vector functions</vt:lpstr>
      <vt:lpstr>Vector operations</vt:lpstr>
      <vt:lpstr>Missing Data</vt:lpstr>
      <vt:lpstr>Matrix </vt:lpstr>
      <vt:lpstr>Matrix</vt:lpstr>
      <vt:lpstr>Uses of Matrices </vt:lpstr>
      <vt:lpstr>Applications of Matrices </vt:lpstr>
      <vt:lpstr>R Array </vt:lpstr>
      <vt:lpstr>R Array Examples </vt:lpstr>
      <vt:lpstr>Data Frame </vt:lpstr>
      <vt:lpstr>Data frame</vt:lpstr>
      <vt:lpstr>Data Frame</vt:lpstr>
      <vt:lpstr>Data frame</vt:lpstr>
      <vt:lpstr>List </vt:lpstr>
      <vt:lpstr>PowerPoint Presentation</vt:lpstr>
      <vt:lpstr>Pipes</vt:lpstr>
      <vt:lpstr>Tips</vt:lpstr>
      <vt:lpstr>PowerPoint Presentation</vt:lpstr>
      <vt:lpstr>Reading data into R</vt:lpstr>
      <vt:lpstr>Entering data from the keyboard</vt:lpstr>
      <vt:lpstr>Importing data from a delimited text file</vt:lpstr>
      <vt:lpstr>PowerPoint Presentation</vt:lpstr>
      <vt:lpstr>Importing data from Excel</vt:lpstr>
      <vt:lpstr>Extract Data from Web Sites</vt:lpstr>
      <vt:lpstr>Extract Data from Web Sites </vt:lpstr>
      <vt:lpstr>Importing data from NetCDF</vt:lpstr>
      <vt:lpstr>Useful functions for working with data objects</vt:lpstr>
      <vt:lpstr>Export Data from R (csv , txt and other formats) </vt:lpstr>
      <vt:lpstr>PowerPoint Presentation</vt:lpstr>
      <vt:lpstr>Control Structures in R </vt:lpstr>
      <vt:lpstr>List of R Control Structures with Examples </vt:lpstr>
      <vt:lpstr>if Condition in R </vt:lpstr>
      <vt:lpstr>if-else Condition in R </vt:lpstr>
      <vt:lpstr>for Loop in R </vt:lpstr>
      <vt:lpstr>Nested Loop in R </vt:lpstr>
      <vt:lpstr>while Loop in R </vt:lpstr>
      <vt:lpstr>next Statement in R </vt:lpstr>
      <vt:lpstr>return Statement in R </vt:lpstr>
      <vt:lpstr>Summary </vt:lpstr>
      <vt:lpstr>Functions in R </vt:lpstr>
      <vt:lpstr>Transforming the Script into R Function </vt:lpstr>
      <vt:lpstr>PowerPoint Presentation</vt:lpstr>
      <vt:lpstr>Using R Function </vt:lpstr>
      <vt:lpstr>Vector Functions</vt:lpstr>
      <vt:lpstr>What are R Vector Functions? </vt:lpstr>
      <vt:lpstr>R rep() Function </vt:lpstr>
      <vt:lpstr>R seq() Function </vt:lpstr>
      <vt:lpstr>R any() Function </vt:lpstr>
      <vt:lpstr>R all() Function </vt:lpstr>
      <vt:lpstr>Summary </vt:lpstr>
      <vt:lpstr>Numeric and Character Functions in R </vt:lpstr>
      <vt:lpstr>R Numeric Functions </vt:lpstr>
      <vt:lpstr>Character Functions in R </vt:lpstr>
      <vt:lpstr>Character Functions in R </vt:lpstr>
      <vt:lpstr>Character Functions in R </vt:lpstr>
      <vt:lpstr>Matrix Function in R  </vt:lpstr>
      <vt:lpstr>apply() function in R </vt:lpstr>
      <vt:lpstr>sapply() function in R </vt:lpstr>
      <vt:lpstr>Various types of functions in the apply family </vt:lpstr>
      <vt:lpstr>END of Day 1 Training Session!!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 Programming Training (Basic)</dc:title>
  <dc:creator>Dell</dc:creator>
  <cp:lastModifiedBy>Dell</cp:lastModifiedBy>
  <cp:revision>23</cp:revision>
  <dcterms:created xsi:type="dcterms:W3CDTF">2022-08-05T09:53:11Z</dcterms:created>
  <dcterms:modified xsi:type="dcterms:W3CDTF">2024-06-02T00:48:29Z</dcterms:modified>
</cp:coreProperties>
</file>